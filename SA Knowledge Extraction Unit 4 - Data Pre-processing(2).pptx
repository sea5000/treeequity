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388" r:id="rId2"/>
    <p:sldId id="301" r:id="rId3"/>
    <p:sldId id="330" r:id="rId4"/>
    <p:sldId id="331" r:id="rId5"/>
    <p:sldId id="343" r:id="rId6"/>
    <p:sldId id="351" r:id="rId7"/>
    <p:sldId id="356" r:id="rId8"/>
    <p:sldId id="352" r:id="rId9"/>
    <p:sldId id="353" r:id="rId10"/>
    <p:sldId id="354" r:id="rId11"/>
    <p:sldId id="342" r:id="rId12"/>
    <p:sldId id="332" r:id="rId13"/>
    <p:sldId id="312" r:id="rId14"/>
    <p:sldId id="333" r:id="rId15"/>
    <p:sldId id="334" r:id="rId16"/>
    <p:sldId id="335" r:id="rId17"/>
    <p:sldId id="336" r:id="rId18"/>
    <p:sldId id="344" r:id="rId19"/>
    <p:sldId id="350" r:id="rId20"/>
    <p:sldId id="349" r:id="rId21"/>
    <p:sldId id="345" r:id="rId22"/>
    <p:sldId id="346" r:id="rId23"/>
    <p:sldId id="347" r:id="rId24"/>
    <p:sldId id="348" r:id="rId25"/>
    <p:sldId id="337" r:id="rId26"/>
    <p:sldId id="338" r:id="rId27"/>
    <p:sldId id="339" r:id="rId28"/>
    <p:sldId id="329" r:id="rId29"/>
    <p:sldId id="340" r:id="rId30"/>
    <p:sldId id="341" r:id="rId31"/>
    <p:sldId id="355" r:id="rId32"/>
    <p:sldId id="389" r:id="rId33"/>
    <p:sldId id="39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CECF"/>
    <a:srgbClr val="D3242A"/>
    <a:srgbClr val="FF25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2" autoAdjust="0"/>
    <p:restoredTop sz="94660"/>
  </p:normalViewPr>
  <p:slideViewPr>
    <p:cSldViewPr snapToGrid="0" showGuides="1">
      <p:cViewPr varScale="1">
        <p:scale>
          <a:sx n="81" d="100"/>
          <a:sy n="81" d="100"/>
        </p:scale>
        <p:origin x="965"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1DACDB-AEA6-46D4-BC65-E90D76123630}" type="datetimeFigureOut">
              <a:rPr lang="en-US" smtClean="0"/>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6E1469-AF50-4CEB-96BD-02F498FF7DAE}" type="slidenum">
              <a:rPr lang="en-US" smtClean="0"/>
              <a:t>‹#›</a:t>
            </a:fld>
            <a:endParaRPr lang="en-US"/>
          </a:p>
        </p:txBody>
      </p:sp>
    </p:spTree>
    <p:extLst>
      <p:ext uri="{BB962C8B-B14F-4D97-AF65-F5344CB8AC3E}">
        <p14:creationId xmlns:p14="http://schemas.microsoft.com/office/powerpoint/2010/main" val="3021844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F9370699-2C23-3CB7-4C29-142AA65B9058}"/>
              </a:ext>
            </a:extLst>
          </p:cNvPr>
          <p:cNvSpPr>
            <a:spLocks noGrp="1"/>
          </p:cNvSpPr>
          <p:nvPr>
            <p:ph type="pic" sz="quarter" idx="10"/>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txBody>
          <a:bodyPr wrap="square">
            <a:noAutofit/>
          </a:bodyPr>
          <a:lstStyle/>
          <a:p>
            <a:endParaRPr lang="en-US"/>
          </a:p>
        </p:txBody>
      </p:sp>
    </p:spTree>
    <p:extLst>
      <p:ext uri="{BB962C8B-B14F-4D97-AF65-F5344CB8AC3E}">
        <p14:creationId xmlns:p14="http://schemas.microsoft.com/office/powerpoint/2010/main" val="17944811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09E6E92-0461-CE64-EF91-946FF982216A}"/>
              </a:ext>
            </a:extLst>
          </p:cNvPr>
          <p:cNvSpPr>
            <a:spLocks noGrp="1"/>
          </p:cNvSpPr>
          <p:nvPr>
            <p:ph type="pic" sz="quarter" idx="10"/>
          </p:nvPr>
        </p:nvSpPr>
        <p:spPr>
          <a:xfrm>
            <a:off x="6705600" y="1026658"/>
            <a:ext cx="4914900" cy="5670415"/>
          </a:xfrm>
          <a:custGeom>
            <a:avLst/>
            <a:gdLst>
              <a:gd name="connsiteX0" fmla="*/ 0 w 4914900"/>
              <a:gd name="connsiteY0" fmla="*/ 0 h 5670415"/>
              <a:gd name="connsiteX1" fmla="*/ 4914900 w 4914900"/>
              <a:gd name="connsiteY1" fmla="*/ 0 h 5670415"/>
              <a:gd name="connsiteX2" fmla="*/ 4914900 w 4914900"/>
              <a:gd name="connsiteY2" fmla="*/ 5670415 h 5670415"/>
              <a:gd name="connsiteX3" fmla="*/ 0 w 4914900"/>
              <a:gd name="connsiteY3" fmla="*/ 5670415 h 5670415"/>
            </a:gdLst>
            <a:ahLst/>
            <a:cxnLst>
              <a:cxn ang="0">
                <a:pos x="connsiteX0" y="connsiteY0"/>
              </a:cxn>
              <a:cxn ang="0">
                <a:pos x="connsiteX1" y="connsiteY1"/>
              </a:cxn>
              <a:cxn ang="0">
                <a:pos x="connsiteX2" y="connsiteY2"/>
              </a:cxn>
              <a:cxn ang="0">
                <a:pos x="connsiteX3" y="connsiteY3"/>
              </a:cxn>
            </a:cxnLst>
            <a:rect l="l" t="t" r="r" b="b"/>
            <a:pathLst>
              <a:path w="4914900" h="5670415">
                <a:moveTo>
                  <a:pt x="0" y="0"/>
                </a:moveTo>
                <a:lnTo>
                  <a:pt x="4914900" y="0"/>
                </a:lnTo>
                <a:lnTo>
                  <a:pt x="4914900" y="5670415"/>
                </a:lnTo>
                <a:lnTo>
                  <a:pt x="0" y="5670415"/>
                </a:lnTo>
                <a:close/>
              </a:path>
            </a:pathLst>
          </a:custGeom>
        </p:spPr>
        <p:txBody>
          <a:bodyPr wrap="square">
            <a:noAutofit/>
          </a:bodyPr>
          <a:lstStyle/>
          <a:p>
            <a:endParaRPr lang="en-US"/>
          </a:p>
        </p:txBody>
      </p:sp>
    </p:spTree>
    <p:extLst>
      <p:ext uri="{BB962C8B-B14F-4D97-AF65-F5344CB8AC3E}">
        <p14:creationId xmlns:p14="http://schemas.microsoft.com/office/powerpoint/2010/main" val="20657476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013A1-564B-0B11-C867-CD82A8EFB7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0688C1-F411-6B5E-CCF9-0291DA3DDD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600DE5-B45D-0232-C412-4AB797CCB18D}"/>
              </a:ext>
            </a:extLst>
          </p:cNvPr>
          <p:cNvSpPr>
            <a:spLocks noGrp="1"/>
          </p:cNvSpPr>
          <p:nvPr>
            <p:ph type="dt" sz="half" idx="10"/>
          </p:nvPr>
        </p:nvSpPr>
        <p:spPr/>
        <p:txBody>
          <a:bodyPr/>
          <a:lstStyle/>
          <a:p>
            <a:fld id="{C4F1D38A-B7DE-4FCE-A7B8-1DBC12E900B3}" type="datetimeFigureOut">
              <a:rPr lang="en-US" smtClean="0"/>
              <a:t>3/18/2026</a:t>
            </a:fld>
            <a:endParaRPr lang="en-US"/>
          </a:p>
        </p:txBody>
      </p:sp>
      <p:sp>
        <p:nvSpPr>
          <p:cNvPr id="5" name="Footer Placeholder 4">
            <a:extLst>
              <a:ext uri="{FF2B5EF4-FFF2-40B4-BE49-F238E27FC236}">
                <a16:creationId xmlns:a16="http://schemas.microsoft.com/office/drawing/2014/main" id="{201E796F-0448-130E-E9B2-24CFBD49AB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2364F5-5DD3-461F-C051-AA39ECA73FB0}"/>
              </a:ext>
            </a:extLst>
          </p:cNvPr>
          <p:cNvSpPr>
            <a:spLocks noGrp="1"/>
          </p:cNvSpPr>
          <p:nvPr>
            <p:ph type="sldNum" sz="quarter" idx="12"/>
          </p:nvPr>
        </p:nvSpPr>
        <p:spPr/>
        <p:txBody>
          <a:bodyPr/>
          <a:lstStyle/>
          <a:p>
            <a:fld id="{D30B3399-B91A-4BBA-A5FF-EF2B367C4407}" type="slidenum">
              <a:rPr lang="en-US" smtClean="0"/>
              <a:t>‹#›</a:t>
            </a:fld>
            <a:endParaRPr lang="en-US"/>
          </a:p>
        </p:txBody>
      </p:sp>
    </p:spTree>
    <p:extLst>
      <p:ext uri="{BB962C8B-B14F-4D97-AF65-F5344CB8AC3E}">
        <p14:creationId xmlns:p14="http://schemas.microsoft.com/office/powerpoint/2010/main" val="109359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0064A71-0900-002A-7364-4CCCF98C7E5B}"/>
              </a:ext>
            </a:extLst>
          </p:cNvPr>
          <p:cNvSpPr>
            <a:spLocks noGrp="1"/>
          </p:cNvSpPr>
          <p:nvPr>
            <p:ph type="pic" sz="quarter" idx="10"/>
          </p:nvPr>
        </p:nvSpPr>
        <p:spPr>
          <a:xfrm>
            <a:off x="7505700" y="638175"/>
            <a:ext cx="4177177" cy="5423127"/>
          </a:xfrm>
          <a:custGeom>
            <a:avLst/>
            <a:gdLst>
              <a:gd name="connsiteX0" fmla="*/ 96117 w 4177177"/>
              <a:gd name="connsiteY0" fmla="*/ 0 h 5423127"/>
              <a:gd name="connsiteX1" fmla="*/ 4081060 w 4177177"/>
              <a:gd name="connsiteY1" fmla="*/ 0 h 5423127"/>
              <a:gd name="connsiteX2" fmla="*/ 4177177 w 4177177"/>
              <a:gd name="connsiteY2" fmla="*/ 96117 h 5423127"/>
              <a:gd name="connsiteX3" fmla="*/ 4177177 w 4177177"/>
              <a:gd name="connsiteY3" fmla="*/ 5327010 h 5423127"/>
              <a:gd name="connsiteX4" fmla="*/ 4081060 w 4177177"/>
              <a:gd name="connsiteY4" fmla="*/ 5423127 h 5423127"/>
              <a:gd name="connsiteX5" fmla="*/ 96117 w 4177177"/>
              <a:gd name="connsiteY5" fmla="*/ 5423127 h 5423127"/>
              <a:gd name="connsiteX6" fmla="*/ 0 w 4177177"/>
              <a:gd name="connsiteY6" fmla="*/ 5327010 h 5423127"/>
              <a:gd name="connsiteX7" fmla="*/ 0 w 4177177"/>
              <a:gd name="connsiteY7" fmla="*/ 96117 h 5423127"/>
              <a:gd name="connsiteX8" fmla="*/ 96117 w 4177177"/>
              <a:gd name="connsiteY8" fmla="*/ 0 h 542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7177" h="5423127">
                <a:moveTo>
                  <a:pt x="96117" y="0"/>
                </a:moveTo>
                <a:lnTo>
                  <a:pt x="4081060" y="0"/>
                </a:lnTo>
                <a:cubicBezTo>
                  <a:pt x="4134144" y="0"/>
                  <a:pt x="4177177" y="43033"/>
                  <a:pt x="4177177" y="96117"/>
                </a:cubicBezTo>
                <a:lnTo>
                  <a:pt x="4177177" y="5327010"/>
                </a:lnTo>
                <a:cubicBezTo>
                  <a:pt x="4177177" y="5380094"/>
                  <a:pt x="4134144" y="5423127"/>
                  <a:pt x="4081060" y="5423127"/>
                </a:cubicBezTo>
                <a:lnTo>
                  <a:pt x="96117" y="5423127"/>
                </a:lnTo>
                <a:cubicBezTo>
                  <a:pt x="43033" y="5423127"/>
                  <a:pt x="0" y="5380094"/>
                  <a:pt x="0" y="5327010"/>
                </a:cubicBezTo>
                <a:lnTo>
                  <a:pt x="0" y="96117"/>
                </a:lnTo>
                <a:cubicBezTo>
                  <a:pt x="0" y="43033"/>
                  <a:pt x="43033" y="0"/>
                  <a:pt x="96117"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559120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D79551E1-3CBB-F918-0182-155081BE6AD0}"/>
              </a:ext>
            </a:extLst>
          </p:cNvPr>
          <p:cNvSpPr>
            <a:spLocks noGrp="1"/>
          </p:cNvSpPr>
          <p:nvPr>
            <p:ph type="pic" sz="quarter" idx="10"/>
          </p:nvPr>
        </p:nvSpPr>
        <p:spPr>
          <a:xfrm>
            <a:off x="824455" y="1421847"/>
            <a:ext cx="4388852" cy="4661283"/>
          </a:xfrm>
          <a:custGeom>
            <a:avLst/>
            <a:gdLst>
              <a:gd name="connsiteX0" fmla="*/ 0 w 4388852"/>
              <a:gd name="connsiteY0" fmla="*/ 0 h 4661283"/>
              <a:gd name="connsiteX1" fmla="*/ 4388852 w 4388852"/>
              <a:gd name="connsiteY1" fmla="*/ 0 h 4661283"/>
              <a:gd name="connsiteX2" fmla="*/ 4388852 w 4388852"/>
              <a:gd name="connsiteY2" fmla="*/ 4661283 h 4661283"/>
              <a:gd name="connsiteX3" fmla="*/ 0 w 4388852"/>
              <a:gd name="connsiteY3" fmla="*/ 4661283 h 4661283"/>
            </a:gdLst>
            <a:ahLst/>
            <a:cxnLst>
              <a:cxn ang="0">
                <a:pos x="connsiteX0" y="connsiteY0"/>
              </a:cxn>
              <a:cxn ang="0">
                <a:pos x="connsiteX1" y="connsiteY1"/>
              </a:cxn>
              <a:cxn ang="0">
                <a:pos x="connsiteX2" y="connsiteY2"/>
              </a:cxn>
              <a:cxn ang="0">
                <a:pos x="connsiteX3" y="connsiteY3"/>
              </a:cxn>
            </a:cxnLst>
            <a:rect l="l" t="t" r="r" b="b"/>
            <a:pathLst>
              <a:path w="4388852" h="4661283">
                <a:moveTo>
                  <a:pt x="0" y="0"/>
                </a:moveTo>
                <a:lnTo>
                  <a:pt x="4388852" y="0"/>
                </a:lnTo>
                <a:lnTo>
                  <a:pt x="4388852" y="4661283"/>
                </a:lnTo>
                <a:lnTo>
                  <a:pt x="0" y="4661283"/>
                </a:lnTo>
                <a:close/>
              </a:path>
            </a:pathLst>
          </a:custGeom>
        </p:spPr>
        <p:txBody>
          <a:bodyPr wrap="square">
            <a:noAutofit/>
          </a:bodyPr>
          <a:lstStyle/>
          <a:p>
            <a:endParaRPr lang="en-US"/>
          </a:p>
        </p:txBody>
      </p:sp>
    </p:spTree>
    <p:extLst>
      <p:ext uri="{BB962C8B-B14F-4D97-AF65-F5344CB8AC3E}">
        <p14:creationId xmlns:p14="http://schemas.microsoft.com/office/powerpoint/2010/main" val="8050378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B816732-504D-A0CB-8E05-58ECDF1031D8}"/>
              </a:ext>
            </a:extLst>
          </p:cNvPr>
          <p:cNvSpPr>
            <a:spLocks noGrp="1"/>
          </p:cNvSpPr>
          <p:nvPr>
            <p:ph type="pic" sz="quarter" idx="10"/>
          </p:nvPr>
        </p:nvSpPr>
        <p:spPr>
          <a:xfrm>
            <a:off x="0" y="1351886"/>
            <a:ext cx="5542384" cy="4629036"/>
          </a:xfrm>
          <a:custGeom>
            <a:avLst/>
            <a:gdLst>
              <a:gd name="connsiteX0" fmla="*/ 0 w 5542384"/>
              <a:gd name="connsiteY0" fmla="*/ 0 h 4629036"/>
              <a:gd name="connsiteX1" fmla="*/ 5340049 w 5542384"/>
              <a:gd name="connsiteY1" fmla="*/ 0 h 4629036"/>
              <a:gd name="connsiteX2" fmla="*/ 5542384 w 5542384"/>
              <a:gd name="connsiteY2" fmla="*/ 202335 h 4629036"/>
              <a:gd name="connsiteX3" fmla="*/ 5542384 w 5542384"/>
              <a:gd name="connsiteY3" fmla="*/ 4426701 h 4629036"/>
              <a:gd name="connsiteX4" fmla="*/ 5340049 w 5542384"/>
              <a:gd name="connsiteY4" fmla="*/ 4629036 h 4629036"/>
              <a:gd name="connsiteX5" fmla="*/ 0 w 5542384"/>
              <a:gd name="connsiteY5" fmla="*/ 4629036 h 4629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42384" h="4629036">
                <a:moveTo>
                  <a:pt x="0" y="0"/>
                </a:moveTo>
                <a:lnTo>
                  <a:pt x="5340049" y="0"/>
                </a:lnTo>
                <a:cubicBezTo>
                  <a:pt x="5451796" y="0"/>
                  <a:pt x="5542384" y="90588"/>
                  <a:pt x="5542384" y="202335"/>
                </a:cubicBezTo>
                <a:lnTo>
                  <a:pt x="5542384" y="4426701"/>
                </a:lnTo>
                <a:cubicBezTo>
                  <a:pt x="5542384" y="4538448"/>
                  <a:pt x="5451796" y="4629036"/>
                  <a:pt x="5340049" y="4629036"/>
                </a:cubicBezTo>
                <a:lnTo>
                  <a:pt x="0" y="4629036"/>
                </a:lnTo>
                <a:close/>
              </a:path>
            </a:pathLst>
          </a:custGeom>
        </p:spPr>
        <p:txBody>
          <a:bodyPr wrap="square">
            <a:noAutofit/>
          </a:bodyPr>
          <a:lstStyle/>
          <a:p>
            <a:endParaRPr lang="en-US"/>
          </a:p>
        </p:txBody>
      </p:sp>
    </p:spTree>
    <p:extLst>
      <p:ext uri="{BB962C8B-B14F-4D97-AF65-F5344CB8AC3E}">
        <p14:creationId xmlns:p14="http://schemas.microsoft.com/office/powerpoint/2010/main" val="29715419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BB034BA-0803-FA7B-BF60-08B98CCDC035}"/>
              </a:ext>
            </a:extLst>
          </p:cNvPr>
          <p:cNvSpPr>
            <a:spLocks noGrp="1"/>
          </p:cNvSpPr>
          <p:nvPr>
            <p:ph type="pic" sz="quarter" idx="10"/>
          </p:nvPr>
        </p:nvSpPr>
        <p:spPr>
          <a:xfrm>
            <a:off x="7153273" y="0"/>
            <a:ext cx="4638675" cy="6057900"/>
          </a:xfrm>
          <a:custGeom>
            <a:avLst/>
            <a:gdLst>
              <a:gd name="connsiteX0" fmla="*/ 0 w 4638675"/>
              <a:gd name="connsiteY0" fmla="*/ 0 h 6057900"/>
              <a:gd name="connsiteX1" fmla="*/ 4638675 w 4638675"/>
              <a:gd name="connsiteY1" fmla="*/ 0 h 6057900"/>
              <a:gd name="connsiteX2" fmla="*/ 4638675 w 4638675"/>
              <a:gd name="connsiteY2" fmla="*/ 5589579 h 6057900"/>
              <a:gd name="connsiteX3" fmla="*/ 4170354 w 4638675"/>
              <a:gd name="connsiteY3" fmla="*/ 6057900 h 6057900"/>
              <a:gd name="connsiteX4" fmla="*/ 468321 w 4638675"/>
              <a:gd name="connsiteY4" fmla="*/ 6057900 h 6057900"/>
              <a:gd name="connsiteX5" fmla="*/ 0 w 4638675"/>
              <a:gd name="connsiteY5" fmla="*/ 5589579 h 605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38675" h="6057900">
                <a:moveTo>
                  <a:pt x="0" y="0"/>
                </a:moveTo>
                <a:lnTo>
                  <a:pt x="4638675" y="0"/>
                </a:lnTo>
                <a:lnTo>
                  <a:pt x="4638675" y="5589579"/>
                </a:lnTo>
                <a:cubicBezTo>
                  <a:pt x="4638675" y="5848226"/>
                  <a:pt x="4429001" y="6057900"/>
                  <a:pt x="4170354" y="6057900"/>
                </a:cubicBezTo>
                <a:lnTo>
                  <a:pt x="468321" y="6057900"/>
                </a:lnTo>
                <a:cubicBezTo>
                  <a:pt x="209674" y="6057900"/>
                  <a:pt x="0" y="5848226"/>
                  <a:pt x="0" y="5589579"/>
                </a:cubicBezTo>
                <a:close/>
              </a:path>
            </a:pathLst>
          </a:custGeom>
        </p:spPr>
        <p:txBody>
          <a:bodyPr wrap="square">
            <a:noAutofit/>
          </a:bodyPr>
          <a:lstStyle/>
          <a:p>
            <a:endParaRPr lang="en-US"/>
          </a:p>
        </p:txBody>
      </p:sp>
    </p:spTree>
    <p:extLst>
      <p:ext uri="{BB962C8B-B14F-4D97-AF65-F5344CB8AC3E}">
        <p14:creationId xmlns:p14="http://schemas.microsoft.com/office/powerpoint/2010/main" val="27743215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CDECFA9-369A-02F4-D0BE-E1A976FA3B90}"/>
              </a:ext>
            </a:extLst>
          </p:cNvPr>
          <p:cNvSpPr>
            <a:spLocks noGrp="1"/>
          </p:cNvSpPr>
          <p:nvPr>
            <p:ph type="pic" sz="quarter" idx="10"/>
          </p:nvPr>
        </p:nvSpPr>
        <p:spPr>
          <a:xfrm>
            <a:off x="6994958" y="647701"/>
            <a:ext cx="4559416" cy="6049372"/>
          </a:xfrm>
          <a:custGeom>
            <a:avLst/>
            <a:gdLst>
              <a:gd name="connsiteX0" fmla="*/ 2279708 w 4559416"/>
              <a:gd name="connsiteY0" fmla="*/ 0 h 6049372"/>
              <a:gd name="connsiteX1" fmla="*/ 4559416 w 4559416"/>
              <a:gd name="connsiteY1" fmla="*/ 2279708 h 6049372"/>
              <a:gd name="connsiteX2" fmla="*/ 4559416 w 4559416"/>
              <a:gd name="connsiteY2" fmla="*/ 6049372 h 6049372"/>
              <a:gd name="connsiteX3" fmla="*/ 0 w 4559416"/>
              <a:gd name="connsiteY3" fmla="*/ 6049372 h 6049372"/>
              <a:gd name="connsiteX4" fmla="*/ 0 w 4559416"/>
              <a:gd name="connsiteY4" fmla="*/ 2279708 h 6049372"/>
              <a:gd name="connsiteX5" fmla="*/ 2279708 w 4559416"/>
              <a:gd name="connsiteY5" fmla="*/ 0 h 6049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9416" h="6049372">
                <a:moveTo>
                  <a:pt x="2279708" y="0"/>
                </a:moveTo>
                <a:cubicBezTo>
                  <a:pt x="3538756" y="0"/>
                  <a:pt x="4559416" y="1020660"/>
                  <a:pt x="4559416" y="2279708"/>
                </a:cubicBezTo>
                <a:lnTo>
                  <a:pt x="4559416" y="6049372"/>
                </a:lnTo>
                <a:lnTo>
                  <a:pt x="0" y="6049372"/>
                </a:lnTo>
                <a:lnTo>
                  <a:pt x="0" y="2279708"/>
                </a:lnTo>
                <a:cubicBezTo>
                  <a:pt x="0" y="1020660"/>
                  <a:pt x="1020660" y="0"/>
                  <a:pt x="2279708"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186000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DD072FC-FFC7-A2B9-186B-58832D73F062}"/>
              </a:ext>
            </a:extLst>
          </p:cNvPr>
          <p:cNvSpPr>
            <a:spLocks noGrp="1"/>
          </p:cNvSpPr>
          <p:nvPr>
            <p:ph type="pic" sz="quarter" idx="10"/>
          </p:nvPr>
        </p:nvSpPr>
        <p:spPr>
          <a:xfrm>
            <a:off x="7239000" y="0"/>
            <a:ext cx="4181536" cy="6076950"/>
          </a:xfrm>
          <a:custGeom>
            <a:avLst/>
            <a:gdLst>
              <a:gd name="connsiteX0" fmla="*/ 0 w 4181536"/>
              <a:gd name="connsiteY0" fmla="*/ 0 h 6076950"/>
              <a:gd name="connsiteX1" fmla="*/ 4181536 w 4181536"/>
              <a:gd name="connsiteY1" fmla="*/ 0 h 6076950"/>
              <a:gd name="connsiteX2" fmla="*/ 4181536 w 4181536"/>
              <a:gd name="connsiteY2" fmla="*/ 6076950 h 6076950"/>
              <a:gd name="connsiteX3" fmla="*/ 0 w 4181536"/>
              <a:gd name="connsiteY3" fmla="*/ 6076950 h 6076950"/>
            </a:gdLst>
            <a:ahLst/>
            <a:cxnLst>
              <a:cxn ang="0">
                <a:pos x="connsiteX0" y="connsiteY0"/>
              </a:cxn>
              <a:cxn ang="0">
                <a:pos x="connsiteX1" y="connsiteY1"/>
              </a:cxn>
              <a:cxn ang="0">
                <a:pos x="connsiteX2" y="connsiteY2"/>
              </a:cxn>
              <a:cxn ang="0">
                <a:pos x="connsiteX3" y="connsiteY3"/>
              </a:cxn>
            </a:cxnLst>
            <a:rect l="l" t="t" r="r" b="b"/>
            <a:pathLst>
              <a:path w="4181536" h="6076950">
                <a:moveTo>
                  <a:pt x="0" y="0"/>
                </a:moveTo>
                <a:lnTo>
                  <a:pt x="4181536" y="0"/>
                </a:lnTo>
                <a:lnTo>
                  <a:pt x="4181536" y="6076950"/>
                </a:lnTo>
                <a:lnTo>
                  <a:pt x="0" y="6076950"/>
                </a:lnTo>
                <a:close/>
              </a:path>
            </a:pathLst>
          </a:custGeom>
        </p:spPr>
        <p:txBody>
          <a:bodyPr wrap="square">
            <a:noAutofit/>
          </a:bodyPr>
          <a:lstStyle/>
          <a:p>
            <a:endParaRPr lang="en-US"/>
          </a:p>
        </p:txBody>
      </p:sp>
    </p:spTree>
    <p:extLst>
      <p:ext uri="{BB962C8B-B14F-4D97-AF65-F5344CB8AC3E}">
        <p14:creationId xmlns:p14="http://schemas.microsoft.com/office/powerpoint/2010/main" val="7016444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0B7D5-8EBF-52F7-2BB2-86E46D5618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2C477A-C589-268C-254D-425EBD0368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59912F-AF73-F7D8-3C52-FA880A4E33C9}"/>
              </a:ext>
            </a:extLst>
          </p:cNvPr>
          <p:cNvSpPr>
            <a:spLocks noGrp="1"/>
          </p:cNvSpPr>
          <p:nvPr>
            <p:ph type="dt" sz="half" idx="10"/>
          </p:nvPr>
        </p:nvSpPr>
        <p:spPr/>
        <p:txBody>
          <a:bodyPr/>
          <a:lstStyle/>
          <a:p>
            <a:fld id="{C4F1D38A-B7DE-4FCE-A7B8-1DBC12E900B3}" type="datetimeFigureOut">
              <a:rPr lang="en-US" smtClean="0"/>
              <a:t>3/18/2026</a:t>
            </a:fld>
            <a:endParaRPr lang="en-US"/>
          </a:p>
        </p:txBody>
      </p:sp>
      <p:sp>
        <p:nvSpPr>
          <p:cNvPr id="5" name="Footer Placeholder 4">
            <a:extLst>
              <a:ext uri="{FF2B5EF4-FFF2-40B4-BE49-F238E27FC236}">
                <a16:creationId xmlns:a16="http://schemas.microsoft.com/office/drawing/2014/main" id="{F0D0C980-6E94-8C9A-2681-0A46EA5B8C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95F91-598C-143B-EE83-AC23965FCFA9}"/>
              </a:ext>
            </a:extLst>
          </p:cNvPr>
          <p:cNvSpPr>
            <a:spLocks noGrp="1"/>
          </p:cNvSpPr>
          <p:nvPr>
            <p:ph type="sldNum" sz="quarter" idx="12"/>
          </p:nvPr>
        </p:nvSpPr>
        <p:spPr/>
        <p:txBody>
          <a:bodyPr/>
          <a:lstStyle/>
          <a:p>
            <a:fld id="{D30B3399-B91A-4BBA-A5FF-EF2B367C4407}" type="slidenum">
              <a:rPr lang="en-US" smtClean="0"/>
              <a:t>‹#›</a:t>
            </a:fld>
            <a:endParaRPr lang="en-US"/>
          </a:p>
        </p:txBody>
      </p:sp>
    </p:spTree>
    <p:extLst>
      <p:ext uri="{BB962C8B-B14F-4D97-AF65-F5344CB8AC3E}">
        <p14:creationId xmlns:p14="http://schemas.microsoft.com/office/powerpoint/2010/main" val="1345556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D92D82-BBC4-EBEC-D036-BF3CC7648E0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ED4A90-F40B-931F-4541-7D72605B4B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8E294B-49F0-FFAE-3741-BEB1CD46E60B}"/>
              </a:ext>
            </a:extLst>
          </p:cNvPr>
          <p:cNvSpPr>
            <a:spLocks noGrp="1"/>
          </p:cNvSpPr>
          <p:nvPr>
            <p:ph type="dt" sz="half" idx="10"/>
          </p:nvPr>
        </p:nvSpPr>
        <p:spPr/>
        <p:txBody>
          <a:bodyPr/>
          <a:lstStyle/>
          <a:p>
            <a:fld id="{C4F1D38A-B7DE-4FCE-A7B8-1DBC12E900B3}" type="datetimeFigureOut">
              <a:rPr lang="en-US" smtClean="0"/>
              <a:t>3/18/2026</a:t>
            </a:fld>
            <a:endParaRPr lang="en-US"/>
          </a:p>
        </p:txBody>
      </p:sp>
      <p:sp>
        <p:nvSpPr>
          <p:cNvPr id="5" name="Footer Placeholder 4">
            <a:extLst>
              <a:ext uri="{FF2B5EF4-FFF2-40B4-BE49-F238E27FC236}">
                <a16:creationId xmlns:a16="http://schemas.microsoft.com/office/drawing/2014/main" id="{71A19A4E-545A-FE0E-1A66-ADEA6465F4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3A4EB0-28AD-F055-CAB6-C6F147B4CFF8}"/>
              </a:ext>
            </a:extLst>
          </p:cNvPr>
          <p:cNvSpPr>
            <a:spLocks noGrp="1"/>
          </p:cNvSpPr>
          <p:nvPr>
            <p:ph type="sldNum" sz="quarter" idx="12"/>
          </p:nvPr>
        </p:nvSpPr>
        <p:spPr/>
        <p:txBody>
          <a:bodyPr/>
          <a:lstStyle/>
          <a:p>
            <a:fld id="{D30B3399-B91A-4BBA-A5FF-EF2B367C4407}" type="slidenum">
              <a:rPr lang="en-US" smtClean="0"/>
              <a:t>‹#›</a:t>
            </a:fld>
            <a:endParaRPr lang="en-US"/>
          </a:p>
        </p:txBody>
      </p:sp>
    </p:spTree>
    <p:extLst>
      <p:ext uri="{BB962C8B-B14F-4D97-AF65-F5344CB8AC3E}">
        <p14:creationId xmlns:p14="http://schemas.microsoft.com/office/powerpoint/2010/main" val="37393503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989134"/>
            <a:ext cx="10742" cy="5859497"/>
          </a:xfrm>
          <a:custGeom>
            <a:avLst/>
            <a:gdLst/>
            <a:ahLst/>
            <a:cxnLst/>
            <a:rect l="l" t="t" r="r" b="b"/>
            <a:pathLst>
              <a:path w="5080" h="2772410">
                <a:moveTo>
                  <a:pt x="5054" y="0"/>
                </a:moveTo>
                <a:lnTo>
                  <a:pt x="0" y="0"/>
                </a:lnTo>
                <a:lnTo>
                  <a:pt x="0" y="2771990"/>
                </a:lnTo>
                <a:lnTo>
                  <a:pt x="5054" y="2771990"/>
                </a:lnTo>
                <a:lnTo>
                  <a:pt x="5054" y="0"/>
                </a:lnTo>
                <a:close/>
              </a:path>
            </a:pathLst>
          </a:custGeom>
          <a:solidFill>
            <a:srgbClr val="101072"/>
          </a:solidFill>
        </p:spPr>
        <p:txBody>
          <a:bodyPr wrap="square" lIns="0" tIns="0" rIns="0" bIns="0" rtlCol="0"/>
          <a:lstStyle/>
          <a:p>
            <a:endParaRPr sz="3804"/>
          </a:p>
        </p:txBody>
      </p:sp>
      <p:sp>
        <p:nvSpPr>
          <p:cNvPr id="17" name="bg object 17"/>
          <p:cNvSpPr/>
          <p:nvPr/>
        </p:nvSpPr>
        <p:spPr>
          <a:xfrm>
            <a:off x="1" y="994475"/>
            <a:ext cx="12179915" cy="0"/>
          </a:xfrm>
          <a:custGeom>
            <a:avLst/>
            <a:gdLst/>
            <a:ahLst/>
            <a:cxnLst/>
            <a:rect l="l" t="t" r="r" b="b"/>
            <a:pathLst>
              <a:path w="5760085">
                <a:moveTo>
                  <a:pt x="0" y="0"/>
                </a:moveTo>
                <a:lnTo>
                  <a:pt x="5759996" y="0"/>
                </a:lnTo>
              </a:path>
            </a:pathLst>
          </a:custGeom>
          <a:ln w="5054">
            <a:solidFill>
              <a:srgbClr val="101072"/>
            </a:solidFill>
          </a:ln>
        </p:spPr>
        <p:txBody>
          <a:bodyPr wrap="square" lIns="0" tIns="0" rIns="0" bIns="0" rtlCol="0"/>
          <a:lstStyle/>
          <a:p>
            <a:endParaRPr sz="3804"/>
          </a:p>
        </p:txBody>
      </p:sp>
      <p:sp>
        <p:nvSpPr>
          <p:cNvPr id="18" name="bg object 18"/>
          <p:cNvSpPr/>
          <p:nvPr/>
        </p:nvSpPr>
        <p:spPr>
          <a:xfrm>
            <a:off x="12169038" y="989134"/>
            <a:ext cx="10742" cy="5859497"/>
          </a:xfrm>
          <a:custGeom>
            <a:avLst/>
            <a:gdLst/>
            <a:ahLst/>
            <a:cxnLst/>
            <a:rect l="l" t="t" r="r" b="b"/>
            <a:pathLst>
              <a:path w="5079" h="2772410">
                <a:moveTo>
                  <a:pt x="5054" y="0"/>
                </a:moveTo>
                <a:lnTo>
                  <a:pt x="0" y="0"/>
                </a:lnTo>
                <a:lnTo>
                  <a:pt x="0" y="2771990"/>
                </a:lnTo>
                <a:lnTo>
                  <a:pt x="5054" y="2771990"/>
                </a:lnTo>
                <a:lnTo>
                  <a:pt x="5054" y="0"/>
                </a:lnTo>
                <a:close/>
              </a:path>
            </a:pathLst>
          </a:custGeom>
          <a:solidFill>
            <a:srgbClr val="101072"/>
          </a:solidFill>
        </p:spPr>
        <p:txBody>
          <a:bodyPr wrap="square" lIns="0" tIns="0" rIns="0" bIns="0" rtlCol="0"/>
          <a:lstStyle/>
          <a:p>
            <a:endParaRPr sz="3804"/>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3/17/2026</a:t>
            </a:fld>
            <a:endParaRPr lang="en-US"/>
          </a:p>
        </p:txBody>
      </p:sp>
      <p:sp>
        <p:nvSpPr>
          <p:cNvPr id="4" name="Holder 4"/>
          <p:cNvSpPr>
            <a:spLocks noGrp="1"/>
          </p:cNvSpPr>
          <p:nvPr>
            <p:ph type="sldNum" sz="quarter" idx="7"/>
          </p:nvPr>
        </p:nvSpPr>
        <p:spPr/>
        <p:txBody>
          <a:bodyPr lIns="0" tIns="0" rIns="0" bIns="0"/>
          <a:lstStyle>
            <a:lvl1pPr>
              <a:defRPr sz="1691" b="0" i="0">
                <a:solidFill>
                  <a:srgbClr val="101072"/>
                </a:solidFill>
                <a:latin typeface="Lucida Sans Unicode"/>
                <a:cs typeface="Lucida Sans Unicode"/>
              </a:defRPr>
            </a:lvl1pPr>
          </a:lstStyle>
          <a:p>
            <a:pPr marL="80524">
              <a:spcBef>
                <a:spcPts val="317"/>
              </a:spcBef>
            </a:pPr>
            <a:fld id="{81D60167-4931-47E6-BA6A-407CBD079E47}" type="slidenum">
              <a:rPr lang="en-AT" spc="-106" smtClean="0"/>
              <a:pPr marL="80524">
                <a:spcBef>
                  <a:spcPts val="317"/>
                </a:spcBef>
              </a:pPr>
              <a:t>‹#›</a:t>
            </a:fld>
            <a:endParaRPr lang="en-AT" spc="-106" dirty="0"/>
          </a:p>
        </p:txBody>
      </p:sp>
    </p:spTree>
    <p:extLst>
      <p:ext uri="{BB962C8B-B14F-4D97-AF65-F5344CB8AC3E}">
        <p14:creationId xmlns:p14="http://schemas.microsoft.com/office/powerpoint/2010/main" val="1872352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A583BA-3E1A-D3CE-930D-82AFD79475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B1F440-C929-E0E0-80E4-7B407D0FD4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A51BBA-E867-CA88-617F-758AAB2C4C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F1D38A-B7DE-4FCE-A7B8-1DBC12E900B3}" type="datetimeFigureOut">
              <a:rPr lang="en-US" smtClean="0"/>
              <a:t>3/18/2026</a:t>
            </a:fld>
            <a:endParaRPr lang="en-US"/>
          </a:p>
        </p:txBody>
      </p:sp>
      <p:sp>
        <p:nvSpPr>
          <p:cNvPr id="5" name="Footer Placeholder 4">
            <a:extLst>
              <a:ext uri="{FF2B5EF4-FFF2-40B4-BE49-F238E27FC236}">
                <a16:creationId xmlns:a16="http://schemas.microsoft.com/office/drawing/2014/main" id="{285A7D48-6982-95EE-F1C5-C0C430E521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8F868BF-70B3-283D-8E88-654384872E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0B3399-B91A-4BBA-A5FF-EF2B367C4407}" type="slidenum">
              <a:rPr lang="en-US" smtClean="0"/>
              <a:t>‹#›</a:t>
            </a:fld>
            <a:endParaRPr lang="en-US"/>
          </a:p>
        </p:txBody>
      </p:sp>
    </p:spTree>
    <p:extLst>
      <p:ext uri="{BB962C8B-B14F-4D97-AF65-F5344CB8AC3E}">
        <p14:creationId xmlns:p14="http://schemas.microsoft.com/office/powerpoint/2010/main" val="2050949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hyperlink" Target="https://monkeylearn.com/blog/machine-learning-algorithms/#knn" TargetMode="Externa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jpeg"/></Relationships>
</file>

<file path=ppt/slides/_rels/slide2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983" y="60969"/>
            <a:ext cx="12173957" cy="6786870"/>
            <a:chOff x="0" y="28847"/>
            <a:chExt cx="5760085" cy="3211195"/>
          </a:xfrm>
        </p:grpSpPr>
        <p:pic>
          <p:nvPicPr>
            <p:cNvPr id="3" name="object 3"/>
            <p:cNvPicPr/>
            <p:nvPr/>
          </p:nvPicPr>
          <p:blipFill>
            <a:blip r:embed="rId2" cstate="print"/>
            <a:stretch>
              <a:fillRect/>
            </a:stretch>
          </p:blipFill>
          <p:spPr>
            <a:xfrm>
              <a:off x="0" y="467988"/>
              <a:ext cx="5759042" cy="2772009"/>
            </a:xfrm>
            <a:prstGeom prst="rect">
              <a:avLst/>
            </a:prstGeom>
          </p:spPr>
        </p:pic>
        <p:sp>
          <p:nvSpPr>
            <p:cNvPr id="4" name="object 4"/>
            <p:cNvSpPr/>
            <p:nvPr/>
          </p:nvSpPr>
          <p:spPr>
            <a:xfrm>
              <a:off x="0" y="1691978"/>
              <a:ext cx="5760085" cy="1548130"/>
            </a:xfrm>
            <a:custGeom>
              <a:avLst/>
              <a:gdLst/>
              <a:ahLst/>
              <a:cxnLst/>
              <a:rect l="l" t="t" r="r" b="b"/>
              <a:pathLst>
                <a:path w="5760085" h="1548130">
                  <a:moveTo>
                    <a:pt x="5760073" y="0"/>
                  </a:moveTo>
                  <a:lnTo>
                    <a:pt x="0" y="0"/>
                  </a:lnTo>
                  <a:lnTo>
                    <a:pt x="0" y="1170014"/>
                  </a:lnTo>
                  <a:lnTo>
                    <a:pt x="5760073" y="1548020"/>
                  </a:lnTo>
                  <a:lnTo>
                    <a:pt x="5760073" y="0"/>
                  </a:lnTo>
                  <a:close/>
                </a:path>
              </a:pathLst>
            </a:custGeom>
            <a:solidFill>
              <a:srgbClr val="C81818">
                <a:alpha val="69999"/>
              </a:srgbClr>
            </a:solidFill>
          </p:spPr>
          <p:txBody>
            <a:bodyPr wrap="square" lIns="0" tIns="0" rIns="0" bIns="0" rtlCol="0"/>
            <a:lstStyle/>
            <a:p>
              <a:endParaRPr sz="3804"/>
            </a:p>
          </p:txBody>
        </p:sp>
        <p:sp>
          <p:nvSpPr>
            <p:cNvPr id="5" name="object 5"/>
            <p:cNvSpPr/>
            <p:nvPr/>
          </p:nvSpPr>
          <p:spPr>
            <a:xfrm>
              <a:off x="0" y="2861993"/>
              <a:ext cx="5760085" cy="378460"/>
            </a:xfrm>
            <a:custGeom>
              <a:avLst/>
              <a:gdLst/>
              <a:ahLst/>
              <a:cxnLst/>
              <a:rect l="l" t="t" r="r" b="b"/>
              <a:pathLst>
                <a:path w="5760085" h="378460">
                  <a:moveTo>
                    <a:pt x="5760073" y="0"/>
                  </a:moveTo>
                  <a:lnTo>
                    <a:pt x="0" y="0"/>
                  </a:lnTo>
                  <a:lnTo>
                    <a:pt x="0" y="378005"/>
                  </a:lnTo>
                  <a:lnTo>
                    <a:pt x="5760073" y="378005"/>
                  </a:lnTo>
                  <a:lnTo>
                    <a:pt x="5760073" y="0"/>
                  </a:lnTo>
                  <a:close/>
                </a:path>
              </a:pathLst>
            </a:custGeom>
            <a:solidFill>
              <a:srgbClr val="FFFFFF"/>
            </a:solidFill>
          </p:spPr>
          <p:txBody>
            <a:bodyPr wrap="square" lIns="0" tIns="0" rIns="0" bIns="0" rtlCol="0"/>
            <a:lstStyle/>
            <a:p>
              <a:endParaRPr sz="3804"/>
            </a:p>
          </p:txBody>
        </p:sp>
        <p:pic>
          <p:nvPicPr>
            <p:cNvPr id="6" name="object 6"/>
            <p:cNvPicPr/>
            <p:nvPr/>
          </p:nvPicPr>
          <p:blipFill>
            <a:blip r:embed="rId3" cstate="print"/>
            <a:stretch>
              <a:fillRect/>
            </a:stretch>
          </p:blipFill>
          <p:spPr>
            <a:xfrm>
              <a:off x="4490656" y="28847"/>
              <a:ext cx="1265677" cy="410356"/>
            </a:xfrm>
            <a:prstGeom prst="rect">
              <a:avLst/>
            </a:prstGeom>
          </p:spPr>
        </p:pic>
      </p:grpSp>
      <p:sp>
        <p:nvSpPr>
          <p:cNvPr id="7" name="object 7"/>
          <p:cNvSpPr txBox="1"/>
          <p:nvPr/>
        </p:nvSpPr>
        <p:spPr>
          <a:xfrm>
            <a:off x="622886" y="3846723"/>
            <a:ext cx="6589585" cy="819683"/>
          </a:xfrm>
          <a:prstGeom prst="rect">
            <a:avLst/>
          </a:prstGeom>
        </p:spPr>
        <p:txBody>
          <a:bodyPr vert="horz" wrap="square" lIns="0" tIns="75156" rIns="0" bIns="0" rtlCol="0">
            <a:spAutoFit/>
          </a:bodyPr>
          <a:lstStyle/>
          <a:p>
            <a:pPr marL="26841" marR="10737">
              <a:lnSpc>
                <a:spcPts val="2938"/>
              </a:lnSpc>
              <a:spcBef>
                <a:spcPts val="592"/>
              </a:spcBef>
            </a:pPr>
            <a:r>
              <a:rPr sz="2748" spc="-201" dirty="0">
                <a:solidFill>
                  <a:srgbClr val="FFFFFF"/>
                </a:solidFill>
                <a:latin typeface="Arial Black"/>
                <a:cs typeface="Arial Black"/>
              </a:rPr>
              <a:t>Knowledge</a:t>
            </a:r>
            <a:r>
              <a:rPr sz="2748" spc="-116" dirty="0">
                <a:solidFill>
                  <a:srgbClr val="FFFFFF"/>
                </a:solidFill>
                <a:latin typeface="Arial Black"/>
                <a:cs typeface="Arial Black"/>
              </a:rPr>
              <a:t> </a:t>
            </a:r>
            <a:r>
              <a:rPr sz="2748" spc="-180" dirty="0">
                <a:solidFill>
                  <a:srgbClr val="FFFFFF"/>
                </a:solidFill>
                <a:latin typeface="Arial Black"/>
                <a:cs typeface="Arial Black"/>
              </a:rPr>
              <a:t>Extraction,</a:t>
            </a:r>
            <a:r>
              <a:rPr sz="2748" spc="-106" dirty="0">
                <a:solidFill>
                  <a:srgbClr val="FFFFFF"/>
                </a:solidFill>
                <a:latin typeface="Arial Black"/>
                <a:cs typeface="Arial Black"/>
              </a:rPr>
              <a:t> </a:t>
            </a:r>
            <a:r>
              <a:rPr sz="2748" spc="-137" dirty="0">
                <a:solidFill>
                  <a:srgbClr val="FFFFFF"/>
                </a:solidFill>
                <a:latin typeface="Arial Black"/>
                <a:cs typeface="Arial Black"/>
              </a:rPr>
              <a:t>Data</a:t>
            </a:r>
            <a:r>
              <a:rPr sz="2748" spc="-116" dirty="0">
                <a:solidFill>
                  <a:srgbClr val="FFFFFF"/>
                </a:solidFill>
                <a:latin typeface="Arial Black"/>
                <a:cs typeface="Arial Black"/>
              </a:rPr>
              <a:t> </a:t>
            </a:r>
            <a:r>
              <a:rPr sz="2748" spc="-95" dirty="0">
                <a:solidFill>
                  <a:srgbClr val="FFFFFF"/>
                </a:solidFill>
                <a:latin typeface="Arial Black"/>
                <a:cs typeface="Arial Black"/>
              </a:rPr>
              <a:t>Modeling </a:t>
            </a:r>
            <a:r>
              <a:rPr sz="2748" spc="-116" dirty="0">
                <a:solidFill>
                  <a:srgbClr val="FFFFFF"/>
                </a:solidFill>
                <a:latin typeface="Arial Black"/>
                <a:cs typeface="Arial Black"/>
              </a:rPr>
              <a:t>and</a:t>
            </a:r>
            <a:r>
              <a:rPr sz="2748" spc="-201" dirty="0">
                <a:solidFill>
                  <a:srgbClr val="FFFFFF"/>
                </a:solidFill>
                <a:latin typeface="Arial Black"/>
                <a:cs typeface="Arial Black"/>
              </a:rPr>
              <a:t> </a:t>
            </a:r>
            <a:r>
              <a:rPr sz="2748" spc="-21" dirty="0">
                <a:solidFill>
                  <a:srgbClr val="FFFFFF"/>
                </a:solidFill>
                <a:latin typeface="Arial Black"/>
                <a:cs typeface="Arial Black"/>
              </a:rPr>
              <a:t>Visualisation</a:t>
            </a:r>
            <a:endParaRPr sz="2748" dirty="0">
              <a:latin typeface="Arial Black"/>
              <a:cs typeface="Arial Black"/>
            </a:endParaRPr>
          </a:p>
        </p:txBody>
      </p:sp>
      <p:sp>
        <p:nvSpPr>
          <p:cNvPr id="8" name="object 8"/>
          <p:cNvSpPr txBox="1"/>
          <p:nvPr/>
        </p:nvSpPr>
        <p:spPr>
          <a:xfrm>
            <a:off x="622886" y="4805534"/>
            <a:ext cx="6739897" cy="832379"/>
          </a:xfrm>
          <a:prstGeom prst="rect">
            <a:avLst/>
          </a:prstGeom>
        </p:spPr>
        <p:txBody>
          <a:bodyPr vert="horz" wrap="square" lIns="0" tIns="25499" rIns="0" bIns="0" rtlCol="0">
            <a:spAutoFit/>
          </a:bodyPr>
          <a:lstStyle/>
          <a:p>
            <a:pPr marL="26841">
              <a:spcBef>
                <a:spcPts val="201"/>
              </a:spcBef>
            </a:pPr>
            <a:r>
              <a:rPr sz="1796" spc="-137" dirty="0">
                <a:solidFill>
                  <a:srgbClr val="FFFFFF"/>
                </a:solidFill>
                <a:latin typeface="Arial Black"/>
                <a:cs typeface="Arial Black"/>
              </a:rPr>
              <a:t>UNIT</a:t>
            </a:r>
            <a:r>
              <a:rPr sz="1796" spc="-95" dirty="0">
                <a:solidFill>
                  <a:srgbClr val="FFFFFF"/>
                </a:solidFill>
                <a:latin typeface="Arial Black"/>
                <a:cs typeface="Arial Black"/>
              </a:rPr>
              <a:t> </a:t>
            </a:r>
            <a:r>
              <a:rPr lang="en-US" sz="1796" spc="-169" dirty="0">
                <a:solidFill>
                  <a:srgbClr val="FFFFFF"/>
                </a:solidFill>
                <a:latin typeface="Arial Black"/>
                <a:cs typeface="Arial Black"/>
              </a:rPr>
              <a:t>4</a:t>
            </a:r>
            <a:r>
              <a:rPr sz="1796" spc="-95" dirty="0">
                <a:solidFill>
                  <a:srgbClr val="FFFFFF"/>
                </a:solidFill>
                <a:latin typeface="Arial Black"/>
                <a:cs typeface="Arial Black"/>
              </a:rPr>
              <a:t> </a:t>
            </a:r>
            <a:r>
              <a:rPr sz="1796" dirty="0">
                <a:solidFill>
                  <a:srgbClr val="FFFFFF"/>
                </a:solidFill>
                <a:latin typeface="Arial Black"/>
                <a:cs typeface="Arial Black"/>
              </a:rPr>
              <a:t>–</a:t>
            </a:r>
            <a:r>
              <a:rPr sz="1796" spc="423" dirty="0">
                <a:solidFill>
                  <a:srgbClr val="FFFFFF"/>
                </a:solidFill>
                <a:latin typeface="Arial Black"/>
                <a:cs typeface="Arial Black"/>
              </a:rPr>
              <a:t> </a:t>
            </a:r>
            <a:r>
              <a:rPr lang="en-US" b="1" dirty="0">
                <a:solidFill>
                  <a:schemeClr val="bg1"/>
                </a:solidFill>
                <a:latin typeface="Montserrat" pitchFamily="2" charset="0"/>
              </a:rPr>
              <a:t>DATA PREPROCESSING</a:t>
            </a:r>
          </a:p>
          <a:p>
            <a:pPr marL="26841">
              <a:spcBef>
                <a:spcPts val="201"/>
              </a:spcBef>
            </a:pPr>
            <a:endParaRPr sz="1796" dirty="0">
              <a:latin typeface="Arial Black"/>
              <a:cs typeface="Arial Black"/>
            </a:endParaRPr>
          </a:p>
          <a:p>
            <a:pPr marL="26841"/>
            <a:r>
              <a:rPr sz="1479" spc="-21" dirty="0">
                <a:solidFill>
                  <a:srgbClr val="FFFFFF"/>
                </a:solidFill>
                <a:latin typeface="Lucida Sans Unicode"/>
                <a:cs typeface="Lucida Sans Unicode"/>
              </a:rPr>
              <a:t>Stefan</a:t>
            </a:r>
            <a:r>
              <a:rPr sz="1479" spc="-42" dirty="0">
                <a:solidFill>
                  <a:srgbClr val="FFFFFF"/>
                </a:solidFill>
                <a:latin typeface="Lucida Sans Unicode"/>
                <a:cs typeface="Lucida Sans Unicode"/>
              </a:rPr>
              <a:t> </a:t>
            </a:r>
            <a:r>
              <a:rPr sz="1479" spc="-53" dirty="0">
                <a:solidFill>
                  <a:srgbClr val="FFFFFF"/>
                </a:solidFill>
                <a:latin typeface="Lucida Sans Unicode"/>
                <a:cs typeface="Lucida Sans Unicode"/>
              </a:rPr>
              <a:t>Apostol,</a:t>
            </a:r>
            <a:r>
              <a:rPr sz="1479" spc="-32" dirty="0">
                <a:solidFill>
                  <a:srgbClr val="FFFFFF"/>
                </a:solidFill>
                <a:latin typeface="Lucida Sans Unicode"/>
                <a:cs typeface="Lucida Sans Unicode"/>
              </a:rPr>
              <a:t> </a:t>
            </a:r>
            <a:r>
              <a:rPr sz="1479" spc="-53" dirty="0">
                <a:solidFill>
                  <a:srgbClr val="FFFFFF"/>
                </a:solidFill>
                <a:latin typeface="Lucida Sans Unicode"/>
                <a:cs typeface="Lucida Sans Unicode"/>
              </a:rPr>
              <a:t>PhD.,</a:t>
            </a:r>
            <a:r>
              <a:rPr sz="1479" spc="-32" dirty="0">
                <a:solidFill>
                  <a:srgbClr val="FFFFFF"/>
                </a:solidFill>
                <a:latin typeface="Lucida Sans Unicode"/>
                <a:cs typeface="Lucida Sans Unicode"/>
              </a:rPr>
              <a:t> </a:t>
            </a:r>
            <a:r>
              <a:rPr sz="1479" spc="-53" dirty="0">
                <a:solidFill>
                  <a:srgbClr val="FFFFFF"/>
                </a:solidFill>
                <a:latin typeface="Lucida Sans Unicode"/>
                <a:cs typeface="Lucida Sans Unicode"/>
              </a:rPr>
              <a:t>Researcher,</a:t>
            </a:r>
            <a:r>
              <a:rPr sz="1479" spc="-32" dirty="0">
                <a:solidFill>
                  <a:srgbClr val="FFFFFF"/>
                </a:solidFill>
                <a:latin typeface="Lucida Sans Unicode"/>
                <a:cs typeface="Lucida Sans Unicode"/>
              </a:rPr>
              <a:t> </a:t>
            </a:r>
            <a:r>
              <a:rPr sz="1479" spc="-21" dirty="0">
                <a:solidFill>
                  <a:srgbClr val="FFFFFF"/>
                </a:solidFill>
                <a:latin typeface="Lucida Sans Unicode"/>
                <a:cs typeface="Lucida Sans Unicode"/>
              </a:rPr>
              <a:t>Lecturer</a:t>
            </a:r>
            <a:endParaRPr sz="1479" dirty="0">
              <a:latin typeface="Lucida Sans Unicode"/>
              <a:cs typeface="Lucida Sans Unicode"/>
            </a:endParaRPr>
          </a:p>
        </p:txBody>
      </p:sp>
      <p:sp>
        <p:nvSpPr>
          <p:cNvPr id="9" name="object 9"/>
          <p:cNvSpPr txBox="1"/>
          <p:nvPr/>
        </p:nvSpPr>
        <p:spPr>
          <a:xfrm>
            <a:off x="622887" y="6365543"/>
            <a:ext cx="3058587" cy="253374"/>
          </a:xfrm>
          <a:prstGeom prst="rect">
            <a:avLst/>
          </a:prstGeom>
        </p:spPr>
        <p:txBody>
          <a:bodyPr vert="horz" wrap="square" lIns="0" tIns="25499" rIns="0" bIns="0" rtlCol="0">
            <a:spAutoFit/>
          </a:bodyPr>
          <a:lstStyle/>
          <a:p>
            <a:pPr marL="26841">
              <a:spcBef>
                <a:spcPts val="201"/>
              </a:spcBef>
            </a:pPr>
            <a:r>
              <a:rPr sz="1479" spc="-42" dirty="0">
                <a:solidFill>
                  <a:srgbClr val="101072"/>
                </a:solidFill>
                <a:latin typeface="Lucida Sans Unicode"/>
                <a:cs typeface="Lucida Sans Unicode"/>
              </a:rPr>
              <a:t>Vienna </a:t>
            </a:r>
            <a:r>
              <a:rPr sz="1479" spc="-21" dirty="0">
                <a:solidFill>
                  <a:srgbClr val="101072"/>
                </a:solidFill>
                <a:latin typeface="Lucida Sans Unicode"/>
                <a:cs typeface="Lucida Sans Unicode"/>
              </a:rPr>
              <a:t>Institute</a:t>
            </a:r>
            <a:r>
              <a:rPr sz="1479" spc="-42" dirty="0">
                <a:solidFill>
                  <a:srgbClr val="101072"/>
                </a:solidFill>
                <a:latin typeface="Lucida Sans Unicode"/>
                <a:cs typeface="Lucida Sans Unicode"/>
              </a:rPr>
              <a:t> </a:t>
            </a:r>
            <a:r>
              <a:rPr sz="1479" spc="-21" dirty="0">
                <a:solidFill>
                  <a:srgbClr val="101072"/>
                </a:solidFill>
                <a:latin typeface="Lucida Sans Unicode"/>
                <a:cs typeface="Lucida Sans Unicode"/>
              </a:rPr>
              <a:t>for</a:t>
            </a:r>
            <a:r>
              <a:rPr sz="1479" spc="-42" dirty="0">
                <a:solidFill>
                  <a:srgbClr val="101072"/>
                </a:solidFill>
                <a:latin typeface="Lucida Sans Unicode"/>
                <a:cs typeface="Lucida Sans Unicode"/>
              </a:rPr>
              <a:t> </a:t>
            </a:r>
            <a:r>
              <a:rPr sz="1479" spc="-21" dirty="0">
                <a:solidFill>
                  <a:srgbClr val="101072"/>
                </a:solidFill>
                <a:latin typeface="Lucida Sans Unicode"/>
                <a:cs typeface="Lucida Sans Unicode"/>
              </a:rPr>
              <a:t>Global</a:t>
            </a:r>
            <a:r>
              <a:rPr sz="1479" spc="-42" dirty="0">
                <a:solidFill>
                  <a:srgbClr val="101072"/>
                </a:solidFill>
                <a:latin typeface="Lucida Sans Unicode"/>
                <a:cs typeface="Lucida Sans Unicode"/>
              </a:rPr>
              <a:t> </a:t>
            </a:r>
            <a:r>
              <a:rPr sz="1479" spc="-21" dirty="0">
                <a:solidFill>
                  <a:srgbClr val="101072"/>
                </a:solidFill>
                <a:latin typeface="Lucida Sans Unicode"/>
                <a:cs typeface="Lucida Sans Unicode"/>
              </a:rPr>
              <a:t>Studies</a:t>
            </a:r>
            <a:endParaRPr sz="1479">
              <a:latin typeface="Lucida Sans Unicode"/>
              <a:cs typeface="Lucida Sans Unicode"/>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a:extLst>
              <a:ext uri="{FF2B5EF4-FFF2-40B4-BE49-F238E27FC236}">
                <a16:creationId xmlns:a16="http://schemas.microsoft.com/office/drawing/2014/main" id="{6A993BC4-9312-9322-81DF-DBC5FE3A77E8}"/>
              </a:ext>
            </a:extLst>
          </p:cNvPr>
          <p:cNvSpPr/>
          <p:nvPr/>
        </p:nvSpPr>
        <p:spPr>
          <a:xfrm>
            <a:off x="8229600" y="0"/>
            <a:ext cx="2908300" cy="638175"/>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Picture Placeholder 57">
            <a:extLst>
              <a:ext uri="{FF2B5EF4-FFF2-40B4-BE49-F238E27FC236}">
                <a16:creationId xmlns:a16="http://schemas.microsoft.com/office/drawing/2014/main" id="{8A3E9244-5405-EF86-18F0-37ED63BCE313}"/>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4388" r="24388"/>
          <a:stretch>
            <a:fillRect/>
          </a:stretch>
        </p:blipFill>
        <p:spPr>
          <a:effectLst>
            <a:outerShdw blurRad="152400" algn="ctr" rotWithShape="0">
              <a:prstClr val="black">
                <a:alpha val="25000"/>
              </a:prstClr>
            </a:outerShdw>
          </a:effectLst>
        </p:spPr>
      </p:pic>
      <p:sp>
        <p:nvSpPr>
          <p:cNvPr id="4" name="Rectangle 3">
            <a:extLst>
              <a:ext uri="{FF2B5EF4-FFF2-40B4-BE49-F238E27FC236}">
                <a16:creationId xmlns:a16="http://schemas.microsoft.com/office/drawing/2014/main" id="{63BFA7BE-F733-F897-B3BB-A3ABE5AFA811}"/>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Rectangle 4">
            <a:extLst>
              <a:ext uri="{FF2B5EF4-FFF2-40B4-BE49-F238E27FC236}">
                <a16:creationId xmlns:a16="http://schemas.microsoft.com/office/drawing/2014/main" id="{8424F126-921F-2959-2D7D-6B39BCC6403D}"/>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10" name="TextBox 9">
            <a:extLst>
              <a:ext uri="{FF2B5EF4-FFF2-40B4-BE49-F238E27FC236}">
                <a16:creationId xmlns:a16="http://schemas.microsoft.com/office/drawing/2014/main" id="{773C836B-FECF-AE91-70D5-85C54CE290CF}"/>
              </a:ext>
            </a:extLst>
          </p:cNvPr>
          <p:cNvSpPr txBox="1"/>
          <p:nvPr/>
        </p:nvSpPr>
        <p:spPr>
          <a:xfrm>
            <a:off x="503580" y="541907"/>
            <a:ext cx="2540505"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AGENDA</a:t>
            </a:r>
          </a:p>
        </p:txBody>
      </p:sp>
      <p:sp>
        <p:nvSpPr>
          <p:cNvPr id="11" name="TextBox 10">
            <a:extLst>
              <a:ext uri="{FF2B5EF4-FFF2-40B4-BE49-F238E27FC236}">
                <a16:creationId xmlns:a16="http://schemas.microsoft.com/office/drawing/2014/main" id="{3DCE8E3E-982F-3D0B-91F5-ACB8175B2390}"/>
              </a:ext>
            </a:extLst>
          </p:cNvPr>
          <p:cNvSpPr txBox="1"/>
          <p:nvPr/>
        </p:nvSpPr>
        <p:spPr>
          <a:xfrm>
            <a:off x="509123" y="246742"/>
            <a:ext cx="1233030" cy="461665"/>
          </a:xfrm>
          <a:prstGeom prst="rect">
            <a:avLst/>
          </a:prstGeom>
          <a:noFill/>
        </p:spPr>
        <p:txBody>
          <a:bodyPr wrap="none" rtlCol="0">
            <a:spAutoFit/>
          </a:bodyPr>
          <a:lstStyle/>
          <a:p>
            <a:r>
              <a:rPr lang="fr-FR" sz="2400" dirty="0">
                <a:latin typeface="Montserrat" pitchFamily="2" charset="0"/>
              </a:rPr>
              <a:t>Admin</a:t>
            </a:r>
          </a:p>
        </p:txBody>
      </p:sp>
      <p:grpSp>
        <p:nvGrpSpPr>
          <p:cNvPr id="42" name="Group 41">
            <a:extLst>
              <a:ext uri="{FF2B5EF4-FFF2-40B4-BE49-F238E27FC236}">
                <a16:creationId xmlns:a16="http://schemas.microsoft.com/office/drawing/2014/main" id="{DE6AB2F9-5A50-D11B-D3ED-C82F7AE2CE70}"/>
              </a:ext>
            </a:extLst>
          </p:cNvPr>
          <p:cNvGrpSpPr/>
          <p:nvPr/>
        </p:nvGrpSpPr>
        <p:grpSpPr>
          <a:xfrm>
            <a:off x="629305" y="1478619"/>
            <a:ext cx="4392654" cy="533230"/>
            <a:chOff x="629305" y="1478619"/>
            <a:chExt cx="4392654" cy="533230"/>
          </a:xfrm>
        </p:grpSpPr>
        <p:sp>
          <p:nvSpPr>
            <p:cNvPr id="13" name="Flowchart: Connector 12">
              <a:extLst>
                <a:ext uri="{FF2B5EF4-FFF2-40B4-BE49-F238E27FC236}">
                  <a16:creationId xmlns:a16="http://schemas.microsoft.com/office/drawing/2014/main" id="{F0D1F12C-2DC7-A7EB-C362-EABB8E9B1FB7}"/>
                </a:ext>
              </a:extLst>
            </p:cNvPr>
            <p:cNvSpPr/>
            <p:nvPr/>
          </p:nvSpPr>
          <p:spPr>
            <a:xfrm>
              <a:off x="629305" y="1478619"/>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55D9F5E8-2110-576F-5FFC-030D69342E1B}"/>
                </a:ext>
              </a:extLst>
            </p:cNvPr>
            <p:cNvSpPr txBox="1"/>
            <p:nvPr/>
          </p:nvSpPr>
          <p:spPr>
            <a:xfrm>
              <a:off x="1371601" y="1539465"/>
              <a:ext cx="3650358" cy="369332"/>
            </a:xfrm>
            <a:prstGeom prst="rect">
              <a:avLst/>
            </a:prstGeom>
            <a:noFill/>
          </p:spPr>
          <p:txBody>
            <a:bodyPr wrap="none" rtlCol="0">
              <a:spAutoFit/>
            </a:bodyPr>
            <a:lstStyle/>
            <a:p>
              <a:r>
                <a:rPr lang="en-US" b="1" dirty="0"/>
                <a:t>What is Data Pre-processing</a:t>
              </a:r>
              <a:endParaRPr lang="en-US" dirty="0"/>
            </a:p>
          </p:txBody>
        </p:sp>
      </p:grpSp>
      <p:grpSp>
        <p:nvGrpSpPr>
          <p:cNvPr id="46" name="Group 45">
            <a:extLst>
              <a:ext uri="{FF2B5EF4-FFF2-40B4-BE49-F238E27FC236}">
                <a16:creationId xmlns:a16="http://schemas.microsoft.com/office/drawing/2014/main" id="{0A8EF5E6-500E-D0E6-013C-3DFA15A2CF71}"/>
              </a:ext>
            </a:extLst>
          </p:cNvPr>
          <p:cNvGrpSpPr/>
          <p:nvPr/>
        </p:nvGrpSpPr>
        <p:grpSpPr>
          <a:xfrm>
            <a:off x="629305" y="4898614"/>
            <a:ext cx="2464242" cy="533230"/>
            <a:chOff x="629305" y="4904623"/>
            <a:chExt cx="2464242" cy="533230"/>
          </a:xfrm>
        </p:grpSpPr>
        <p:sp>
          <p:nvSpPr>
            <p:cNvPr id="27" name="Flowchart: Connector 26">
              <a:extLst>
                <a:ext uri="{FF2B5EF4-FFF2-40B4-BE49-F238E27FC236}">
                  <a16:creationId xmlns:a16="http://schemas.microsoft.com/office/drawing/2014/main" id="{095B92DB-37B5-8BD2-3BE3-B2FF204D5DA1}"/>
                </a:ext>
              </a:extLst>
            </p:cNvPr>
            <p:cNvSpPr/>
            <p:nvPr/>
          </p:nvSpPr>
          <p:spPr>
            <a:xfrm>
              <a:off x="629305" y="4904623"/>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F90BD7FA-FAB7-4A85-800C-34415ECF8BC0}"/>
                </a:ext>
              </a:extLst>
            </p:cNvPr>
            <p:cNvSpPr txBox="1"/>
            <p:nvPr/>
          </p:nvSpPr>
          <p:spPr>
            <a:xfrm>
              <a:off x="1371601" y="4982986"/>
              <a:ext cx="1721946" cy="369332"/>
            </a:xfrm>
            <a:prstGeom prst="rect">
              <a:avLst/>
            </a:prstGeom>
            <a:noFill/>
          </p:spPr>
          <p:txBody>
            <a:bodyPr wrap="none" rtlCol="0">
              <a:spAutoFit/>
            </a:bodyPr>
            <a:lstStyle/>
            <a:p>
              <a:r>
                <a:rPr lang="en-US" b="1" dirty="0"/>
                <a:t>Missing data</a:t>
              </a:r>
              <a:endParaRPr lang="en-US" dirty="0"/>
            </a:p>
          </p:txBody>
        </p:sp>
      </p:grpSp>
      <p:grpSp>
        <p:nvGrpSpPr>
          <p:cNvPr id="43" name="Group 42">
            <a:extLst>
              <a:ext uri="{FF2B5EF4-FFF2-40B4-BE49-F238E27FC236}">
                <a16:creationId xmlns:a16="http://schemas.microsoft.com/office/drawing/2014/main" id="{9F1EB9F1-5688-8266-CAF3-4C501FB064F5}"/>
              </a:ext>
            </a:extLst>
          </p:cNvPr>
          <p:cNvGrpSpPr/>
          <p:nvPr/>
        </p:nvGrpSpPr>
        <p:grpSpPr>
          <a:xfrm>
            <a:off x="629305" y="2331585"/>
            <a:ext cx="4030376" cy="533230"/>
            <a:chOff x="629305" y="2444877"/>
            <a:chExt cx="4030376" cy="533230"/>
          </a:xfrm>
        </p:grpSpPr>
        <p:sp>
          <p:nvSpPr>
            <p:cNvPr id="18" name="Flowchart: Connector 17">
              <a:extLst>
                <a:ext uri="{FF2B5EF4-FFF2-40B4-BE49-F238E27FC236}">
                  <a16:creationId xmlns:a16="http://schemas.microsoft.com/office/drawing/2014/main" id="{5A13399C-F818-86DE-2938-C3CBC845EB26}"/>
                </a:ext>
              </a:extLst>
            </p:cNvPr>
            <p:cNvSpPr/>
            <p:nvPr/>
          </p:nvSpPr>
          <p:spPr>
            <a:xfrm>
              <a:off x="629305" y="2444877"/>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A9F9DEF7-7F73-8246-B142-D251C48E26E2}"/>
                </a:ext>
              </a:extLst>
            </p:cNvPr>
            <p:cNvSpPr txBox="1"/>
            <p:nvPr/>
          </p:nvSpPr>
          <p:spPr>
            <a:xfrm>
              <a:off x="1371601" y="2533916"/>
              <a:ext cx="3288080" cy="369332"/>
            </a:xfrm>
            <a:prstGeom prst="rect">
              <a:avLst/>
            </a:prstGeom>
            <a:noFill/>
          </p:spPr>
          <p:txBody>
            <a:bodyPr wrap="none" rtlCol="0">
              <a:spAutoFit/>
            </a:bodyPr>
            <a:lstStyle/>
            <a:p>
              <a:r>
                <a:rPr lang="en-US" b="1" dirty="0"/>
                <a:t>Why Data Pre-processing</a:t>
              </a:r>
              <a:endParaRPr lang="en-US" dirty="0"/>
            </a:p>
          </p:txBody>
        </p:sp>
      </p:grpSp>
      <p:grpSp>
        <p:nvGrpSpPr>
          <p:cNvPr id="44" name="Group 43">
            <a:extLst>
              <a:ext uri="{FF2B5EF4-FFF2-40B4-BE49-F238E27FC236}">
                <a16:creationId xmlns:a16="http://schemas.microsoft.com/office/drawing/2014/main" id="{822F6864-1F61-2D62-4A3B-A3134719133D}"/>
              </a:ext>
            </a:extLst>
          </p:cNvPr>
          <p:cNvGrpSpPr/>
          <p:nvPr/>
        </p:nvGrpSpPr>
        <p:grpSpPr>
          <a:xfrm>
            <a:off x="629305" y="3206983"/>
            <a:ext cx="1364582" cy="533230"/>
            <a:chOff x="629305" y="3265901"/>
            <a:chExt cx="1364582" cy="533230"/>
          </a:xfrm>
        </p:grpSpPr>
        <p:sp>
          <p:nvSpPr>
            <p:cNvPr id="21" name="Flowchart: Connector 20">
              <a:extLst>
                <a:ext uri="{FF2B5EF4-FFF2-40B4-BE49-F238E27FC236}">
                  <a16:creationId xmlns:a16="http://schemas.microsoft.com/office/drawing/2014/main" id="{069D61D3-AAED-BC33-F229-9C9E9D972D5C}"/>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9C2952D6-BAD0-72EB-EFB2-4FF6DED66C7F}"/>
                </a:ext>
              </a:extLst>
            </p:cNvPr>
            <p:cNvSpPr txBox="1"/>
            <p:nvPr/>
          </p:nvSpPr>
          <p:spPr>
            <a:xfrm>
              <a:off x="1371601" y="3351369"/>
              <a:ext cx="622286" cy="369332"/>
            </a:xfrm>
            <a:prstGeom prst="rect">
              <a:avLst/>
            </a:prstGeom>
            <a:noFill/>
          </p:spPr>
          <p:txBody>
            <a:bodyPr wrap="none" rtlCol="0">
              <a:spAutoFit/>
            </a:bodyPr>
            <a:lstStyle/>
            <a:p>
              <a:r>
                <a:rPr lang="en-US" b="1" dirty="0"/>
                <a:t>ETL</a:t>
              </a:r>
              <a:endParaRPr lang="en-US" dirty="0"/>
            </a:p>
          </p:txBody>
        </p:sp>
      </p:grpSp>
      <p:grpSp>
        <p:nvGrpSpPr>
          <p:cNvPr id="45" name="Group 44">
            <a:extLst>
              <a:ext uri="{FF2B5EF4-FFF2-40B4-BE49-F238E27FC236}">
                <a16:creationId xmlns:a16="http://schemas.microsoft.com/office/drawing/2014/main" id="{21BCA618-92B9-65AF-79DA-14AD4DEAAFC4}"/>
              </a:ext>
            </a:extLst>
          </p:cNvPr>
          <p:cNvGrpSpPr/>
          <p:nvPr/>
        </p:nvGrpSpPr>
        <p:grpSpPr>
          <a:xfrm>
            <a:off x="629305" y="4060092"/>
            <a:ext cx="3658479" cy="533230"/>
            <a:chOff x="629305" y="4090812"/>
            <a:chExt cx="3658479" cy="533230"/>
          </a:xfrm>
        </p:grpSpPr>
        <p:sp>
          <p:nvSpPr>
            <p:cNvPr id="24" name="Flowchart: Connector 23">
              <a:extLst>
                <a:ext uri="{FF2B5EF4-FFF2-40B4-BE49-F238E27FC236}">
                  <a16:creationId xmlns:a16="http://schemas.microsoft.com/office/drawing/2014/main" id="{0C7DC16D-5963-ED28-0061-41F7540DB1F8}"/>
                </a:ext>
              </a:extLst>
            </p:cNvPr>
            <p:cNvSpPr/>
            <p:nvPr/>
          </p:nvSpPr>
          <p:spPr>
            <a:xfrm>
              <a:off x="629305" y="4090812"/>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E8EDC98C-79CE-FA02-3717-3D74289B0D52}"/>
                </a:ext>
              </a:extLst>
            </p:cNvPr>
            <p:cNvSpPr txBox="1"/>
            <p:nvPr/>
          </p:nvSpPr>
          <p:spPr>
            <a:xfrm>
              <a:off x="1371601" y="4183097"/>
              <a:ext cx="2916183" cy="369332"/>
            </a:xfrm>
            <a:prstGeom prst="rect">
              <a:avLst/>
            </a:prstGeom>
            <a:noFill/>
          </p:spPr>
          <p:txBody>
            <a:bodyPr wrap="none" rtlCol="0">
              <a:spAutoFit/>
            </a:bodyPr>
            <a:lstStyle/>
            <a:p>
              <a:r>
                <a:rPr lang="en-US" b="1" dirty="0"/>
                <a:t>Data Cleaning Process</a:t>
              </a:r>
              <a:endParaRPr lang="en-US" dirty="0"/>
            </a:p>
          </p:txBody>
        </p:sp>
      </p:grpSp>
      <p:grpSp>
        <p:nvGrpSpPr>
          <p:cNvPr id="47" name="Group 46">
            <a:extLst>
              <a:ext uri="{FF2B5EF4-FFF2-40B4-BE49-F238E27FC236}">
                <a16:creationId xmlns:a16="http://schemas.microsoft.com/office/drawing/2014/main" id="{C5E02E80-B2FB-996C-1014-CFA5BD2BDD01}"/>
              </a:ext>
            </a:extLst>
          </p:cNvPr>
          <p:cNvGrpSpPr/>
          <p:nvPr/>
        </p:nvGrpSpPr>
        <p:grpSpPr>
          <a:xfrm>
            <a:off x="629305" y="5717370"/>
            <a:ext cx="1561751" cy="533230"/>
            <a:chOff x="629305" y="5717370"/>
            <a:chExt cx="1561751" cy="533230"/>
          </a:xfrm>
        </p:grpSpPr>
        <p:sp>
          <p:nvSpPr>
            <p:cNvPr id="30" name="Flowchart: Connector 29">
              <a:extLst>
                <a:ext uri="{FF2B5EF4-FFF2-40B4-BE49-F238E27FC236}">
                  <a16:creationId xmlns:a16="http://schemas.microsoft.com/office/drawing/2014/main" id="{F605323E-F934-D55A-A3EA-B585EF493197}"/>
                </a:ext>
              </a:extLst>
            </p:cNvPr>
            <p:cNvSpPr/>
            <p:nvPr/>
          </p:nvSpPr>
          <p:spPr>
            <a:xfrm>
              <a:off x="629305" y="5717370"/>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21D7CA45-BC7B-750F-3BC9-51A9AE2CBFB1}"/>
                </a:ext>
              </a:extLst>
            </p:cNvPr>
            <p:cNvSpPr txBox="1"/>
            <p:nvPr/>
          </p:nvSpPr>
          <p:spPr>
            <a:xfrm>
              <a:off x="1371601" y="5774654"/>
              <a:ext cx="819455" cy="369332"/>
            </a:xfrm>
            <a:prstGeom prst="rect">
              <a:avLst/>
            </a:prstGeom>
            <a:noFill/>
          </p:spPr>
          <p:txBody>
            <a:bodyPr wrap="none" rtlCol="0">
              <a:spAutoFit/>
            </a:bodyPr>
            <a:lstStyle/>
            <a:p>
              <a:r>
                <a:rPr lang="en-US" b="1" dirty="0"/>
                <a:t>Tools</a:t>
              </a:r>
              <a:endParaRPr lang="en-US" dirty="0"/>
            </a:p>
          </p:txBody>
        </p:sp>
      </p:grpSp>
      <p:sp>
        <p:nvSpPr>
          <p:cNvPr id="48" name="TextBox 47">
            <a:extLst>
              <a:ext uri="{FF2B5EF4-FFF2-40B4-BE49-F238E27FC236}">
                <a16:creationId xmlns:a16="http://schemas.microsoft.com/office/drawing/2014/main" id="{4265080D-D1E6-4801-FCC2-5932FA728F61}"/>
              </a:ext>
            </a:extLst>
          </p:cNvPr>
          <p:cNvSpPr txBox="1"/>
          <p:nvPr/>
        </p:nvSpPr>
        <p:spPr>
          <a:xfrm>
            <a:off x="680156" y="1570243"/>
            <a:ext cx="404278" cy="338554"/>
          </a:xfrm>
          <a:prstGeom prst="rect">
            <a:avLst/>
          </a:prstGeom>
          <a:noFill/>
        </p:spPr>
        <p:txBody>
          <a:bodyPr wrap="none" rtlCol="0">
            <a:spAutoFit/>
          </a:bodyPr>
          <a:lstStyle/>
          <a:p>
            <a:r>
              <a:rPr lang="en-US" sz="1600" b="1" dirty="0"/>
              <a:t>01</a:t>
            </a:r>
          </a:p>
        </p:txBody>
      </p:sp>
      <p:sp>
        <p:nvSpPr>
          <p:cNvPr id="49" name="TextBox 48">
            <a:extLst>
              <a:ext uri="{FF2B5EF4-FFF2-40B4-BE49-F238E27FC236}">
                <a16:creationId xmlns:a16="http://schemas.microsoft.com/office/drawing/2014/main" id="{B5B1028F-9C60-06B1-4283-7EE7CEBE91C3}"/>
              </a:ext>
            </a:extLst>
          </p:cNvPr>
          <p:cNvSpPr txBox="1"/>
          <p:nvPr/>
        </p:nvSpPr>
        <p:spPr>
          <a:xfrm>
            <a:off x="670630" y="2430254"/>
            <a:ext cx="445956" cy="338554"/>
          </a:xfrm>
          <a:prstGeom prst="rect">
            <a:avLst/>
          </a:prstGeom>
          <a:noFill/>
        </p:spPr>
        <p:txBody>
          <a:bodyPr wrap="none" rtlCol="0">
            <a:spAutoFit/>
          </a:bodyPr>
          <a:lstStyle/>
          <a:p>
            <a:r>
              <a:rPr lang="en-US" sz="1600" b="1" dirty="0"/>
              <a:t>02</a:t>
            </a:r>
          </a:p>
        </p:txBody>
      </p:sp>
      <p:sp>
        <p:nvSpPr>
          <p:cNvPr id="50" name="TextBox 49">
            <a:extLst>
              <a:ext uri="{FF2B5EF4-FFF2-40B4-BE49-F238E27FC236}">
                <a16:creationId xmlns:a16="http://schemas.microsoft.com/office/drawing/2014/main" id="{3D74488A-DC1F-3E49-3E1B-E97D54F024D0}"/>
              </a:ext>
            </a:extLst>
          </p:cNvPr>
          <p:cNvSpPr txBox="1"/>
          <p:nvPr/>
        </p:nvSpPr>
        <p:spPr>
          <a:xfrm>
            <a:off x="670632" y="3303944"/>
            <a:ext cx="445956" cy="338554"/>
          </a:xfrm>
          <a:prstGeom prst="rect">
            <a:avLst/>
          </a:prstGeom>
          <a:noFill/>
        </p:spPr>
        <p:txBody>
          <a:bodyPr wrap="none" rtlCol="0">
            <a:spAutoFit/>
          </a:bodyPr>
          <a:lstStyle/>
          <a:p>
            <a:r>
              <a:rPr lang="en-US" sz="1600" b="1" dirty="0"/>
              <a:t>03</a:t>
            </a:r>
          </a:p>
        </p:txBody>
      </p:sp>
      <p:sp>
        <p:nvSpPr>
          <p:cNvPr id="51" name="TextBox 50">
            <a:extLst>
              <a:ext uri="{FF2B5EF4-FFF2-40B4-BE49-F238E27FC236}">
                <a16:creationId xmlns:a16="http://schemas.microsoft.com/office/drawing/2014/main" id="{418D43E7-A775-17FE-C778-CC9F064394AF}"/>
              </a:ext>
            </a:extLst>
          </p:cNvPr>
          <p:cNvSpPr txBox="1"/>
          <p:nvPr/>
        </p:nvSpPr>
        <p:spPr>
          <a:xfrm>
            <a:off x="665867" y="4155113"/>
            <a:ext cx="465192" cy="338554"/>
          </a:xfrm>
          <a:prstGeom prst="rect">
            <a:avLst/>
          </a:prstGeom>
          <a:noFill/>
        </p:spPr>
        <p:txBody>
          <a:bodyPr wrap="none" rtlCol="0">
            <a:spAutoFit/>
          </a:bodyPr>
          <a:lstStyle/>
          <a:p>
            <a:r>
              <a:rPr lang="en-US" sz="1600" b="1" dirty="0"/>
              <a:t>04</a:t>
            </a:r>
          </a:p>
        </p:txBody>
      </p:sp>
      <p:sp>
        <p:nvSpPr>
          <p:cNvPr id="52" name="TextBox 51">
            <a:extLst>
              <a:ext uri="{FF2B5EF4-FFF2-40B4-BE49-F238E27FC236}">
                <a16:creationId xmlns:a16="http://schemas.microsoft.com/office/drawing/2014/main" id="{1B9B8ED0-D0A2-251F-2BF2-6136BF64AE3E}"/>
              </a:ext>
            </a:extLst>
          </p:cNvPr>
          <p:cNvSpPr txBox="1"/>
          <p:nvPr/>
        </p:nvSpPr>
        <p:spPr>
          <a:xfrm>
            <a:off x="675393" y="4999294"/>
            <a:ext cx="445956" cy="338554"/>
          </a:xfrm>
          <a:prstGeom prst="rect">
            <a:avLst/>
          </a:prstGeom>
          <a:noFill/>
        </p:spPr>
        <p:txBody>
          <a:bodyPr wrap="none" rtlCol="0">
            <a:spAutoFit/>
          </a:bodyPr>
          <a:lstStyle/>
          <a:p>
            <a:r>
              <a:rPr lang="en-US" sz="1600" b="1" dirty="0"/>
              <a:t>05</a:t>
            </a:r>
          </a:p>
        </p:txBody>
      </p:sp>
      <p:sp>
        <p:nvSpPr>
          <p:cNvPr id="53" name="TextBox 52">
            <a:extLst>
              <a:ext uri="{FF2B5EF4-FFF2-40B4-BE49-F238E27FC236}">
                <a16:creationId xmlns:a16="http://schemas.microsoft.com/office/drawing/2014/main" id="{9E906CC2-0EF9-FA88-11E4-994032DDD7BE}"/>
              </a:ext>
            </a:extLst>
          </p:cNvPr>
          <p:cNvSpPr txBox="1"/>
          <p:nvPr/>
        </p:nvSpPr>
        <p:spPr>
          <a:xfrm>
            <a:off x="661104" y="5805432"/>
            <a:ext cx="455574" cy="338554"/>
          </a:xfrm>
          <a:prstGeom prst="rect">
            <a:avLst/>
          </a:prstGeom>
          <a:noFill/>
        </p:spPr>
        <p:txBody>
          <a:bodyPr wrap="none" rtlCol="0">
            <a:spAutoFit/>
          </a:bodyPr>
          <a:lstStyle/>
          <a:p>
            <a:r>
              <a:rPr lang="en-US" sz="1600" b="1" dirty="0"/>
              <a:t>06</a:t>
            </a:r>
          </a:p>
        </p:txBody>
      </p:sp>
    </p:spTree>
    <p:extLst>
      <p:ext uri="{BB962C8B-B14F-4D97-AF65-F5344CB8AC3E}">
        <p14:creationId xmlns:p14="http://schemas.microsoft.com/office/powerpoint/2010/main" val="548971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8DA74-7EEF-E9E6-EC71-9D6CD6CD47C9}"/>
            </a:ext>
          </a:extLst>
        </p:cNvPr>
        <p:cNvGrpSpPr/>
        <p:nvPr/>
      </p:nvGrpSpPr>
      <p:grpSpPr>
        <a:xfrm>
          <a:off x="0" y="0"/>
          <a:ext cx="0" cy="0"/>
          <a:chOff x="0" y="0"/>
          <a:chExt cx="0" cy="0"/>
        </a:xfrm>
      </p:grpSpPr>
      <p:sp>
        <p:nvSpPr>
          <p:cNvPr id="59" name="Rectangle 58">
            <a:extLst>
              <a:ext uri="{FF2B5EF4-FFF2-40B4-BE49-F238E27FC236}">
                <a16:creationId xmlns:a16="http://schemas.microsoft.com/office/drawing/2014/main" id="{8377B588-635B-A3DF-8838-20789E83109D}"/>
              </a:ext>
            </a:extLst>
          </p:cNvPr>
          <p:cNvSpPr/>
          <p:nvPr/>
        </p:nvSpPr>
        <p:spPr>
          <a:xfrm>
            <a:off x="8229600" y="0"/>
            <a:ext cx="2908300" cy="638175"/>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92F402C-DA71-0EDC-AC20-618CD7640D50}"/>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Rectangle 4">
            <a:extLst>
              <a:ext uri="{FF2B5EF4-FFF2-40B4-BE49-F238E27FC236}">
                <a16:creationId xmlns:a16="http://schemas.microsoft.com/office/drawing/2014/main" id="{2B0FA882-B11B-9B90-73C7-EA950B4FCEC5}"/>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10" name="TextBox 9">
            <a:extLst>
              <a:ext uri="{FF2B5EF4-FFF2-40B4-BE49-F238E27FC236}">
                <a16:creationId xmlns:a16="http://schemas.microsoft.com/office/drawing/2014/main" id="{50EF9673-668C-F48F-2A86-AA1F1336FBF7}"/>
              </a:ext>
            </a:extLst>
          </p:cNvPr>
          <p:cNvSpPr txBox="1"/>
          <p:nvPr/>
        </p:nvSpPr>
        <p:spPr>
          <a:xfrm>
            <a:off x="503580" y="541907"/>
            <a:ext cx="7666912"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WHAT IS DATA PREPROCESSING</a:t>
            </a:r>
          </a:p>
        </p:txBody>
      </p:sp>
      <p:sp>
        <p:nvSpPr>
          <p:cNvPr id="11" name="TextBox 10">
            <a:extLst>
              <a:ext uri="{FF2B5EF4-FFF2-40B4-BE49-F238E27FC236}">
                <a16:creationId xmlns:a16="http://schemas.microsoft.com/office/drawing/2014/main" id="{2161E03E-0536-184E-D0E9-EF0F5512AF81}"/>
              </a:ext>
            </a:extLst>
          </p:cNvPr>
          <p:cNvSpPr txBox="1"/>
          <p:nvPr/>
        </p:nvSpPr>
        <p:spPr>
          <a:xfrm>
            <a:off x="509123" y="246742"/>
            <a:ext cx="2124299" cy="461665"/>
          </a:xfrm>
          <a:prstGeom prst="rect">
            <a:avLst/>
          </a:prstGeom>
          <a:noFill/>
        </p:spPr>
        <p:txBody>
          <a:bodyPr wrap="none" rtlCol="0">
            <a:spAutoFit/>
          </a:bodyPr>
          <a:lstStyle/>
          <a:p>
            <a:r>
              <a:rPr lang="fr-FR" sz="2400" dirty="0">
                <a:latin typeface="Montserrat" pitchFamily="2" charset="0"/>
              </a:rPr>
              <a:t>Introduction</a:t>
            </a:r>
          </a:p>
        </p:txBody>
      </p:sp>
      <p:grpSp>
        <p:nvGrpSpPr>
          <p:cNvPr id="42" name="Group 41">
            <a:extLst>
              <a:ext uri="{FF2B5EF4-FFF2-40B4-BE49-F238E27FC236}">
                <a16:creationId xmlns:a16="http://schemas.microsoft.com/office/drawing/2014/main" id="{1EBA6CB2-F32D-A841-9DCA-C238C914F62A}"/>
              </a:ext>
            </a:extLst>
          </p:cNvPr>
          <p:cNvGrpSpPr/>
          <p:nvPr/>
        </p:nvGrpSpPr>
        <p:grpSpPr>
          <a:xfrm>
            <a:off x="629305" y="1478619"/>
            <a:ext cx="3464516" cy="533230"/>
            <a:chOff x="629305" y="1478619"/>
            <a:chExt cx="3464516" cy="533230"/>
          </a:xfrm>
        </p:grpSpPr>
        <p:sp>
          <p:nvSpPr>
            <p:cNvPr id="13" name="Flowchart: Connector 12">
              <a:extLst>
                <a:ext uri="{FF2B5EF4-FFF2-40B4-BE49-F238E27FC236}">
                  <a16:creationId xmlns:a16="http://schemas.microsoft.com/office/drawing/2014/main" id="{690E9A44-AED0-F991-09BB-DA7306FCF8C9}"/>
                </a:ext>
              </a:extLst>
            </p:cNvPr>
            <p:cNvSpPr/>
            <p:nvPr/>
          </p:nvSpPr>
          <p:spPr>
            <a:xfrm>
              <a:off x="629305" y="1478619"/>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B147575F-DB32-7899-714F-FE4AAC699553}"/>
                </a:ext>
              </a:extLst>
            </p:cNvPr>
            <p:cNvSpPr txBox="1"/>
            <p:nvPr/>
          </p:nvSpPr>
          <p:spPr>
            <a:xfrm>
              <a:off x="1371601" y="1539465"/>
              <a:ext cx="2722220" cy="369332"/>
            </a:xfrm>
            <a:prstGeom prst="rect">
              <a:avLst/>
            </a:prstGeom>
            <a:noFill/>
          </p:spPr>
          <p:txBody>
            <a:bodyPr wrap="none" rtlCol="0">
              <a:spAutoFit/>
            </a:bodyPr>
            <a:lstStyle/>
            <a:p>
              <a:r>
                <a:rPr lang="en-US" b="1" dirty="0"/>
                <a:t>A step in the process</a:t>
              </a:r>
              <a:endParaRPr lang="en-US" dirty="0"/>
            </a:p>
          </p:txBody>
        </p:sp>
      </p:grpSp>
      <p:grpSp>
        <p:nvGrpSpPr>
          <p:cNvPr id="43" name="Group 42">
            <a:extLst>
              <a:ext uri="{FF2B5EF4-FFF2-40B4-BE49-F238E27FC236}">
                <a16:creationId xmlns:a16="http://schemas.microsoft.com/office/drawing/2014/main" id="{D33ED948-C7E3-0935-A6EF-6774A833690C}"/>
              </a:ext>
            </a:extLst>
          </p:cNvPr>
          <p:cNvGrpSpPr/>
          <p:nvPr/>
        </p:nvGrpSpPr>
        <p:grpSpPr>
          <a:xfrm>
            <a:off x="629305" y="2331585"/>
            <a:ext cx="3091016" cy="533230"/>
            <a:chOff x="629305" y="2444877"/>
            <a:chExt cx="3091016" cy="533230"/>
          </a:xfrm>
        </p:grpSpPr>
        <p:sp>
          <p:nvSpPr>
            <p:cNvPr id="18" name="Flowchart: Connector 17">
              <a:extLst>
                <a:ext uri="{FF2B5EF4-FFF2-40B4-BE49-F238E27FC236}">
                  <a16:creationId xmlns:a16="http://schemas.microsoft.com/office/drawing/2014/main" id="{E3B72265-786F-E0CC-3731-9A9494FC032D}"/>
                </a:ext>
              </a:extLst>
            </p:cNvPr>
            <p:cNvSpPr/>
            <p:nvPr/>
          </p:nvSpPr>
          <p:spPr>
            <a:xfrm>
              <a:off x="629305" y="2444877"/>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CCEEA4F4-BFB8-48D7-72B2-9A632CF02C70}"/>
                </a:ext>
              </a:extLst>
            </p:cNvPr>
            <p:cNvSpPr txBox="1"/>
            <p:nvPr/>
          </p:nvSpPr>
          <p:spPr>
            <a:xfrm>
              <a:off x="1371601" y="2533916"/>
              <a:ext cx="2348720" cy="369332"/>
            </a:xfrm>
            <a:prstGeom prst="rect">
              <a:avLst/>
            </a:prstGeom>
            <a:noFill/>
          </p:spPr>
          <p:txBody>
            <a:bodyPr wrap="none" rtlCol="0">
              <a:spAutoFit/>
            </a:bodyPr>
            <a:lstStyle/>
            <a:p>
              <a:r>
                <a:rPr lang="en-US" b="1" dirty="0"/>
                <a:t>Cleaning the data</a:t>
              </a:r>
              <a:endParaRPr lang="en-US" dirty="0"/>
            </a:p>
          </p:txBody>
        </p:sp>
      </p:grpSp>
      <p:grpSp>
        <p:nvGrpSpPr>
          <p:cNvPr id="44" name="Group 43">
            <a:extLst>
              <a:ext uri="{FF2B5EF4-FFF2-40B4-BE49-F238E27FC236}">
                <a16:creationId xmlns:a16="http://schemas.microsoft.com/office/drawing/2014/main" id="{967BD94A-2FDA-523A-BA95-110C253D00E5}"/>
              </a:ext>
            </a:extLst>
          </p:cNvPr>
          <p:cNvGrpSpPr/>
          <p:nvPr/>
        </p:nvGrpSpPr>
        <p:grpSpPr>
          <a:xfrm>
            <a:off x="629305" y="3206983"/>
            <a:ext cx="3318642" cy="533230"/>
            <a:chOff x="629305" y="3265901"/>
            <a:chExt cx="3318642" cy="533230"/>
          </a:xfrm>
        </p:grpSpPr>
        <p:sp>
          <p:nvSpPr>
            <p:cNvPr id="21" name="Flowchart: Connector 20">
              <a:extLst>
                <a:ext uri="{FF2B5EF4-FFF2-40B4-BE49-F238E27FC236}">
                  <a16:creationId xmlns:a16="http://schemas.microsoft.com/office/drawing/2014/main" id="{C4090BF5-E111-5625-1FA9-F148EDB42986}"/>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5BD0FC42-8505-3F63-A04D-B28908831362}"/>
                </a:ext>
              </a:extLst>
            </p:cNvPr>
            <p:cNvSpPr txBox="1"/>
            <p:nvPr/>
          </p:nvSpPr>
          <p:spPr>
            <a:xfrm>
              <a:off x="1371601" y="3351369"/>
              <a:ext cx="2576346" cy="369332"/>
            </a:xfrm>
            <a:prstGeom prst="rect">
              <a:avLst/>
            </a:prstGeom>
            <a:noFill/>
          </p:spPr>
          <p:txBody>
            <a:bodyPr wrap="none" rtlCol="0">
              <a:spAutoFit/>
            </a:bodyPr>
            <a:lstStyle/>
            <a:p>
              <a:r>
                <a:rPr lang="en-US" b="1" dirty="0"/>
                <a:t>Aligning the format</a:t>
              </a:r>
              <a:endParaRPr lang="en-US" dirty="0"/>
            </a:p>
          </p:txBody>
        </p:sp>
      </p:grpSp>
      <p:sp>
        <p:nvSpPr>
          <p:cNvPr id="48" name="TextBox 47">
            <a:extLst>
              <a:ext uri="{FF2B5EF4-FFF2-40B4-BE49-F238E27FC236}">
                <a16:creationId xmlns:a16="http://schemas.microsoft.com/office/drawing/2014/main" id="{8EB1A355-D69D-79FA-1126-699AE5FAF893}"/>
              </a:ext>
            </a:extLst>
          </p:cNvPr>
          <p:cNvSpPr txBox="1"/>
          <p:nvPr/>
        </p:nvSpPr>
        <p:spPr>
          <a:xfrm>
            <a:off x="680156" y="1570243"/>
            <a:ext cx="404278" cy="338554"/>
          </a:xfrm>
          <a:prstGeom prst="rect">
            <a:avLst/>
          </a:prstGeom>
          <a:noFill/>
        </p:spPr>
        <p:txBody>
          <a:bodyPr wrap="none" rtlCol="0">
            <a:spAutoFit/>
          </a:bodyPr>
          <a:lstStyle/>
          <a:p>
            <a:r>
              <a:rPr lang="en-US" sz="1600" b="1" dirty="0"/>
              <a:t>01</a:t>
            </a:r>
          </a:p>
        </p:txBody>
      </p:sp>
      <p:sp>
        <p:nvSpPr>
          <p:cNvPr id="49" name="TextBox 48">
            <a:extLst>
              <a:ext uri="{FF2B5EF4-FFF2-40B4-BE49-F238E27FC236}">
                <a16:creationId xmlns:a16="http://schemas.microsoft.com/office/drawing/2014/main" id="{CAC7CB4A-FE0E-8416-2CB8-D6F2E5BB9C8E}"/>
              </a:ext>
            </a:extLst>
          </p:cNvPr>
          <p:cNvSpPr txBox="1"/>
          <p:nvPr/>
        </p:nvSpPr>
        <p:spPr>
          <a:xfrm>
            <a:off x="670630" y="2430254"/>
            <a:ext cx="445956" cy="338554"/>
          </a:xfrm>
          <a:prstGeom prst="rect">
            <a:avLst/>
          </a:prstGeom>
          <a:noFill/>
        </p:spPr>
        <p:txBody>
          <a:bodyPr wrap="none" rtlCol="0">
            <a:spAutoFit/>
          </a:bodyPr>
          <a:lstStyle/>
          <a:p>
            <a:r>
              <a:rPr lang="en-US" sz="1600" b="1" dirty="0"/>
              <a:t>02</a:t>
            </a:r>
          </a:p>
        </p:txBody>
      </p:sp>
      <p:sp>
        <p:nvSpPr>
          <p:cNvPr id="50" name="TextBox 49">
            <a:extLst>
              <a:ext uri="{FF2B5EF4-FFF2-40B4-BE49-F238E27FC236}">
                <a16:creationId xmlns:a16="http://schemas.microsoft.com/office/drawing/2014/main" id="{64F9211D-C730-F60D-B551-B76A74367EBA}"/>
              </a:ext>
            </a:extLst>
          </p:cNvPr>
          <p:cNvSpPr txBox="1"/>
          <p:nvPr/>
        </p:nvSpPr>
        <p:spPr>
          <a:xfrm>
            <a:off x="670632" y="3303944"/>
            <a:ext cx="445956" cy="338554"/>
          </a:xfrm>
          <a:prstGeom prst="rect">
            <a:avLst/>
          </a:prstGeom>
          <a:noFill/>
        </p:spPr>
        <p:txBody>
          <a:bodyPr wrap="none" rtlCol="0">
            <a:spAutoFit/>
          </a:bodyPr>
          <a:lstStyle/>
          <a:p>
            <a:r>
              <a:rPr lang="en-US" sz="1600" b="1" dirty="0"/>
              <a:t>03</a:t>
            </a:r>
          </a:p>
        </p:txBody>
      </p:sp>
      <p:grpSp>
        <p:nvGrpSpPr>
          <p:cNvPr id="2" name="Group 1">
            <a:extLst>
              <a:ext uri="{FF2B5EF4-FFF2-40B4-BE49-F238E27FC236}">
                <a16:creationId xmlns:a16="http://schemas.microsoft.com/office/drawing/2014/main" id="{7293A386-20E3-B201-04B2-633B94E595DF}"/>
              </a:ext>
            </a:extLst>
          </p:cNvPr>
          <p:cNvGrpSpPr/>
          <p:nvPr/>
        </p:nvGrpSpPr>
        <p:grpSpPr>
          <a:xfrm>
            <a:off x="629305" y="4119800"/>
            <a:ext cx="4052818" cy="533230"/>
            <a:chOff x="629305" y="3265901"/>
            <a:chExt cx="4052818" cy="533230"/>
          </a:xfrm>
        </p:grpSpPr>
        <p:sp>
          <p:nvSpPr>
            <p:cNvPr id="3" name="Flowchart: Connector 2">
              <a:extLst>
                <a:ext uri="{FF2B5EF4-FFF2-40B4-BE49-F238E27FC236}">
                  <a16:creationId xmlns:a16="http://schemas.microsoft.com/office/drawing/2014/main" id="{A8487F64-A8A9-30A5-1543-F1B0F6C09E5F}"/>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92B57D7A-95AE-7C1E-625C-5255F0C27634}"/>
                </a:ext>
              </a:extLst>
            </p:cNvPr>
            <p:cNvSpPr txBox="1"/>
            <p:nvPr/>
          </p:nvSpPr>
          <p:spPr>
            <a:xfrm>
              <a:off x="1371601" y="3351369"/>
              <a:ext cx="3310522" cy="369332"/>
            </a:xfrm>
            <a:prstGeom prst="rect">
              <a:avLst/>
            </a:prstGeom>
            <a:noFill/>
          </p:spPr>
          <p:txBody>
            <a:bodyPr wrap="none" rtlCol="0">
              <a:spAutoFit/>
            </a:bodyPr>
            <a:lstStyle/>
            <a:p>
              <a:r>
                <a:rPr lang="en-US" b="1" dirty="0"/>
                <a:t>So that it can be </a:t>
              </a:r>
              <a:r>
                <a:rPr lang="en-US" b="1" dirty="0" err="1"/>
                <a:t>analysed</a:t>
              </a:r>
              <a:endParaRPr lang="en-US" dirty="0"/>
            </a:p>
          </p:txBody>
        </p:sp>
      </p:grpSp>
      <p:sp>
        <p:nvSpPr>
          <p:cNvPr id="15" name="TextBox 14">
            <a:extLst>
              <a:ext uri="{FF2B5EF4-FFF2-40B4-BE49-F238E27FC236}">
                <a16:creationId xmlns:a16="http://schemas.microsoft.com/office/drawing/2014/main" id="{B669D542-806B-4ACB-18F4-C9DF552B2D6D}"/>
              </a:ext>
            </a:extLst>
          </p:cNvPr>
          <p:cNvSpPr txBox="1"/>
          <p:nvPr/>
        </p:nvSpPr>
        <p:spPr>
          <a:xfrm>
            <a:off x="670632" y="4216761"/>
            <a:ext cx="465192" cy="338554"/>
          </a:xfrm>
          <a:prstGeom prst="rect">
            <a:avLst/>
          </a:prstGeom>
          <a:noFill/>
        </p:spPr>
        <p:txBody>
          <a:bodyPr wrap="none" rtlCol="0">
            <a:spAutoFit/>
          </a:bodyPr>
          <a:lstStyle/>
          <a:p>
            <a:r>
              <a:rPr lang="en-US" sz="1600" b="1" dirty="0"/>
              <a:t>04</a:t>
            </a:r>
          </a:p>
        </p:txBody>
      </p:sp>
      <p:sp>
        <p:nvSpPr>
          <p:cNvPr id="24" name="TextBox 23">
            <a:extLst>
              <a:ext uri="{FF2B5EF4-FFF2-40B4-BE49-F238E27FC236}">
                <a16:creationId xmlns:a16="http://schemas.microsoft.com/office/drawing/2014/main" id="{EDEC849E-A166-CAE2-94E3-5664ED0D11D3}"/>
              </a:ext>
            </a:extLst>
          </p:cNvPr>
          <p:cNvSpPr txBox="1"/>
          <p:nvPr/>
        </p:nvSpPr>
        <p:spPr>
          <a:xfrm>
            <a:off x="5786725" y="1524342"/>
            <a:ext cx="5351175" cy="3970318"/>
          </a:xfrm>
          <a:prstGeom prst="rect">
            <a:avLst/>
          </a:prstGeom>
          <a:noFill/>
        </p:spPr>
        <p:txBody>
          <a:bodyPr wrap="square">
            <a:spAutoFit/>
          </a:bodyPr>
          <a:lstStyle/>
          <a:p>
            <a:pPr>
              <a:buNone/>
            </a:pPr>
            <a:r>
              <a:rPr lang="en-US" b="1" dirty="0"/>
              <a:t>What is Data Preprocessing</a:t>
            </a:r>
          </a:p>
          <a:p>
            <a:pPr>
              <a:buNone/>
            </a:pPr>
            <a:endParaRPr lang="en-US" dirty="0"/>
          </a:p>
          <a:p>
            <a:pPr>
              <a:buNone/>
            </a:pPr>
            <a:r>
              <a:rPr lang="en-US" dirty="0"/>
              <a:t>Real-world datasets are generally messy, raw, incomplete, inconsistent, and unusable. It can contain manual entry errors, missing values, inconsistent schema, etc. Data Preprocessing is the process of converting raw data into a format that is understandable and usable. It is a crucial step in any Data Science project to carry out an efficient and accurate analysis. It ensures that data quality is consistent before applying any Machine Learning or Data Mining techniques.</a:t>
            </a:r>
          </a:p>
        </p:txBody>
      </p:sp>
    </p:spTree>
    <p:extLst>
      <p:ext uri="{BB962C8B-B14F-4D97-AF65-F5344CB8AC3E}">
        <p14:creationId xmlns:p14="http://schemas.microsoft.com/office/powerpoint/2010/main" val="498041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0916F-EEC7-D61B-BA03-81D28D0E80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393E28C-E72F-D9ED-120B-FA28C7E33E60}"/>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Rectangle 4">
            <a:extLst>
              <a:ext uri="{FF2B5EF4-FFF2-40B4-BE49-F238E27FC236}">
                <a16:creationId xmlns:a16="http://schemas.microsoft.com/office/drawing/2014/main" id="{2F64169D-39ED-344F-33AC-3BA4E1872C24}"/>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10" name="TextBox 9">
            <a:extLst>
              <a:ext uri="{FF2B5EF4-FFF2-40B4-BE49-F238E27FC236}">
                <a16:creationId xmlns:a16="http://schemas.microsoft.com/office/drawing/2014/main" id="{1BF346D4-51F6-928B-8D35-EABD529E5317}"/>
              </a:ext>
            </a:extLst>
          </p:cNvPr>
          <p:cNvSpPr txBox="1"/>
          <p:nvPr/>
        </p:nvSpPr>
        <p:spPr>
          <a:xfrm>
            <a:off x="503580" y="541907"/>
            <a:ext cx="7666912"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IMPORTANCE</a:t>
            </a:r>
          </a:p>
        </p:txBody>
      </p:sp>
      <p:sp>
        <p:nvSpPr>
          <p:cNvPr id="11" name="TextBox 10">
            <a:extLst>
              <a:ext uri="{FF2B5EF4-FFF2-40B4-BE49-F238E27FC236}">
                <a16:creationId xmlns:a16="http://schemas.microsoft.com/office/drawing/2014/main" id="{E0EFB3DF-3F96-A33D-2244-585396FA0611}"/>
              </a:ext>
            </a:extLst>
          </p:cNvPr>
          <p:cNvSpPr txBox="1"/>
          <p:nvPr/>
        </p:nvSpPr>
        <p:spPr>
          <a:xfrm>
            <a:off x="509123" y="246742"/>
            <a:ext cx="2124299" cy="461665"/>
          </a:xfrm>
          <a:prstGeom prst="rect">
            <a:avLst/>
          </a:prstGeom>
          <a:noFill/>
        </p:spPr>
        <p:txBody>
          <a:bodyPr wrap="none" rtlCol="0">
            <a:spAutoFit/>
          </a:bodyPr>
          <a:lstStyle/>
          <a:p>
            <a:r>
              <a:rPr lang="fr-FR" sz="2400" dirty="0">
                <a:latin typeface="Montserrat" pitchFamily="2" charset="0"/>
              </a:rPr>
              <a:t>Introduction</a:t>
            </a:r>
          </a:p>
        </p:txBody>
      </p:sp>
      <p:pic>
        <p:nvPicPr>
          <p:cNvPr id="31" name="Picture 30" descr="A rainbow of objects coming out of a conveyor belt&#10;&#10;Description automatically generated">
            <a:extLst>
              <a:ext uri="{FF2B5EF4-FFF2-40B4-BE49-F238E27FC236}">
                <a16:creationId xmlns:a16="http://schemas.microsoft.com/office/drawing/2014/main" id="{1FD4D036-91A9-1AC6-49A1-C138DDD3AC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9200" y="1054100"/>
            <a:ext cx="5180045" cy="5180045"/>
          </a:xfrm>
          <a:prstGeom prst="rect">
            <a:avLst/>
          </a:prstGeom>
        </p:spPr>
      </p:pic>
      <p:sp>
        <p:nvSpPr>
          <p:cNvPr id="14" name="TextBox 13">
            <a:extLst>
              <a:ext uri="{FF2B5EF4-FFF2-40B4-BE49-F238E27FC236}">
                <a16:creationId xmlns:a16="http://schemas.microsoft.com/office/drawing/2014/main" id="{7749BD73-0DB4-2901-96FC-1BED555D9E49}"/>
              </a:ext>
            </a:extLst>
          </p:cNvPr>
          <p:cNvSpPr txBox="1"/>
          <p:nvPr/>
        </p:nvSpPr>
        <p:spPr>
          <a:xfrm>
            <a:off x="6999377" y="869434"/>
            <a:ext cx="3937296" cy="369332"/>
          </a:xfrm>
          <a:prstGeom prst="rect">
            <a:avLst/>
          </a:prstGeom>
          <a:noFill/>
        </p:spPr>
        <p:txBody>
          <a:bodyPr wrap="none" rtlCol="0">
            <a:spAutoFit/>
          </a:bodyPr>
          <a:lstStyle/>
          <a:p>
            <a:r>
              <a:rPr lang="en-US" b="1" dirty="0"/>
              <a:t>Garbage in Garbage out (GIGO)</a:t>
            </a:r>
            <a:endParaRPr lang="en-US" dirty="0"/>
          </a:p>
        </p:txBody>
      </p:sp>
      <p:grpSp>
        <p:nvGrpSpPr>
          <p:cNvPr id="32" name="Group 31">
            <a:extLst>
              <a:ext uri="{FF2B5EF4-FFF2-40B4-BE49-F238E27FC236}">
                <a16:creationId xmlns:a16="http://schemas.microsoft.com/office/drawing/2014/main" id="{16A6EE27-66D4-4B7F-910F-4C997B431E27}"/>
              </a:ext>
            </a:extLst>
          </p:cNvPr>
          <p:cNvGrpSpPr/>
          <p:nvPr/>
        </p:nvGrpSpPr>
        <p:grpSpPr>
          <a:xfrm>
            <a:off x="629305" y="1478619"/>
            <a:ext cx="3151930" cy="533230"/>
            <a:chOff x="629305" y="1478619"/>
            <a:chExt cx="3151930" cy="533230"/>
          </a:xfrm>
        </p:grpSpPr>
        <p:sp>
          <p:nvSpPr>
            <p:cNvPr id="33" name="Flowchart: Connector 32">
              <a:extLst>
                <a:ext uri="{FF2B5EF4-FFF2-40B4-BE49-F238E27FC236}">
                  <a16:creationId xmlns:a16="http://schemas.microsoft.com/office/drawing/2014/main" id="{C6F00476-BB8F-5AF4-F1F9-9E107978024D}"/>
                </a:ext>
              </a:extLst>
            </p:cNvPr>
            <p:cNvSpPr/>
            <p:nvPr/>
          </p:nvSpPr>
          <p:spPr>
            <a:xfrm>
              <a:off x="629305" y="1478619"/>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5B66D88F-016E-6223-7FFA-8C867DD0AE87}"/>
                </a:ext>
              </a:extLst>
            </p:cNvPr>
            <p:cNvSpPr txBox="1"/>
            <p:nvPr/>
          </p:nvSpPr>
          <p:spPr>
            <a:xfrm>
              <a:off x="1371601" y="1539465"/>
              <a:ext cx="2409634" cy="369332"/>
            </a:xfrm>
            <a:prstGeom prst="rect">
              <a:avLst/>
            </a:prstGeom>
            <a:noFill/>
          </p:spPr>
          <p:txBody>
            <a:bodyPr wrap="none" rtlCol="0">
              <a:spAutoFit/>
            </a:bodyPr>
            <a:lstStyle/>
            <a:p>
              <a:r>
                <a:rPr lang="en-US" b="1" dirty="0"/>
                <a:t>Wrong population</a:t>
              </a:r>
              <a:endParaRPr lang="en-US" dirty="0"/>
            </a:p>
          </p:txBody>
        </p:sp>
      </p:grpSp>
      <p:sp>
        <p:nvSpPr>
          <p:cNvPr id="35" name="TextBox 34">
            <a:extLst>
              <a:ext uri="{FF2B5EF4-FFF2-40B4-BE49-F238E27FC236}">
                <a16:creationId xmlns:a16="http://schemas.microsoft.com/office/drawing/2014/main" id="{00FA140D-BAE5-E83F-E84A-1C8D16C40746}"/>
              </a:ext>
            </a:extLst>
          </p:cNvPr>
          <p:cNvSpPr txBox="1"/>
          <p:nvPr/>
        </p:nvSpPr>
        <p:spPr>
          <a:xfrm>
            <a:off x="680156" y="1570243"/>
            <a:ext cx="404278" cy="338554"/>
          </a:xfrm>
          <a:prstGeom prst="rect">
            <a:avLst/>
          </a:prstGeom>
          <a:noFill/>
        </p:spPr>
        <p:txBody>
          <a:bodyPr wrap="none" rtlCol="0">
            <a:spAutoFit/>
          </a:bodyPr>
          <a:lstStyle/>
          <a:p>
            <a:r>
              <a:rPr lang="en-US" sz="1600" b="1" dirty="0"/>
              <a:t>01</a:t>
            </a:r>
          </a:p>
        </p:txBody>
      </p:sp>
      <p:grpSp>
        <p:nvGrpSpPr>
          <p:cNvPr id="36" name="Group 35">
            <a:extLst>
              <a:ext uri="{FF2B5EF4-FFF2-40B4-BE49-F238E27FC236}">
                <a16:creationId xmlns:a16="http://schemas.microsoft.com/office/drawing/2014/main" id="{2B0FDE24-8EB8-FAA5-8709-3C3D65F03364}"/>
              </a:ext>
            </a:extLst>
          </p:cNvPr>
          <p:cNvGrpSpPr/>
          <p:nvPr/>
        </p:nvGrpSpPr>
        <p:grpSpPr>
          <a:xfrm>
            <a:off x="629305" y="2255920"/>
            <a:ext cx="3660082" cy="533230"/>
            <a:chOff x="629305" y="1478619"/>
            <a:chExt cx="3660082" cy="533230"/>
          </a:xfrm>
        </p:grpSpPr>
        <p:sp>
          <p:nvSpPr>
            <p:cNvPr id="37" name="Flowchart: Connector 36">
              <a:extLst>
                <a:ext uri="{FF2B5EF4-FFF2-40B4-BE49-F238E27FC236}">
                  <a16:creationId xmlns:a16="http://schemas.microsoft.com/office/drawing/2014/main" id="{529F962B-4A52-E606-FB49-219AAE74A351}"/>
                </a:ext>
              </a:extLst>
            </p:cNvPr>
            <p:cNvSpPr/>
            <p:nvPr/>
          </p:nvSpPr>
          <p:spPr>
            <a:xfrm>
              <a:off x="629305" y="1478619"/>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60B26E7C-4D05-6E15-79CE-46CD3EBBC052}"/>
                </a:ext>
              </a:extLst>
            </p:cNvPr>
            <p:cNvSpPr txBox="1"/>
            <p:nvPr/>
          </p:nvSpPr>
          <p:spPr>
            <a:xfrm>
              <a:off x="1371601" y="1539465"/>
              <a:ext cx="2917786" cy="369332"/>
            </a:xfrm>
            <a:prstGeom prst="rect">
              <a:avLst/>
            </a:prstGeom>
            <a:noFill/>
          </p:spPr>
          <p:txBody>
            <a:bodyPr wrap="none" rtlCol="0">
              <a:spAutoFit/>
            </a:bodyPr>
            <a:lstStyle/>
            <a:p>
              <a:r>
                <a:rPr lang="en-US" b="1" dirty="0"/>
                <a:t>Wrong measurements</a:t>
              </a:r>
              <a:endParaRPr lang="en-US" dirty="0"/>
            </a:p>
          </p:txBody>
        </p:sp>
      </p:grpSp>
      <p:sp>
        <p:nvSpPr>
          <p:cNvPr id="39" name="TextBox 38">
            <a:extLst>
              <a:ext uri="{FF2B5EF4-FFF2-40B4-BE49-F238E27FC236}">
                <a16:creationId xmlns:a16="http://schemas.microsoft.com/office/drawing/2014/main" id="{6A4C31CD-54C5-9F5E-456C-88E830B19512}"/>
              </a:ext>
            </a:extLst>
          </p:cNvPr>
          <p:cNvSpPr txBox="1"/>
          <p:nvPr/>
        </p:nvSpPr>
        <p:spPr>
          <a:xfrm>
            <a:off x="680156" y="2340317"/>
            <a:ext cx="445956" cy="338554"/>
          </a:xfrm>
          <a:prstGeom prst="rect">
            <a:avLst/>
          </a:prstGeom>
          <a:noFill/>
        </p:spPr>
        <p:txBody>
          <a:bodyPr wrap="none" rtlCol="0">
            <a:spAutoFit/>
          </a:bodyPr>
          <a:lstStyle/>
          <a:p>
            <a:r>
              <a:rPr lang="en-US" sz="1600" b="1" dirty="0"/>
              <a:t>02</a:t>
            </a:r>
          </a:p>
        </p:txBody>
      </p:sp>
      <p:grpSp>
        <p:nvGrpSpPr>
          <p:cNvPr id="40" name="Group 39">
            <a:extLst>
              <a:ext uri="{FF2B5EF4-FFF2-40B4-BE49-F238E27FC236}">
                <a16:creationId xmlns:a16="http://schemas.microsoft.com/office/drawing/2014/main" id="{5FE89A49-DCE4-A81B-CE4E-9796C8F40D2C}"/>
              </a:ext>
            </a:extLst>
          </p:cNvPr>
          <p:cNvGrpSpPr/>
          <p:nvPr/>
        </p:nvGrpSpPr>
        <p:grpSpPr>
          <a:xfrm>
            <a:off x="629305" y="3033221"/>
            <a:ext cx="4096099" cy="533230"/>
            <a:chOff x="629305" y="1478619"/>
            <a:chExt cx="4096099" cy="533230"/>
          </a:xfrm>
        </p:grpSpPr>
        <p:sp>
          <p:nvSpPr>
            <p:cNvPr id="41" name="Flowchart: Connector 40">
              <a:extLst>
                <a:ext uri="{FF2B5EF4-FFF2-40B4-BE49-F238E27FC236}">
                  <a16:creationId xmlns:a16="http://schemas.microsoft.com/office/drawing/2014/main" id="{0D134A25-D48B-5AF1-272A-A4CACF590136}"/>
                </a:ext>
              </a:extLst>
            </p:cNvPr>
            <p:cNvSpPr/>
            <p:nvPr/>
          </p:nvSpPr>
          <p:spPr>
            <a:xfrm>
              <a:off x="629305" y="1478619"/>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F7878B3F-4D88-B5A3-43A2-5E6F77E98D77}"/>
                </a:ext>
              </a:extLst>
            </p:cNvPr>
            <p:cNvSpPr txBox="1"/>
            <p:nvPr/>
          </p:nvSpPr>
          <p:spPr>
            <a:xfrm>
              <a:off x="1371601" y="1539465"/>
              <a:ext cx="3353803" cy="369332"/>
            </a:xfrm>
            <a:prstGeom prst="rect">
              <a:avLst/>
            </a:prstGeom>
            <a:noFill/>
          </p:spPr>
          <p:txBody>
            <a:bodyPr wrap="none" rtlCol="0">
              <a:spAutoFit/>
            </a:bodyPr>
            <a:lstStyle/>
            <a:p>
              <a:r>
                <a:rPr lang="en-US" b="1" dirty="0"/>
                <a:t>Wrong format of question</a:t>
              </a:r>
              <a:endParaRPr lang="en-US" dirty="0"/>
            </a:p>
          </p:txBody>
        </p:sp>
      </p:grpSp>
      <p:sp>
        <p:nvSpPr>
          <p:cNvPr id="46" name="TextBox 45">
            <a:extLst>
              <a:ext uri="{FF2B5EF4-FFF2-40B4-BE49-F238E27FC236}">
                <a16:creationId xmlns:a16="http://schemas.microsoft.com/office/drawing/2014/main" id="{05211965-C015-325E-4576-AA1D8243B726}"/>
              </a:ext>
            </a:extLst>
          </p:cNvPr>
          <p:cNvSpPr txBox="1"/>
          <p:nvPr/>
        </p:nvSpPr>
        <p:spPr>
          <a:xfrm>
            <a:off x="680156" y="3123765"/>
            <a:ext cx="445956" cy="338554"/>
          </a:xfrm>
          <a:prstGeom prst="rect">
            <a:avLst/>
          </a:prstGeom>
          <a:noFill/>
        </p:spPr>
        <p:txBody>
          <a:bodyPr wrap="none" rtlCol="0">
            <a:spAutoFit/>
          </a:bodyPr>
          <a:lstStyle/>
          <a:p>
            <a:r>
              <a:rPr lang="en-US" sz="1600" b="1" dirty="0"/>
              <a:t>03</a:t>
            </a:r>
          </a:p>
        </p:txBody>
      </p:sp>
      <p:grpSp>
        <p:nvGrpSpPr>
          <p:cNvPr id="47" name="Group 46">
            <a:extLst>
              <a:ext uri="{FF2B5EF4-FFF2-40B4-BE49-F238E27FC236}">
                <a16:creationId xmlns:a16="http://schemas.microsoft.com/office/drawing/2014/main" id="{7C76A06A-D382-71AA-0276-F6D90D35BBEF}"/>
              </a:ext>
            </a:extLst>
          </p:cNvPr>
          <p:cNvGrpSpPr/>
          <p:nvPr/>
        </p:nvGrpSpPr>
        <p:grpSpPr>
          <a:xfrm>
            <a:off x="629305" y="3810522"/>
            <a:ext cx="3477340" cy="533230"/>
            <a:chOff x="629305" y="1478619"/>
            <a:chExt cx="3477340" cy="533230"/>
          </a:xfrm>
        </p:grpSpPr>
        <p:sp>
          <p:nvSpPr>
            <p:cNvPr id="51" name="Flowchart: Connector 50">
              <a:extLst>
                <a:ext uri="{FF2B5EF4-FFF2-40B4-BE49-F238E27FC236}">
                  <a16:creationId xmlns:a16="http://schemas.microsoft.com/office/drawing/2014/main" id="{FEE0A983-11E8-12C6-E4EA-A4339371DA98}"/>
                </a:ext>
              </a:extLst>
            </p:cNvPr>
            <p:cNvSpPr/>
            <p:nvPr/>
          </p:nvSpPr>
          <p:spPr>
            <a:xfrm>
              <a:off x="629305" y="1478619"/>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D75BB561-78BB-D9EB-B706-CB650738072C}"/>
                </a:ext>
              </a:extLst>
            </p:cNvPr>
            <p:cNvSpPr txBox="1"/>
            <p:nvPr/>
          </p:nvSpPr>
          <p:spPr>
            <a:xfrm>
              <a:off x="1371601" y="1539465"/>
              <a:ext cx="2735044" cy="369332"/>
            </a:xfrm>
            <a:prstGeom prst="rect">
              <a:avLst/>
            </a:prstGeom>
            <a:noFill/>
          </p:spPr>
          <p:txBody>
            <a:bodyPr wrap="none" rtlCol="0">
              <a:spAutoFit/>
            </a:bodyPr>
            <a:lstStyle/>
            <a:p>
              <a:r>
                <a:rPr lang="en-US" b="1" dirty="0"/>
                <a:t>Wrong depth of data</a:t>
              </a:r>
              <a:endParaRPr lang="en-US" dirty="0"/>
            </a:p>
          </p:txBody>
        </p:sp>
      </p:grpSp>
      <p:sp>
        <p:nvSpPr>
          <p:cNvPr id="53" name="TextBox 52">
            <a:extLst>
              <a:ext uri="{FF2B5EF4-FFF2-40B4-BE49-F238E27FC236}">
                <a16:creationId xmlns:a16="http://schemas.microsoft.com/office/drawing/2014/main" id="{13E9F8A4-66F2-DD6B-77C3-D5D9AF3A387F}"/>
              </a:ext>
            </a:extLst>
          </p:cNvPr>
          <p:cNvSpPr txBox="1"/>
          <p:nvPr/>
        </p:nvSpPr>
        <p:spPr>
          <a:xfrm>
            <a:off x="680156" y="3916337"/>
            <a:ext cx="465192" cy="338554"/>
          </a:xfrm>
          <a:prstGeom prst="rect">
            <a:avLst/>
          </a:prstGeom>
          <a:noFill/>
        </p:spPr>
        <p:txBody>
          <a:bodyPr wrap="none" rtlCol="0">
            <a:spAutoFit/>
          </a:bodyPr>
          <a:lstStyle/>
          <a:p>
            <a:r>
              <a:rPr lang="en-US" sz="1600" b="1" dirty="0"/>
              <a:t>04</a:t>
            </a:r>
          </a:p>
        </p:txBody>
      </p:sp>
      <p:grpSp>
        <p:nvGrpSpPr>
          <p:cNvPr id="54" name="Group 53">
            <a:extLst>
              <a:ext uri="{FF2B5EF4-FFF2-40B4-BE49-F238E27FC236}">
                <a16:creationId xmlns:a16="http://schemas.microsoft.com/office/drawing/2014/main" id="{3233F8F3-7783-6818-F290-670385E6CCF3}"/>
              </a:ext>
            </a:extLst>
          </p:cNvPr>
          <p:cNvGrpSpPr/>
          <p:nvPr/>
        </p:nvGrpSpPr>
        <p:grpSpPr>
          <a:xfrm>
            <a:off x="643881" y="4587823"/>
            <a:ext cx="2669427" cy="533230"/>
            <a:chOff x="629305" y="1478619"/>
            <a:chExt cx="2669427" cy="533230"/>
          </a:xfrm>
        </p:grpSpPr>
        <p:sp>
          <p:nvSpPr>
            <p:cNvPr id="55" name="Flowchart: Connector 54">
              <a:extLst>
                <a:ext uri="{FF2B5EF4-FFF2-40B4-BE49-F238E27FC236}">
                  <a16:creationId xmlns:a16="http://schemas.microsoft.com/office/drawing/2014/main" id="{385D1FBB-38BD-266B-FD00-6518ADF476CA}"/>
                </a:ext>
              </a:extLst>
            </p:cNvPr>
            <p:cNvSpPr/>
            <p:nvPr/>
          </p:nvSpPr>
          <p:spPr>
            <a:xfrm>
              <a:off x="629305" y="1478619"/>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TextBox 55">
              <a:extLst>
                <a:ext uri="{FF2B5EF4-FFF2-40B4-BE49-F238E27FC236}">
                  <a16:creationId xmlns:a16="http://schemas.microsoft.com/office/drawing/2014/main" id="{5E85061F-FDA3-382F-1524-19AB972F016D}"/>
                </a:ext>
              </a:extLst>
            </p:cNvPr>
            <p:cNvSpPr txBox="1"/>
            <p:nvPr/>
          </p:nvSpPr>
          <p:spPr>
            <a:xfrm>
              <a:off x="1371601" y="1539465"/>
              <a:ext cx="1927131" cy="369332"/>
            </a:xfrm>
            <a:prstGeom prst="rect">
              <a:avLst/>
            </a:prstGeom>
            <a:noFill/>
          </p:spPr>
          <p:txBody>
            <a:bodyPr wrap="none" rtlCol="0">
              <a:spAutoFit/>
            </a:bodyPr>
            <a:lstStyle/>
            <a:p>
              <a:r>
                <a:rPr lang="en-US" b="1" dirty="0"/>
                <a:t>Wrong quality</a:t>
              </a:r>
              <a:endParaRPr lang="en-US" dirty="0"/>
            </a:p>
          </p:txBody>
        </p:sp>
      </p:grpSp>
      <p:sp>
        <p:nvSpPr>
          <p:cNvPr id="57" name="TextBox 56">
            <a:extLst>
              <a:ext uri="{FF2B5EF4-FFF2-40B4-BE49-F238E27FC236}">
                <a16:creationId xmlns:a16="http://schemas.microsoft.com/office/drawing/2014/main" id="{5085E178-57DF-B624-109E-E66C3C633E6C}"/>
              </a:ext>
            </a:extLst>
          </p:cNvPr>
          <p:cNvSpPr txBox="1"/>
          <p:nvPr/>
        </p:nvSpPr>
        <p:spPr>
          <a:xfrm>
            <a:off x="694732" y="4679447"/>
            <a:ext cx="445956" cy="338554"/>
          </a:xfrm>
          <a:prstGeom prst="rect">
            <a:avLst/>
          </a:prstGeom>
          <a:noFill/>
        </p:spPr>
        <p:txBody>
          <a:bodyPr wrap="none" rtlCol="0">
            <a:spAutoFit/>
          </a:bodyPr>
          <a:lstStyle/>
          <a:p>
            <a:r>
              <a:rPr lang="en-US" sz="1600" b="1" dirty="0"/>
              <a:t>05</a:t>
            </a:r>
          </a:p>
        </p:txBody>
      </p:sp>
    </p:spTree>
    <p:extLst>
      <p:ext uri="{BB962C8B-B14F-4D97-AF65-F5344CB8AC3E}">
        <p14:creationId xmlns:p14="http://schemas.microsoft.com/office/powerpoint/2010/main" val="2151757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65466-4401-DEA3-16BD-83F76E867CD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5D5299C-CA18-0DE5-FAB0-F793620CBA2F}"/>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Rectangle 4">
            <a:extLst>
              <a:ext uri="{FF2B5EF4-FFF2-40B4-BE49-F238E27FC236}">
                <a16:creationId xmlns:a16="http://schemas.microsoft.com/office/drawing/2014/main" id="{572CF74E-39F5-59E7-2EFE-2826E139F53E}"/>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10" name="TextBox 9">
            <a:extLst>
              <a:ext uri="{FF2B5EF4-FFF2-40B4-BE49-F238E27FC236}">
                <a16:creationId xmlns:a16="http://schemas.microsoft.com/office/drawing/2014/main" id="{9D899BBD-5DD8-D1A3-73AC-FC49DF70EAAD}"/>
              </a:ext>
            </a:extLst>
          </p:cNvPr>
          <p:cNvSpPr txBox="1"/>
          <p:nvPr/>
        </p:nvSpPr>
        <p:spPr>
          <a:xfrm>
            <a:off x="503580" y="541907"/>
            <a:ext cx="7666912"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WRONG POPULATION</a:t>
            </a:r>
          </a:p>
        </p:txBody>
      </p:sp>
      <p:sp>
        <p:nvSpPr>
          <p:cNvPr id="11" name="TextBox 10">
            <a:extLst>
              <a:ext uri="{FF2B5EF4-FFF2-40B4-BE49-F238E27FC236}">
                <a16:creationId xmlns:a16="http://schemas.microsoft.com/office/drawing/2014/main" id="{53D841DF-3122-AFE3-FA20-5FB664233E2D}"/>
              </a:ext>
            </a:extLst>
          </p:cNvPr>
          <p:cNvSpPr txBox="1"/>
          <p:nvPr/>
        </p:nvSpPr>
        <p:spPr>
          <a:xfrm>
            <a:off x="509123" y="246742"/>
            <a:ext cx="2124299" cy="461665"/>
          </a:xfrm>
          <a:prstGeom prst="rect">
            <a:avLst/>
          </a:prstGeom>
          <a:noFill/>
        </p:spPr>
        <p:txBody>
          <a:bodyPr wrap="none" rtlCol="0">
            <a:spAutoFit/>
          </a:bodyPr>
          <a:lstStyle/>
          <a:p>
            <a:r>
              <a:rPr lang="fr-FR" sz="2400" dirty="0">
                <a:latin typeface="Montserrat" pitchFamily="2" charset="0"/>
              </a:rPr>
              <a:t>Introduction</a:t>
            </a:r>
          </a:p>
        </p:txBody>
      </p:sp>
      <p:pic>
        <p:nvPicPr>
          <p:cNvPr id="1026" name="Picture 2" descr="image] “Everybody is a genius. But if you judge a fish by its ability to  climb a tree, it will live its whole life believing that it is stupid.” :  r/GetMotivated">
            <a:extLst>
              <a:ext uri="{FF2B5EF4-FFF2-40B4-BE49-F238E27FC236}">
                <a16:creationId xmlns:a16="http://schemas.microsoft.com/office/drawing/2014/main" id="{C8D5AC52-98CE-2B8B-B87B-1470130FA3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328738"/>
            <a:ext cx="6096000" cy="4200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34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B6283-5864-CA8C-64DE-901EF8AFA9B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D92C579-4F6B-71AD-37BC-354FE0E39A36}"/>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Rectangle 4">
            <a:extLst>
              <a:ext uri="{FF2B5EF4-FFF2-40B4-BE49-F238E27FC236}">
                <a16:creationId xmlns:a16="http://schemas.microsoft.com/office/drawing/2014/main" id="{608E6B8D-328A-1A05-078E-78B0F4FDA97C}"/>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10" name="TextBox 9">
            <a:extLst>
              <a:ext uri="{FF2B5EF4-FFF2-40B4-BE49-F238E27FC236}">
                <a16:creationId xmlns:a16="http://schemas.microsoft.com/office/drawing/2014/main" id="{691133F9-A596-B418-EF62-1412035C959A}"/>
              </a:ext>
            </a:extLst>
          </p:cNvPr>
          <p:cNvSpPr txBox="1"/>
          <p:nvPr/>
        </p:nvSpPr>
        <p:spPr>
          <a:xfrm>
            <a:off x="503580" y="541907"/>
            <a:ext cx="7666912"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WRONG POPULATION</a:t>
            </a:r>
          </a:p>
        </p:txBody>
      </p:sp>
      <p:sp>
        <p:nvSpPr>
          <p:cNvPr id="11" name="TextBox 10">
            <a:extLst>
              <a:ext uri="{FF2B5EF4-FFF2-40B4-BE49-F238E27FC236}">
                <a16:creationId xmlns:a16="http://schemas.microsoft.com/office/drawing/2014/main" id="{BE6573DA-E8CE-DAAC-8E0D-1C449BA8D446}"/>
              </a:ext>
            </a:extLst>
          </p:cNvPr>
          <p:cNvSpPr txBox="1"/>
          <p:nvPr/>
        </p:nvSpPr>
        <p:spPr>
          <a:xfrm>
            <a:off x="509123" y="246742"/>
            <a:ext cx="2124299" cy="461665"/>
          </a:xfrm>
          <a:prstGeom prst="rect">
            <a:avLst/>
          </a:prstGeom>
          <a:noFill/>
        </p:spPr>
        <p:txBody>
          <a:bodyPr wrap="none" rtlCol="0">
            <a:spAutoFit/>
          </a:bodyPr>
          <a:lstStyle/>
          <a:p>
            <a:r>
              <a:rPr lang="fr-FR" sz="2400" dirty="0">
                <a:latin typeface="Montserrat" pitchFamily="2" charset="0"/>
              </a:rPr>
              <a:t>Introduction</a:t>
            </a:r>
          </a:p>
        </p:txBody>
      </p:sp>
      <p:pic>
        <p:nvPicPr>
          <p:cNvPr id="17" name="Picture 16" descr="A red line graph with white background&#10;&#10;AI-generated content may be incorrect.">
            <a:extLst>
              <a:ext uri="{FF2B5EF4-FFF2-40B4-BE49-F238E27FC236}">
                <a16:creationId xmlns:a16="http://schemas.microsoft.com/office/drawing/2014/main" id="{FCA8FC80-620F-F6F8-A029-E572532419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056805"/>
            <a:ext cx="5601800" cy="3712320"/>
          </a:xfrm>
          <a:prstGeom prst="rect">
            <a:avLst/>
          </a:prstGeom>
        </p:spPr>
      </p:pic>
      <p:pic>
        <p:nvPicPr>
          <p:cNvPr id="2052" name="Picture 4" descr="How to Detect Outliers in Machine Learning? (With Examples)">
            <a:extLst>
              <a:ext uri="{FF2B5EF4-FFF2-40B4-BE49-F238E27FC236}">
                <a16:creationId xmlns:a16="http://schemas.microsoft.com/office/drawing/2014/main" id="{792CF133-3FF9-DB02-35E6-A7DE399580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997" y="1675766"/>
            <a:ext cx="5872054" cy="3895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020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39D91-3C8D-C813-DF78-E0216499EEB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892AB8F-366C-DD9D-F85F-86BBFA581F23}"/>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Rectangle 4">
            <a:extLst>
              <a:ext uri="{FF2B5EF4-FFF2-40B4-BE49-F238E27FC236}">
                <a16:creationId xmlns:a16="http://schemas.microsoft.com/office/drawing/2014/main" id="{F27D9123-B81C-9349-A8EF-3EF866D9F74E}"/>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10" name="TextBox 9">
            <a:extLst>
              <a:ext uri="{FF2B5EF4-FFF2-40B4-BE49-F238E27FC236}">
                <a16:creationId xmlns:a16="http://schemas.microsoft.com/office/drawing/2014/main" id="{0E16524D-2BF7-3BF4-F953-C2B512C15852}"/>
              </a:ext>
            </a:extLst>
          </p:cNvPr>
          <p:cNvSpPr txBox="1"/>
          <p:nvPr/>
        </p:nvSpPr>
        <p:spPr>
          <a:xfrm>
            <a:off x="503580" y="541907"/>
            <a:ext cx="7666912"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WRONG MEASUREMENT</a:t>
            </a:r>
          </a:p>
        </p:txBody>
      </p:sp>
      <p:sp>
        <p:nvSpPr>
          <p:cNvPr id="11" name="TextBox 10">
            <a:extLst>
              <a:ext uri="{FF2B5EF4-FFF2-40B4-BE49-F238E27FC236}">
                <a16:creationId xmlns:a16="http://schemas.microsoft.com/office/drawing/2014/main" id="{BF6D8C73-8A16-B836-771D-EA6FA3284473}"/>
              </a:ext>
            </a:extLst>
          </p:cNvPr>
          <p:cNvSpPr txBox="1"/>
          <p:nvPr/>
        </p:nvSpPr>
        <p:spPr>
          <a:xfrm>
            <a:off x="509123" y="246742"/>
            <a:ext cx="2124299" cy="461665"/>
          </a:xfrm>
          <a:prstGeom prst="rect">
            <a:avLst/>
          </a:prstGeom>
          <a:noFill/>
        </p:spPr>
        <p:txBody>
          <a:bodyPr wrap="none" rtlCol="0">
            <a:spAutoFit/>
          </a:bodyPr>
          <a:lstStyle/>
          <a:p>
            <a:r>
              <a:rPr lang="fr-FR" sz="2400" dirty="0">
                <a:latin typeface="Montserrat" pitchFamily="2" charset="0"/>
              </a:rPr>
              <a:t>Introduction</a:t>
            </a:r>
          </a:p>
        </p:txBody>
      </p:sp>
      <p:pic>
        <p:nvPicPr>
          <p:cNvPr id="3074" name="Picture 2" descr="Units for Measuring Length | Standard Units of Length |Kilometre Metre">
            <a:extLst>
              <a:ext uri="{FF2B5EF4-FFF2-40B4-BE49-F238E27FC236}">
                <a16:creationId xmlns:a16="http://schemas.microsoft.com/office/drawing/2014/main" id="{CDFA3AFD-02EE-9882-BBE6-B219944665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9920" y="1288101"/>
            <a:ext cx="5447107" cy="4944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4059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FCB3F-3AC8-B593-94CB-729A40E4A8E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453C41-9830-0198-F4AD-BF7B732CE255}"/>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Rectangle 4">
            <a:extLst>
              <a:ext uri="{FF2B5EF4-FFF2-40B4-BE49-F238E27FC236}">
                <a16:creationId xmlns:a16="http://schemas.microsoft.com/office/drawing/2014/main" id="{AD91B9BC-97BA-408E-0EF3-A7FF4E414D89}"/>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10" name="TextBox 9">
            <a:extLst>
              <a:ext uri="{FF2B5EF4-FFF2-40B4-BE49-F238E27FC236}">
                <a16:creationId xmlns:a16="http://schemas.microsoft.com/office/drawing/2014/main" id="{972FE677-6BC3-9183-FF31-5B260A1FF48D}"/>
              </a:ext>
            </a:extLst>
          </p:cNvPr>
          <p:cNvSpPr txBox="1"/>
          <p:nvPr/>
        </p:nvSpPr>
        <p:spPr>
          <a:xfrm>
            <a:off x="503580" y="541907"/>
            <a:ext cx="7666912"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WRONG FORMAT OF QUESTIONS</a:t>
            </a:r>
          </a:p>
        </p:txBody>
      </p:sp>
      <p:sp>
        <p:nvSpPr>
          <p:cNvPr id="11" name="TextBox 10">
            <a:extLst>
              <a:ext uri="{FF2B5EF4-FFF2-40B4-BE49-F238E27FC236}">
                <a16:creationId xmlns:a16="http://schemas.microsoft.com/office/drawing/2014/main" id="{DDC1D58A-2DC4-C069-6714-11EA53B18422}"/>
              </a:ext>
            </a:extLst>
          </p:cNvPr>
          <p:cNvSpPr txBox="1"/>
          <p:nvPr/>
        </p:nvSpPr>
        <p:spPr>
          <a:xfrm>
            <a:off x="509123" y="246742"/>
            <a:ext cx="2124299" cy="461665"/>
          </a:xfrm>
          <a:prstGeom prst="rect">
            <a:avLst/>
          </a:prstGeom>
          <a:noFill/>
        </p:spPr>
        <p:txBody>
          <a:bodyPr wrap="none" rtlCol="0">
            <a:spAutoFit/>
          </a:bodyPr>
          <a:lstStyle/>
          <a:p>
            <a:r>
              <a:rPr lang="fr-FR" sz="2400" dirty="0">
                <a:latin typeface="Montserrat" pitchFamily="2" charset="0"/>
              </a:rPr>
              <a:t>Introduction</a:t>
            </a:r>
          </a:p>
        </p:txBody>
      </p:sp>
      <p:sp>
        <p:nvSpPr>
          <p:cNvPr id="3" name="TextBox 2">
            <a:extLst>
              <a:ext uri="{FF2B5EF4-FFF2-40B4-BE49-F238E27FC236}">
                <a16:creationId xmlns:a16="http://schemas.microsoft.com/office/drawing/2014/main" id="{0370EAC0-92B5-9718-E21E-9B3F2845E4BA}"/>
              </a:ext>
            </a:extLst>
          </p:cNvPr>
          <p:cNvSpPr txBox="1"/>
          <p:nvPr/>
        </p:nvSpPr>
        <p:spPr>
          <a:xfrm>
            <a:off x="618576" y="1421847"/>
            <a:ext cx="3215945" cy="369332"/>
          </a:xfrm>
          <a:prstGeom prst="rect">
            <a:avLst/>
          </a:prstGeom>
          <a:noFill/>
        </p:spPr>
        <p:txBody>
          <a:bodyPr wrap="none" rtlCol="0">
            <a:spAutoFit/>
          </a:bodyPr>
          <a:lstStyle/>
          <a:p>
            <a:r>
              <a:rPr lang="en-US" dirty="0"/>
              <a:t>What’s your favorite food?</a:t>
            </a:r>
          </a:p>
        </p:txBody>
      </p:sp>
      <p:sp>
        <p:nvSpPr>
          <p:cNvPr id="13" name="TextBox 12">
            <a:extLst>
              <a:ext uri="{FF2B5EF4-FFF2-40B4-BE49-F238E27FC236}">
                <a16:creationId xmlns:a16="http://schemas.microsoft.com/office/drawing/2014/main" id="{17AA18BE-6B4D-F83D-60E4-1FE854CC95C4}"/>
              </a:ext>
            </a:extLst>
          </p:cNvPr>
          <p:cNvSpPr txBox="1"/>
          <p:nvPr/>
        </p:nvSpPr>
        <p:spPr>
          <a:xfrm>
            <a:off x="952405" y="1959013"/>
            <a:ext cx="2052052" cy="4524315"/>
          </a:xfrm>
          <a:prstGeom prst="rect">
            <a:avLst/>
          </a:prstGeom>
          <a:noFill/>
        </p:spPr>
        <p:txBody>
          <a:bodyPr wrap="square" numCol="1">
            <a:spAutoFit/>
          </a:bodyPr>
          <a:lstStyle/>
          <a:p>
            <a:r>
              <a:rPr lang="en-US" dirty="0" err="1"/>
              <a:t>Choclate</a:t>
            </a:r>
            <a:br>
              <a:rPr lang="en-US" dirty="0"/>
            </a:br>
            <a:r>
              <a:rPr lang="en-US" dirty="0" err="1"/>
              <a:t>Chocollate</a:t>
            </a:r>
            <a:br>
              <a:rPr lang="en-US" dirty="0"/>
            </a:br>
            <a:r>
              <a:rPr lang="en-US" dirty="0" err="1"/>
              <a:t>Choclatee</a:t>
            </a:r>
            <a:br>
              <a:rPr lang="en-US" dirty="0"/>
            </a:br>
            <a:r>
              <a:rPr lang="en-US" dirty="0" err="1"/>
              <a:t>Chocoolate</a:t>
            </a:r>
            <a:br>
              <a:rPr lang="en-US" dirty="0"/>
            </a:br>
            <a:r>
              <a:rPr lang="en-US" dirty="0"/>
              <a:t>Choc</a:t>
            </a:r>
            <a:br>
              <a:rPr lang="en-US" dirty="0"/>
            </a:br>
            <a:r>
              <a:rPr lang="en-US" dirty="0"/>
              <a:t>Choco</a:t>
            </a:r>
            <a:br>
              <a:rPr lang="en-US" dirty="0"/>
            </a:br>
            <a:r>
              <a:rPr lang="en-US" dirty="0"/>
              <a:t>Choccy</a:t>
            </a:r>
            <a:br>
              <a:rPr lang="en-US" dirty="0"/>
            </a:br>
            <a:r>
              <a:rPr lang="en-US" dirty="0"/>
              <a:t>Choc.</a:t>
            </a:r>
            <a:br>
              <a:rPr lang="en-US" dirty="0"/>
            </a:br>
            <a:r>
              <a:rPr lang="en-US" dirty="0" err="1"/>
              <a:t>Chocky</a:t>
            </a:r>
            <a:br>
              <a:rPr lang="en-US" dirty="0"/>
            </a:br>
            <a:r>
              <a:rPr lang="en-US" dirty="0"/>
              <a:t>CHOCOLATE</a:t>
            </a:r>
            <a:br>
              <a:rPr lang="en-US" dirty="0"/>
            </a:br>
            <a:r>
              <a:rPr lang="en-US" dirty="0" err="1"/>
              <a:t>chocolate</a:t>
            </a:r>
            <a:br>
              <a:rPr lang="en-US" dirty="0"/>
            </a:br>
            <a:r>
              <a:rPr lang="en-US" dirty="0" err="1"/>
              <a:t>Chocolate</a:t>
            </a:r>
            <a:br>
              <a:rPr lang="en-US" dirty="0"/>
            </a:br>
            <a:r>
              <a:rPr lang="en-US" dirty="0" err="1"/>
              <a:t>Chocolate</a:t>
            </a:r>
            <a:br>
              <a:rPr lang="en-US" dirty="0"/>
            </a:br>
            <a:r>
              <a:rPr lang="en-US" dirty="0" err="1"/>
              <a:t>Chocolate</a:t>
            </a:r>
            <a:br>
              <a:rPr lang="en-US" dirty="0"/>
            </a:br>
            <a:r>
              <a:rPr lang="en-US" dirty="0" err="1"/>
              <a:t>Chocolate</a:t>
            </a:r>
            <a:r>
              <a:rPr lang="en-US" dirty="0"/>
              <a:t>.</a:t>
            </a:r>
            <a:br>
              <a:rPr lang="en-US" dirty="0"/>
            </a:br>
            <a:r>
              <a:rPr lang="en-US" dirty="0"/>
              <a:t>Chocolate!</a:t>
            </a:r>
          </a:p>
        </p:txBody>
      </p:sp>
      <p:sp>
        <p:nvSpPr>
          <p:cNvPr id="17" name="TextBox 16">
            <a:extLst>
              <a:ext uri="{FF2B5EF4-FFF2-40B4-BE49-F238E27FC236}">
                <a16:creationId xmlns:a16="http://schemas.microsoft.com/office/drawing/2014/main" id="{0BDF930D-FE1B-960F-DC2B-11B36EC4BD94}"/>
              </a:ext>
            </a:extLst>
          </p:cNvPr>
          <p:cNvSpPr txBox="1"/>
          <p:nvPr/>
        </p:nvSpPr>
        <p:spPr>
          <a:xfrm>
            <a:off x="3225848" y="1959013"/>
            <a:ext cx="2870152" cy="4524315"/>
          </a:xfrm>
          <a:prstGeom prst="rect">
            <a:avLst/>
          </a:prstGeom>
          <a:noFill/>
        </p:spPr>
        <p:txBody>
          <a:bodyPr wrap="square">
            <a:spAutoFit/>
          </a:bodyPr>
          <a:lstStyle/>
          <a:p>
            <a:r>
              <a:rPr lang="en-US" dirty="0" err="1"/>
              <a:t>Chocolat</a:t>
            </a:r>
            <a:br>
              <a:rPr lang="en-US" dirty="0"/>
            </a:br>
            <a:r>
              <a:rPr lang="en-US" dirty="0" err="1"/>
              <a:t>Schokolade</a:t>
            </a:r>
            <a:endParaRPr lang="en-US" dirty="0"/>
          </a:p>
          <a:p>
            <a:r>
              <a:rPr lang="en-US" dirty="0" err="1"/>
              <a:t>Cioccolato</a:t>
            </a:r>
            <a:br>
              <a:rPr lang="en-US" dirty="0"/>
            </a:br>
            <a:r>
              <a:rPr lang="en-US" dirty="0" err="1"/>
              <a:t>Chocolade</a:t>
            </a:r>
            <a:br>
              <a:rPr lang="en-US" dirty="0"/>
            </a:br>
            <a:r>
              <a:rPr lang="en-US" dirty="0"/>
              <a:t>Dark Chocolate</a:t>
            </a:r>
            <a:br>
              <a:rPr lang="en-US" dirty="0"/>
            </a:br>
            <a:r>
              <a:rPr lang="en-US" dirty="0"/>
              <a:t>Milk Chocolate</a:t>
            </a:r>
            <a:br>
              <a:rPr lang="en-US" dirty="0"/>
            </a:br>
            <a:r>
              <a:rPr lang="en-US" dirty="0"/>
              <a:t>White Chocolate</a:t>
            </a:r>
            <a:br>
              <a:rPr lang="en-US" dirty="0"/>
            </a:br>
            <a:r>
              <a:rPr lang="en-US" dirty="0"/>
              <a:t>Hot Chocolate</a:t>
            </a:r>
            <a:br>
              <a:rPr lang="en-US" dirty="0"/>
            </a:br>
            <a:r>
              <a:rPr lang="en-US" dirty="0" err="1"/>
              <a:t>Chocolate</a:t>
            </a:r>
            <a:r>
              <a:rPr lang="en-US" dirty="0"/>
              <a:t> Ice Cream</a:t>
            </a:r>
            <a:br>
              <a:rPr lang="en-US" dirty="0"/>
            </a:br>
            <a:r>
              <a:rPr lang="en-US" dirty="0"/>
              <a:t>🍫</a:t>
            </a:r>
            <a:br>
              <a:rPr lang="en-US" dirty="0"/>
            </a:br>
            <a:r>
              <a:rPr lang="en-US" dirty="0"/>
              <a:t>Choco 🍫</a:t>
            </a:r>
            <a:br>
              <a:rPr lang="en-US" dirty="0"/>
            </a:br>
            <a:r>
              <a:rPr lang="en-US" dirty="0"/>
              <a:t>Chock-lit</a:t>
            </a:r>
            <a:br>
              <a:rPr lang="en-US" dirty="0"/>
            </a:br>
            <a:r>
              <a:rPr lang="en-US" dirty="0"/>
              <a:t>Choco-luv</a:t>
            </a:r>
            <a:br>
              <a:rPr lang="en-US" dirty="0"/>
            </a:br>
            <a:r>
              <a:rPr lang="en-US" dirty="0" err="1"/>
              <a:t>Chocobae</a:t>
            </a:r>
            <a:br>
              <a:rPr lang="en-US" dirty="0"/>
            </a:br>
            <a:r>
              <a:rPr lang="en-US" dirty="0"/>
              <a:t>Choco </a:t>
            </a:r>
            <a:r>
              <a:rPr lang="en-US" dirty="0" err="1"/>
              <a:t>vibez</a:t>
            </a:r>
            <a:br>
              <a:rPr lang="en-US" dirty="0"/>
            </a:br>
            <a:r>
              <a:rPr lang="en-US" dirty="0"/>
              <a:t>Choccy milk</a:t>
            </a:r>
          </a:p>
        </p:txBody>
      </p:sp>
      <p:sp>
        <p:nvSpPr>
          <p:cNvPr id="19" name="TextBox 18">
            <a:extLst>
              <a:ext uri="{FF2B5EF4-FFF2-40B4-BE49-F238E27FC236}">
                <a16:creationId xmlns:a16="http://schemas.microsoft.com/office/drawing/2014/main" id="{15CE4A67-38F7-A59E-FEEC-6487BE2CF387}"/>
              </a:ext>
            </a:extLst>
          </p:cNvPr>
          <p:cNvSpPr txBox="1"/>
          <p:nvPr/>
        </p:nvSpPr>
        <p:spPr>
          <a:xfrm>
            <a:off x="6206696" y="1959013"/>
            <a:ext cx="2588961" cy="4524315"/>
          </a:xfrm>
          <a:prstGeom prst="rect">
            <a:avLst/>
          </a:prstGeom>
          <a:noFill/>
        </p:spPr>
        <p:txBody>
          <a:bodyPr wrap="square">
            <a:spAutoFit/>
          </a:bodyPr>
          <a:lstStyle/>
          <a:p>
            <a:r>
              <a:rPr lang="en-US" dirty="0"/>
              <a:t>Big Choc Energy</a:t>
            </a:r>
            <a:br>
              <a:rPr lang="en-US" dirty="0"/>
            </a:br>
            <a:r>
              <a:rPr lang="en-US" dirty="0"/>
              <a:t>Choc attack</a:t>
            </a:r>
            <a:br>
              <a:rPr lang="en-US" dirty="0"/>
            </a:br>
            <a:r>
              <a:rPr lang="en-US" dirty="0" err="1"/>
              <a:t>Dripolate</a:t>
            </a:r>
            <a:br>
              <a:rPr lang="en-US" dirty="0"/>
            </a:br>
            <a:r>
              <a:rPr lang="en-US" dirty="0"/>
              <a:t>Choco Supreme</a:t>
            </a:r>
            <a:br>
              <a:rPr lang="en-US" dirty="0"/>
            </a:br>
            <a:r>
              <a:rPr lang="en-US" b="1" dirty="0" err="1"/>
              <a:t>Skibidi</a:t>
            </a:r>
            <a:r>
              <a:rPr lang="en-US" dirty="0"/>
              <a:t> Chocolate</a:t>
            </a:r>
            <a:br>
              <a:rPr lang="en-US" dirty="0"/>
            </a:br>
            <a:r>
              <a:rPr lang="en-US" dirty="0"/>
              <a:t>Choco </a:t>
            </a:r>
            <a:r>
              <a:rPr lang="en-US" dirty="0" err="1"/>
              <a:t>Skibidi</a:t>
            </a:r>
            <a:r>
              <a:rPr lang="en-US" dirty="0"/>
              <a:t> </a:t>
            </a:r>
            <a:r>
              <a:rPr lang="en-US" dirty="0" err="1"/>
              <a:t>Rizzz</a:t>
            </a:r>
            <a:br>
              <a:rPr lang="en-US" dirty="0"/>
            </a:br>
            <a:r>
              <a:rPr lang="en-US" dirty="0"/>
              <a:t>Hershey’s</a:t>
            </a:r>
            <a:br>
              <a:rPr lang="en-US" dirty="0"/>
            </a:br>
            <a:r>
              <a:rPr lang="en-US" dirty="0"/>
              <a:t>Lindt</a:t>
            </a:r>
            <a:br>
              <a:rPr lang="en-US" dirty="0"/>
            </a:br>
            <a:r>
              <a:rPr lang="en-US" dirty="0"/>
              <a:t>Ferrero</a:t>
            </a:r>
            <a:br>
              <a:rPr lang="en-US" dirty="0"/>
            </a:br>
            <a:r>
              <a:rPr lang="en-US" dirty="0"/>
              <a:t>Cadbury</a:t>
            </a:r>
            <a:br>
              <a:rPr lang="en-US" dirty="0"/>
            </a:br>
            <a:r>
              <a:rPr lang="en-US" dirty="0"/>
              <a:t>Godiva</a:t>
            </a:r>
            <a:br>
              <a:rPr lang="en-US" dirty="0"/>
            </a:br>
            <a:r>
              <a:rPr lang="en-US" dirty="0"/>
              <a:t>Toblerone</a:t>
            </a:r>
            <a:br>
              <a:rPr lang="en-US" dirty="0"/>
            </a:br>
            <a:r>
              <a:rPr lang="en-US" dirty="0"/>
              <a:t>Ghirardelli</a:t>
            </a:r>
            <a:br>
              <a:rPr lang="en-US" dirty="0"/>
            </a:br>
            <a:r>
              <a:rPr lang="en-US" dirty="0"/>
              <a:t>KitKat</a:t>
            </a:r>
            <a:br>
              <a:rPr lang="en-US" dirty="0"/>
            </a:br>
            <a:r>
              <a:rPr lang="en-US" dirty="0"/>
              <a:t>Snickers</a:t>
            </a:r>
            <a:br>
              <a:rPr lang="en-US" dirty="0"/>
            </a:br>
            <a:r>
              <a:rPr lang="en-US" dirty="0"/>
              <a:t>Twix</a:t>
            </a:r>
          </a:p>
        </p:txBody>
      </p:sp>
      <p:sp>
        <p:nvSpPr>
          <p:cNvPr id="21" name="TextBox 20">
            <a:extLst>
              <a:ext uri="{FF2B5EF4-FFF2-40B4-BE49-F238E27FC236}">
                <a16:creationId xmlns:a16="http://schemas.microsoft.com/office/drawing/2014/main" id="{DF5BDEB3-D64D-A24F-A144-99962FA2EBD1}"/>
              </a:ext>
            </a:extLst>
          </p:cNvPr>
          <p:cNvSpPr txBox="1"/>
          <p:nvPr/>
        </p:nvSpPr>
        <p:spPr>
          <a:xfrm>
            <a:off x="9144000" y="1959013"/>
            <a:ext cx="1973943" cy="2308324"/>
          </a:xfrm>
          <a:prstGeom prst="rect">
            <a:avLst/>
          </a:prstGeom>
          <a:noFill/>
        </p:spPr>
        <p:txBody>
          <a:bodyPr wrap="square">
            <a:spAutoFit/>
          </a:bodyPr>
          <a:lstStyle/>
          <a:p>
            <a:r>
              <a:rPr lang="en-US" dirty="0"/>
              <a:t>Milky Way</a:t>
            </a:r>
            <a:br>
              <a:rPr lang="en-US" dirty="0"/>
            </a:br>
            <a:r>
              <a:rPr lang="en-US" dirty="0"/>
              <a:t>Reese’s</a:t>
            </a:r>
            <a:br>
              <a:rPr lang="en-US" dirty="0"/>
            </a:br>
            <a:r>
              <a:rPr lang="en-US" dirty="0"/>
              <a:t>Kinder</a:t>
            </a:r>
            <a:br>
              <a:rPr lang="en-US" dirty="0"/>
            </a:br>
            <a:r>
              <a:rPr lang="en-US" dirty="0"/>
              <a:t>Galaxy</a:t>
            </a:r>
            <a:br>
              <a:rPr lang="en-US" dirty="0"/>
            </a:br>
            <a:r>
              <a:rPr lang="en-US" dirty="0"/>
              <a:t>Dove Chocolate</a:t>
            </a:r>
            <a:br>
              <a:rPr lang="en-US" dirty="0"/>
            </a:br>
            <a:r>
              <a:rPr lang="en-US" dirty="0"/>
              <a:t>M&amp;M’s</a:t>
            </a:r>
            <a:br>
              <a:rPr lang="en-US" dirty="0"/>
            </a:br>
            <a:r>
              <a:rPr lang="en-US" dirty="0"/>
              <a:t>Nutella</a:t>
            </a:r>
          </a:p>
        </p:txBody>
      </p:sp>
    </p:spTree>
    <p:extLst>
      <p:ext uri="{BB962C8B-B14F-4D97-AF65-F5344CB8AC3E}">
        <p14:creationId xmlns:p14="http://schemas.microsoft.com/office/powerpoint/2010/main" val="1724963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7FEC7-A8F5-6F2F-949D-CC3C613F1BA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7B91E31-EC95-FDCA-7B62-C88B901196B9}"/>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Rectangle 4">
            <a:extLst>
              <a:ext uri="{FF2B5EF4-FFF2-40B4-BE49-F238E27FC236}">
                <a16:creationId xmlns:a16="http://schemas.microsoft.com/office/drawing/2014/main" id="{2B362AF2-4344-CE90-E904-7C8914F8DD30}"/>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10" name="TextBox 9">
            <a:extLst>
              <a:ext uri="{FF2B5EF4-FFF2-40B4-BE49-F238E27FC236}">
                <a16:creationId xmlns:a16="http://schemas.microsoft.com/office/drawing/2014/main" id="{8165D98D-F96F-86F8-3E88-829782807656}"/>
              </a:ext>
            </a:extLst>
          </p:cNvPr>
          <p:cNvSpPr txBox="1"/>
          <p:nvPr/>
        </p:nvSpPr>
        <p:spPr>
          <a:xfrm>
            <a:off x="503580" y="541907"/>
            <a:ext cx="7666912"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WRONG DEPTH OF DATA</a:t>
            </a:r>
          </a:p>
        </p:txBody>
      </p:sp>
      <p:sp>
        <p:nvSpPr>
          <p:cNvPr id="11" name="TextBox 10">
            <a:extLst>
              <a:ext uri="{FF2B5EF4-FFF2-40B4-BE49-F238E27FC236}">
                <a16:creationId xmlns:a16="http://schemas.microsoft.com/office/drawing/2014/main" id="{96433ECB-F471-563A-D214-B66D3AB90F54}"/>
              </a:ext>
            </a:extLst>
          </p:cNvPr>
          <p:cNvSpPr txBox="1"/>
          <p:nvPr/>
        </p:nvSpPr>
        <p:spPr>
          <a:xfrm>
            <a:off x="509123" y="246742"/>
            <a:ext cx="2124299" cy="461665"/>
          </a:xfrm>
          <a:prstGeom prst="rect">
            <a:avLst/>
          </a:prstGeom>
          <a:noFill/>
        </p:spPr>
        <p:txBody>
          <a:bodyPr wrap="none" rtlCol="0">
            <a:spAutoFit/>
          </a:bodyPr>
          <a:lstStyle/>
          <a:p>
            <a:r>
              <a:rPr lang="fr-FR" sz="2400" dirty="0">
                <a:latin typeface="Montserrat" pitchFamily="2" charset="0"/>
              </a:rPr>
              <a:t>Introduction</a:t>
            </a:r>
          </a:p>
        </p:txBody>
      </p:sp>
      <p:pic>
        <p:nvPicPr>
          <p:cNvPr id="12" name="Picture 11" descr="A graph with a line going up&#10;&#10;AI-generated content may be incorrect.">
            <a:extLst>
              <a:ext uri="{FF2B5EF4-FFF2-40B4-BE49-F238E27FC236}">
                <a16:creationId xmlns:a16="http://schemas.microsoft.com/office/drawing/2014/main" id="{599B4BBB-A2BF-FE54-953C-0F65BB1E57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158" y="1699597"/>
            <a:ext cx="5393327" cy="3495880"/>
          </a:xfrm>
          <a:prstGeom prst="rect">
            <a:avLst/>
          </a:prstGeom>
        </p:spPr>
      </p:pic>
      <p:pic>
        <p:nvPicPr>
          <p:cNvPr id="15" name="Picture 14" descr="A graph showing the number of sales&#10;&#10;AI-generated content may be incorrect.">
            <a:extLst>
              <a:ext uri="{FF2B5EF4-FFF2-40B4-BE49-F238E27FC236}">
                <a16:creationId xmlns:a16="http://schemas.microsoft.com/office/drawing/2014/main" id="{4A0ACA69-6264-AFE0-CDA2-E483D7E5F8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6525" y="1655569"/>
            <a:ext cx="5393327" cy="3546862"/>
          </a:xfrm>
          <a:prstGeom prst="rect">
            <a:avLst/>
          </a:prstGeom>
        </p:spPr>
      </p:pic>
      <p:sp>
        <p:nvSpPr>
          <p:cNvPr id="18" name="Arrow: Right 17">
            <a:extLst>
              <a:ext uri="{FF2B5EF4-FFF2-40B4-BE49-F238E27FC236}">
                <a16:creationId xmlns:a16="http://schemas.microsoft.com/office/drawing/2014/main" id="{D56241B4-6EE6-F04F-7F77-5134E040AA02}"/>
              </a:ext>
            </a:extLst>
          </p:cNvPr>
          <p:cNvSpPr/>
          <p:nvPr/>
        </p:nvSpPr>
        <p:spPr>
          <a:xfrm>
            <a:off x="5525485" y="3190529"/>
            <a:ext cx="875315" cy="51401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86134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C3700-D2A7-7907-8AE1-E707B5E7AB0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15D0D6-E230-A25B-C135-F83DFA1A1F43}"/>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Rectangle 4">
            <a:extLst>
              <a:ext uri="{FF2B5EF4-FFF2-40B4-BE49-F238E27FC236}">
                <a16:creationId xmlns:a16="http://schemas.microsoft.com/office/drawing/2014/main" id="{D6EAA8F7-AF3A-DED3-E051-5904E7EC9BBA}"/>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10" name="TextBox 9">
            <a:extLst>
              <a:ext uri="{FF2B5EF4-FFF2-40B4-BE49-F238E27FC236}">
                <a16:creationId xmlns:a16="http://schemas.microsoft.com/office/drawing/2014/main" id="{B41905E0-35D1-3110-9F56-2E75D5C58411}"/>
              </a:ext>
            </a:extLst>
          </p:cNvPr>
          <p:cNvSpPr txBox="1"/>
          <p:nvPr/>
        </p:nvSpPr>
        <p:spPr>
          <a:xfrm>
            <a:off x="503580" y="541907"/>
            <a:ext cx="7666912"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WRONG DEPTH OF DATA</a:t>
            </a:r>
          </a:p>
        </p:txBody>
      </p:sp>
      <p:sp>
        <p:nvSpPr>
          <p:cNvPr id="11" name="TextBox 10">
            <a:extLst>
              <a:ext uri="{FF2B5EF4-FFF2-40B4-BE49-F238E27FC236}">
                <a16:creationId xmlns:a16="http://schemas.microsoft.com/office/drawing/2014/main" id="{811DB992-7FCB-6618-8A02-EB80F87FD0BC}"/>
              </a:ext>
            </a:extLst>
          </p:cNvPr>
          <p:cNvSpPr txBox="1"/>
          <p:nvPr/>
        </p:nvSpPr>
        <p:spPr>
          <a:xfrm>
            <a:off x="509123" y="246742"/>
            <a:ext cx="2124299" cy="461665"/>
          </a:xfrm>
          <a:prstGeom prst="rect">
            <a:avLst/>
          </a:prstGeom>
          <a:noFill/>
        </p:spPr>
        <p:txBody>
          <a:bodyPr wrap="none" rtlCol="0">
            <a:spAutoFit/>
          </a:bodyPr>
          <a:lstStyle/>
          <a:p>
            <a:r>
              <a:rPr lang="fr-FR" sz="2400" dirty="0">
                <a:latin typeface="Montserrat" pitchFamily="2" charset="0"/>
              </a:rPr>
              <a:t>Introduction</a:t>
            </a:r>
          </a:p>
        </p:txBody>
      </p:sp>
      <p:pic>
        <p:nvPicPr>
          <p:cNvPr id="3" name="Picture 2" descr="A graph of blue and red squares&#10;&#10;AI-generated content may be incorrect.">
            <a:extLst>
              <a:ext uri="{FF2B5EF4-FFF2-40B4-BE49-F238E27FC236}">
                <a16:creationId xmlns:a16="http://schemas.microsoft.com/office/drawing/2014/main" id="{B0975DA6-CCE5-BE6F-3B1A-EBA6E38B90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895333"/>
            <a:ext cx="5749558" cy="3878086"/>
          </a:xfrm>
          <a:prstGeom prst="rect">
            <a:avLst/>
          </a:prstGeom>
        </p:spPr>
      </p:pic>
      <p:pic>
        <p:nvPicPr>
          <p:cNvPr id="4098" name="Picture 2" descr="Your chart has too many series: data visualization tips for the non-analyst">
            <a:extLst>
              <a:ext uri="{FF2B5EF4-FFF2-40B4-BE49-F238E27FC236}">
                <a16:creationId xmlns:a16="http://schemas.microsoft.com/office/drawing/2014/main" id="{23E61405-24E2-766B-59E6-D80FE70C20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53132"/>
            <a:ext cx="6158815" cy="336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8669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B1AA5-961A-20A9-CC0E-62DA23C1977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EA6FDC7-4572-7545-A188-0AA6CC104DEB}"/>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Rectangle 4">
            <a:extLst>
              <a:ext uri="{FF2B5EF4-FFF2-40B4-BE49-F238E27FC236}">
                <a16:creationId xmlns:a16="http://schemas.microsoft.com/office/drawing/2014/main" id="{E4E81B87-767B-3A36-78E3-2C5B61E9AC28}"/>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10" name="TextBox 9">
            <a:extLst>
              <a:ext uri="{FF2B5EF4-FFF2-40B4-BE49-F238E27FC236}">
                <a16:creationId xmlns:a16="http://schemas.microsoft.com/office/drawing/2014/main" id="{8AC56ADC-3F6C-7222-67C6-284171C45AF6}"/>
              </a:ext>
            </a:extLst>
          </p:cNvPr>
          <p:cNvSpPr txBox="1"/>
          <p:nvPr/>
        </p:nvSpPr>
        <p:spPr>
          <a:xfrm>
            <a:off x="503580" y="541907"/>
            <a:ext cx="7666912"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ETL PROCESS</a:t>
            </a:r>
          </a:p>
        </p:txBody>
      </p:sp>
      <p:sp>
        <p:nvSpPr>
          <p:cNvPr id="11" name="TextBox 10">
            <a:extLst>
              <a:ext uri="{FF2B5EF4-FFF2-40B4-BE49-F238E27FC236}">
                <a16:creationId xmlns:a16="http://schemas.microsoft.com/office/drawing/2014/main" id="{3E465BB4-F559-0CB3-561C-30D1376598FC}"/>
              </a:ext>
            </a:extLst>
          </p:cNvPr>
          <p:cNvSpPr txBox="1"/>
          <p:nvPr/>
        </p:nvSpPr>
        <p:spPr>
          <a:xfrm>
            <a:off x="509123" y="246742"/>
            <a:ext cx="2124299" cy="461665"/>
          </a:xfrm>
          <a:prstGeom prst="rect">
            <a:avLst/>
          </a:prstGeom>
          <a:noFill/>
        </p:spPr>
        <p:txBody>
          <a:bodyPr wrap="none" rtlCol="0">
            <a:spAutoFit/>
          </a:bodyPr>
          <a:lstStyle/>
          <a:p>
            <a:r>
              <a:rPr lang="fr-FR" sz="2400" dirty="0">
                <a:latin typeface="Montserrat" pitchFamily="2" charset="0"/>
              </a:rPr>
              <a:t>Introduction</a:t>
            </a:r>
          </a:p>
        </p:txBody>
      </p:sp>
      <p:sp>
        <p:nvSpPr>
          <p:cNvPr id="2" name="Rectangle 1">
            <a:extLst>
              <a:ext uri="{FF2B5EF4-FFF2-40B4-BE49-F238E27FC236}">
                <a16:creationId xmlns:a16="http://schemas.microsoft.com/office/drawing/2014/main" id="{BC2477A6-FE73-75B9-B55B-8F560BF1DEF3}"/>
              </a:ext>
            </a:extLst>
          </p:cNvPr>
          <p:cNvSpPr/>
          <p:nvPr/>
        </p:nvSpPr>
        <p:spPr>
          <a:xfrm>
            <a:off x="1308101" y="1439975"/>
            <a:ext cx="2389517" cy="43700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2" name="Cylinder 11">
            <a:extLst>
              <a:ext uri="{FF2B5EF4-FFF2-40B4-BE49-F238E27FC236}">
                <a16:creationId xmlns:a16="http://schemas.microsoft.com/office/drawing/2014/main" id="{431C2DD7-2C8C-2FA3-D586-D59BECD3BEC6}"/>
              </a:ext>
            </a:extLst>
          </p:cNvPr>
          <p:cNvSpPr/>
          <p:nvPr/>
        </p:nvSpPr>
        <p:spPr>
          <a:xfrm>
            <a:off x="1817059" y="2072115"/>
            <a:ext cx="1371600" cy="871268"/>
          </a:xfrm>
          <a:prstGeom prst="ca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Database</a:t>
            </a:r>
          </a:p>
        </p:txBody>
      </p:sp>
      <p:sp>
        <p:nvSpPr>
          <p:cNvPr id="13" name="TextBox 12">
            <a:extLst>
              <a:ext uri="{FF2B5EF4-FFF2-40B4-BE49-F238E27FC236}">
                <a16:creationId xmlns:a16="http://schemas.microsoft.com/office/drawing/2014/main" id="{26077A6E-139C-9818-6307-E496E35CCE37}"/>
              </a:ext>
            </a:extLst>
          </p:cNvPr>
          <p:cNvSpPr txBox="1"/>
          <p:nvPr/>
        </p:nvSpPr>
        <p:spPr>
          <a:xfrm>
            <a:off x="1952067" y="1439975"/>
            <a:ext cx="1101584" cy="369332"/>
          </a:xfrm>
          <a:prstGeom prst="rect">
            <a:avLst/>
          </a:prstGeom>
          <a:noFill/>
        </p:spPr>
        <p:txBody>
          <a:bodyPr wrap="none" rtlCol="0">
            <a:spAutoFit/>
          </a:bodyPr>
          <a:lstStyle/>
          <a:p>
            <a:r>
              <a:rPr lang="en-US" dirty="0"/>
              <a:t>Sources</a:t>
            </a:r>
          </a:p>
        </p:txBody>
      </p:sp>
      <p:grpSp>
        <p:nvGrpSpPr>
          <p:cNvPr id="51" name="Group 50">
            <a:extLst>
              <a:ext uri="{FF2B5EF4-FFF2-40B4-BE49-F238E27FC236}">
                <a16:creationId xmlns:a16="http://schemas.microsoft.com/office/drawing/2014/main" id="{A030F7CD-A721-BF55-2107-35B488BE3011}"/>
              </a:ext>
            </a:extLst>
          </p:cNvPr>
          <p:cNvGrpSpPr/>
          <p:nvPr/>
        </p:nvGrpSpPr>
        <p:grpSpPr>
          <a:xfrm>
            <a:off x="2170877" y="3214556"/>
            <a:ext cx="663964" cy="826066"/>
            <a:chOff x="2170877" y="3214556"/>
            <a:chExt cx="663964" cy="826066"/>
          </a:xfrm>
        </p:grpSpPr>
        <p:grpSp>
          <p:nvGrpSpPr>
            <p:cNvPr id="19" name="Group 18">
              <a:extLst>
                <a:ext uri="{FF2B5EF4-FFF2-40B4-BE49-F238E27FC236}">
                  <a16:creationId xmlns:a16="http://schemas.microsoft.com/office/drawing/2014/main" id="{946A7940-1767-528E-E8CB-E658CB08DB10}"/>
                </a:ext>
              </a:extLst>
            </p:cNvPr>
            <p:cNvGrpSpPr/>
            <p:nvPr/>
          </p:nvGrpSpPr>
          <p:grpSpPr>
            <a:xfrm>
              <a:off x="2181525" y="3214556"/>
              <a:ext cx="642668" cy="826066"/>
              <a:chOff x="4615132" y="1439975"/>
              <a:chExt cx="908649" cy="1147950"/>
            </a:xfrm>
          </p:grpSpPr>
          <p:sp>
            <p:nvSpPr>
              <p:cNvPr id="14" name="Rectangle 13">
                <a:extLst>
                  <a:ext uri="{FF2B5EF4-FFF2-40B4-BE49-F238E27FC236}">
                    <a16:creationId xmlns:a16="http://schemas.microsoft.com/office/drawing/2014/main" id="{6A9C3465-6F08-E564-656A-9C3179855ED7}"/>
                  </a:ext>
                </a:extLst>
              </p:cNvPr>
              <p:cNvSpPr/>
              <p:nvPr/>
            </p:nvSpPr>
            <p:spPr>
              <a:xfrm>
                <a:off x="4615132" y="1439975"/>
                <a:ext cx="908649" cy="11479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F345F892-EB01-D265-570F-7EBFF903690A}"/>
                  </a:ext>
                </a:extLst>
              </p:cNvPr>
              <p:cNvSpPr/>
              <p:nvPr/>
            </p:nvSpPr>
            <p:spPr>
              <a:xfrm>
                <a:off x="4691331" y="1508925"/>
                <a:ext cx="756250" cy="8431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Oval 16">
                <a:extLst>
                  <a:ext uri="{FF2B5EF4-FFF2-40B4-BE49-F238E27FC236}">
                    <a16:creationId xmlns:a16="http://schemas.microsoft.com/office/drawing/2014/main" id="{F7773DB8-3020-7AB2-A92D-9777A3BF0CF8}"/>
                  </a:ext>
                </a:extLst>
              </p:cNvPr>
              <p:cNvSpPr/>
              <p:nvPr/>
            </p:nvSpPr>
            <p:spPr>
              <a:xfrm>
                <a:off x="5005956" y="2432050"/>
                <a:ext cx="127000" cy="1156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1" name="TextBox 30">
              <a:extLst>
                <a:ext uri="{FF2B5EF4-FFF2-40B4-BE49-F238E27FC236}">
                  <a16:creationId xmlns:a16="http://schemas.microsoft.com/office/drawing/2014/main" id="{DAA6C606-BFF2-F8B7-D78E-60D0A12E41B0}"/>
                </a:ext>
              </a:extLst>
            </p:cNvPr>
            <p:cNvSpPr txBox="1"/>
            <p:nvPr/>
          </p:nvSpPr>
          <p:spPr>
            <a:xfrm>
              <a:off x="2170877" y="3401765"/>
              <a:ext cx="663964" cy="369332"/>
            </a:xfrm>
            <a:prstGeom prst="rect">
              <a:avLst/>
            </a:prstGeom>
            <a:noFill/>
          </p:spPr>
          <p:txBody>
            <a:bodyPr wrap="none" rtlCol="0">
              <a:spAutoFit/>
            </a:bodyPr>
            <a:lstStyle/>
            <a:p>
              <a:r>
                <a:rPr lang="en-US" dirty="0"/>
                <a:t>App</a:t>
              </a:r>
            </a:p>
          </p:txBody>
        </p:sp>
      </p:grpSp>
      <p:sp>
        <p:nvSpPr>
          <p:cNvPr id="32" name="Flowchart: Multidocument 31">
            <a:extLst>
              <a:ext uri="{FF2B5EF4-FFF2-40B4-BE49-F238E27FC236}">
                <a16:creationId xmlns:a16="http://schemas.microsoft.com/office/drawing/2014/main" id="{FB201780-75EE-CF60-D661-DF20DCAB2B0F}"/>
              </a:ext>
            </a:extLst>
          </p:cNvPr>
          <p:cNvSpPr/>
          <p:nvPr/>
        </p:nvSpPr>
        <p:spPr>
          <a:xfrm>
            <a:off x="1921176" y="4344925"/>
            <a:ext cx="1163366" cy="826066"/>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Flat Files</a:t>
            </a:r>
          </a:p>
        </p:txBody>
      </p:sp>
      <p:sp>
        <p:nvSpPr>
          <p:cNvPr id="33" name="TextBox 32">
            <a:extLst>
              <a:ext uri="{FF2B5EF4-FFF2-40B4-BE49-F238E27FC236}">
                <a16:creationId xmlns:a16="http://schemas.microsoft.com/office/drawing/2014/main" id="{694AED0F-28FE-9194-41D5-C122809162EA}"/>
              </a:ext>
            </a:extLst>
          </p:cNvPr>
          <p:cNvSpPr txBox="1"/>
          <p:nvPr/>
        </p:nvSpPr>
        <p:spPr>
          <a:xfrm flipH="1">
            <a:off x="2235419" y="5332018"/>
            <a:ext cx="360681" cy="369332"/>
          </a:xfrm>
          <a:prstGeom prst="rect">
            <a:avLst/>
          </a:prstGeom>
          <a:noFill/>
        </p:spPr>
        <p:txBody>
          <a:bodyPr wrap="square" rtlCol="0">
            <a:spAutoFit/>
          </a:bodyPr>
          <a:lstStyle/>
          <a:p>
            <a:r>
              <a:rPr lang="en-US" dirty="0"/>
              <a:t>…</a:t>
            </a:r>
          </a:p>
        </p:txBody>
      </p:sp>
      <p:sp>
        <p:nvSpPr>
          <p:cNvPr id="34" name="Isosceles Triangle 33">
            <a:extLst>
              <a:ext uri="{FF2B5EF4-FFF2-40B4-BE49-F238E27FC236}">
                <a16:creationId xmlns:a16="http://schemas.microsoft.com/office/drawing/2014/main" id="{0F3FF585-D408-7E78-3D1B-B4E0CB01BD62}"/>
              </a:ext>
            </a:extLst>
          </p:cNvPr>
          <p:cNvSpPr/>
          <p:nvPr/>
        </p:nvSpPr>
        <p:spPr>
          <a:xfrm rot="16200000">
            <a:off x="3968517" y="2932127"/>
            <a:ext cx="1173193" cy="1043796"/>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Isosceles Triangle 34">
            <a:extLst>
              <a:ext uri="{FF2B5EF4-FFF2-40B4-BE49-F238E27FC236}">
                <a16:creationId xmlns:a16="http://schemas.microsoft.com/office/drawing/2014/main" id="{161DD624-D0CB-001C-799B-CBFC55E3FD66}"/>
              </a:ext>
            </a:extLst>
          </p:cNvPr>
          <p:cNvSpPr/>
          <p:nvPr/>
        </p:nvSpPr>
        <p:spPr>
          <a:xfrm rot="5400000">
            <a:off x="7795771" y="2929970"/>
            <a:ext cx="1173193" cy="1043796"/>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Isosceles Triangle 35">
            <a:extLst>
              <a:ext uri="{FF2B5EF4-FFF2-40B4-BE49-F238E27FC236}">
                <a16:creationId xmlns:a16="http://schemas.microsoft.com/office/drawing/2014/main" id="{D7B93CF3-257D-D3C1-2F8F-8CAA72A9FCBE}"/>
              </a:ext>
            </a:extLst>
          </p:cNvPr>
          <p:cNvSpPr/>
          <p:nvPr/>
        </p:nvSpPr>
        <p:spPr>
          <a:xfrm rot="16200000">
            <a:off x="6411096" y="2929969"/>
            <a:ext cx="1173193" cy="1043796"/>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612FCF3E-CFA7-05E6-1C94-0F765CB3F930}"/>
              </a:ext>
            </a:extLst>
          </p:cNvPr>
          <p:cNvSpPr/>
          <p:nvPr/>
        </p:nvSpPr>
        <p:spPr>
          <a:xfrm rot="5400000">
            <a:off x="5367299" y="2929969"/>
            <a:ext cx="1173193" cy="1043796"/>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 name="TextBox 37">
            <a:extLst>
              <a:ext uri="{FF2B5EF4-FFF2-40B4-BE49-F238E27FC236}">
                <a16:creationId xmlns:a16="http://schemas.microsoft.com/office/drawing/2014/main" id="{70B2713F-CC5E-D56E-AC0D-867E19D45FBB}"/>
              </a:ext>
            </a:extLst>
          </p:cNvPr>
          <p:cNvSpPr txBox="1"/>
          <p:nvPr/>
        </p:nvSpPr>
        <p:spPr>
          <a:xfrm>
            <a:off x="3974040" y="2495938"/>
            <a:ext cx="1007007" cy="369332"/>
          </a:xfrm>
          <a:prstGeom prst="rect">
            <a:avLst/>
          </a:prstGeom>
          <a:noFill/>
        </p:spPr>
        <p:txBody>
          <a:bodyPr wrap="none" rtlCol="0">
            <a:spAutoFit/>
          </a:bodyPr>
          <a:lstStyle/>
          <a:p>
            <a:r>
              <a:rPr lang="en-US" dirty="0"/>
              <a:t>Extract</a:t>
            </a:r>
          </a:p>
        </p:txBody>
      </p:sp>
      <p:sp>
        <p:nvSpPr>
          <p:cNvPr id="39" name="TextBox 38">
            <a:extLst>
              <a:ext uri="{FF2B5EF4-FFF2-40B4-BE49-F238E27FC236}">
                <a16:creationId xmlns:a16="http://schemas.microsoft.com/office/drawing/2014/main" id="{63BEED87-3CAE-5AAB-3B3E-023805192596}"/>
              </a:ext>
            </a:extLst>
          </p:cNvPr>
          <p:cNvSpPr txBox="1"/>
          <p:nvPr/>
        </p:nvSpPr>
        <p:spPr>
          <a:xfrm>
            <a:off x="5787945" y="2495938"/>
            <a:ext cx="1375698" cy="369332"/>
          </a:xfrm>
          <a:prstGeom prst="rect">
            <a:avLst/>
          </a:prstGeom>
          <a:noFill/>
        </p:spPr>
        <p:txBody>
          <a:bodyPr wrap="none" rtlCol="0">
            <a:spAutoFit/>
          </a:bodyPr>
          <a:lstStyle/>
          <a:p>
            <a:r>
              <a:rPr lang="en-US" dirty="0"/>
              <a:t>Transform</a:t>
            </a:r>
          </a:p>
        </p:txBody>
      </p:sp>
      <p:sp>
        <p:nvSpPr>
          <p:cNvPr id="40" name="TextBox 39">
            <a:extLst>
              <a:ext uri="{FF2B5EF4-FFF2-40B4-BE49-F238E27FC236}">
                <a16:creationId xmlns:a16="http://schemas.microsoft.com/office/drawing/2014/main" id="{6CC9766E-4E6F-94DF-C420-F21BC815DDFF}"/>
              </a:ext>
            </a:extLst>
          </p:cNvPr>
          <p:cNvSpPr txBox="1"/>
          <p:nvPr/>
        </p:nvSpPr>
        <p:spPr>
          <a:xfrm>
            <a:off x="8086550" y="2495938"/>
            <a:ext cx="758541" cy="369332"/>
          </a:xfrm>
          <a:prstGeom prst="rect">
            <a:avLst/>
          </a:prstGeom>
          <a:noFill/>
        </p:spPr>
        <p:txBody>
          <a:bodyPr wrap="none" rtlCol="0">
            <a:spAutoFit/>
          </a:bodyPr>
          <a:lstStyle/>
          <a:p>
            <a:r>
              <a:rPr lang="en-US" dirty="0"/>
              <a:t>Load</a:t>
            </a:r>
          </a:p>
        </p:txBody>
      </p:sp>
      <p:sp>
        <p:nvSpPr>
          <p:cNvPr id="41" name="Rectangle 40">
            <a:extLst>
              <a:ext uri="{FF2B5EF4-FFF2-40B4-BE49-F238E27FC236}">
                <a16:creationId xmlns:a16="http://schemas.microsoft.com/office/drawing/2014/main" id="{09A18477-B78E-871A-80DD-7E0A36F35F45}"/>
              </a:ext>
            </a:extLst>
          </p:cNvPr>
          <p:cNvSpPr/>
          <p:nvPr/>
        </p:nvSpPr>
        <p:spPr>
          <a:xfrm>
            <a:off x="9471225" y="1439975"/>
            <a:ext cx="2389517" cy="43700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42" name="TextBox 41">
            <a:extLst>
              <a:ext uri="{FF2B5EF4-FFF2-40B4-BE49-F238E27FC236}">
                <a16:creationId xmlns:a16="http://schemas.microsoft.com/office/drawing/2014/main" id="{C7393043-9485-C7C2-A676-94A322273E45}"/>
              </a:ext>
            </a:extLst>
          </p:cNvPr>
          <p:cNvSpPr txBox="1"/>
          <p:nvPr/>
        </p:nvSpPr>
        <p:spPr>
          <a:xfrm>
            <a:off x="10115191" y="1439975"/>
            <a:ext cx="1050288" cy="369332"/>
          </a:xfrm>
          <a:prstGeom prst="rect">
            <a:avLst/>
          </a:prstGeom>
          <a:noFill/>
        </p:spPr>
        <p:txBody>
          <a:bodyPr wrap="none" rtlCol="0">
            <a:spAutoFit/>
          </a:bodyPr>
          <a:lstStyle/>
          <a:p>
            <a:r>
              <a:rPr lang="en-US" dirty="0"/>
              <a:t>Targets</a:t>
            </a:r>
          </a:p>
        </p:txBody>
      </p:sp>
      <p:sp>
        <p:nvSpPr>
          <p:cNvPr id="44" name="Cylinder 43">
            <a:extLst>
              <a:ext uri="{FF2B5EF4-FFF2-40B4-BE49-F238E27FC236}">
                <a16:creationId xmlns:a16="http://schemas.microsoft.com/office/drawing/2014/main" id="{7DE42994-3ADA-BAC5-006F-091956CC7482}"/>
              </a:ext>
            </a:extLst>
          </p:cNvPr>
          <p:cNvSpPr/>
          <p:nvPr/>
        </p:nvSpPr>
        <p:spPr>
          <a:xfrm>
            <a:off x="9968388" y="2072115"/>
            <a:ext cx="1572532" cy="871268"/>
          </a:xfrm>
          <a:prstGeom prst="ca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Data warehouse</a:t>
            </a:r>
          </a:p>
        </p:txBody>
      </p:sp>
      <p:sp>
        <p:nvSpPr>
          <p:cNvPr id="45" name="Cylinder 44">
            <a:extLst>
              <a:ext uri="{FF2B5EF4-FFF2-40B4-BE49-F238E27FC236}">
                <a16:creationId xmlns:a16="http://schemas.microsoft.com/office/drawing/2014/main" id="{D2C2E4E3-FC93-D59A-8A6D-637343C5D3BF}"/>
              </a:ext>
            </a:extLst>
          </p:cNvPr>
          <p:cNvSpPr/>
          <p:nvPr/>
        </p:nvSpPr>
        <p:spPr>
          <a:xfrm>
            <a:off x="9971342" y="3167196"/>
            <a:ext cx="1572532" cy="871268"/>
          </a:xfrm>
          <a:prstGeom prst="ca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Database</a:t>
            </a:r>
          </a:p>
        </p:txBody>
      </p:sp>
      <p:sp>
        <p:nvSpPr>
          <p:cNvPr id="47" name="TextBox 46">
            <a:extLst>
              <a:ext uri="{FF2B5EF4-FFF2-40B4-BE49-F238E27FC236}">
                <a16:creationId xmlns:a16="http://schemas.microsoft.com/office/drawing/2014/main" id="{3232CFC4-2742-63F3-5F0C-9BE89C64368E}"/>
              </a:ext>
            </a:extLst>
          </p:cNvPr>
          <p:cNvSpPr txBox="1"/>
          <p:nvPr/>
        </p:nvSpPr>
        <p:spPr>
          <a:xfrm flipH="1">
            <a:off x="10523218" y="4757958"/>
            <a:ext cx="360681" cy="369332"/>
          </a:xfrm>
          <a:prstGeom prst="rect">
            <a:avLst/>
          </a:prstGeom>
          <a:noFill/>
        </p:spPr>
        <p:txBody>
          <a:bodyPr wrap="square" rtlCol="0">
            <a:spAutoFit/>
          </a:bodyPr>
          <a:lstStyle/>
          <a:p>
            <a:r>
              <a:rPr lang="en-US" dirty="0"/>
              <a:t>…</a:t>
            </a:r>
          </a:p>
        </p:txBody>
      </p:sp>
      <p:cxnSp>
        <p:nvCxnSpPr>
          <p:cNvPr id="49" name="Straight Arrow Connector 48">
            <a:extLst>
              <a:ext uri="{FF2B5EF4-FFF2-40B4-BE49-F238E27FC236}">
                <a16:creationId xmlns:a16="http://schemas.microsoft.com/office/drawing/2014/main" id="{BBAC1602-7BFB-B055-5E8E-B52D957EEA4F}"/>
              </a:ext>
            </a:extLst>
          </p:cNvPr>
          <p:cNvCxnSpPr/>
          <p:nvPr/>
        </p:nvCxnSpPr>
        <p:spPr>
          <a:xfrm>
            <a:off x="4033215" y="4684143"/>
            <a:ext cx="48710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F7F4E747-5077-51D3-0FFC-7328923D7902}"/>
              </a:ext>
            </a:extLst>
          </p:cNvPr>
          <p:cNvSpPr txBox="1"/>
          <p:nvPr/>
        </p:nvSpPr>
        <p:spPr>
          <a:xfrm>
            <a:off x="3974040" y="1748949"/>
            <a:ext cx="1308371" cy="646331"/>
          </a:xfrm>
          <a:prstGeom prst="rect">
            <a:avLst/>
          </a:prstGeom>
          <a:noFill/>
        </p:spPr>
        <p:txBody>
          <a:bodyPr wrap="none" rtlCol="0">
            <a:spAutoFit/>
          </a:bodyPr>
          <a:lstStyle/>
          <a:p>
            <a:r>
              <a:rPr lang="en-US" i="1" dirty="0">
                <a:solidFill>
                  <a:srgbClr val="C00000"/>
                </a:solidFill>
              </a:rPr>
              <a:t>Data </a:t>
            </a:r>
          </a:p>
          <a:p>
            <a:r>
              <a:rPr lang="en-US" i="1" dirty="0">
                <a:solidFill>
                  <a:srgbClr val="C00000"/>
                </a:solidFill>
              </a:rPr>
              <a:t>collection</a:t>
            </a:r>
          </a:p>
        </p:txBody>
      </p:sp>
      <p:sp>
        <p:nvSpPr>
          <p:cNvPr id="53" name="TextBox 52">
            <a:extLst>
              <a:ext uri="{FF2B5EF4-FFF2-40B4-BE49-F238E27FC236}">
                <a16:creationId xmlns:a16="http://schemas.microsoft.com/office/drawing/2014/main" id="{F13E37D5-7718-4734-718E-408EF5E091B6}"/>
              </a:ext>
            </a:extLst>
          </p:cNvPr>
          <p:cNvSpPr txBox="1"/>
          <p:nvPr/>
        </p:nvSpPr>
        <p:spPr>
          <a:xfrm>
            <a:off x="5539530" y="1748949"/>
            <a:ext cx="1935145" cy="369332"/>
          </a:xfrm>
          <a:prstGeom prst="rect">
            <a:avLst/>
          </a:prstGeom>
          <a:noFill/>
        </p:spPr>
        <p:txBody>
          <a:bodyPr wrap="none" rtlCol="0">
            <a:spAutoFit/>
          </a:bodyPr>
          <a:lstStyle/>
          <a:p>
            <a:pPr algn="ctr"/>
            <a:r>
              <a:rPr lang="en-US" i="1" dirty="0">
                <a:solidFill>
                  <a:srgbClr val="C00000"/>
                </a:solidFill>
              </a:rPr>
              <a:t>Pre-processing</a:t>
            </a:r>
          </a:p>
        </p:txBody>
      </p:sp>
      <p:sp>
        <p:nvSpPr>
          <p:cNvPr id="54" name="TextBox 53">
            <a:extLst>
              <a:ext uri="{FF2B5EF4-FFF2-40B4-BE49-F238E27FC236}">
                <a16:creationId xmlns:a16="http://schemas.microsoft.com/office/drawing/2014/main" id="{19158DFC-AAB6-504C-4980-7F67B77EF424}"/>
              </a:ext>
            </a:extLst>
          </p:cNvPr>
          <p:cNvSpPr txBox="1"/>
          <p:nvPr/>
        </p:nvSpPr>
        <p:spPr>
          <a:xfrm>
            <a:off x="8010570" y="1748949"/>
            <a:ext cx="986168" cy="369332"/>
          </a:xfrm>
          <a:prstGeom prst="rect">
            <a:avLst/>
          </a:prstGeom>
          <a:noFill/>
        </p:spPr>
        <p:txBody>
          <a:bodyPr wrap="none" rtlCol="0">
            <a:spAutoFit/>
          </a:bodyPr>
          <a:lstStyle/>
          <a:p>
            <a:pPr algn="ctr"/>
            <a:r>
              <a:rPr lang="en-US" i="1" dirty="0">
                <a:solidFill>
                  <a:srgbClr val="C00000"/>
                </a:solidFill>
              </a:rPr>
              <a:t>Saving</a:t>
            </a:r>
          </a:p>
        </p:txBody>
      </p:sp>
    </p:spTree>
    <p:extLst>
      <p:ext uri="{BB962C8B-B14F-4D97-AF65-F5344CB8AC3E}">
        <p14:creationId xmlns:p14="http://schemas.microsoft.com/office/powerpoint/2010/main" val="285488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500"/>
                                        <p:tgtEl>
                                          <p:spTgt spid="4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fade">
                                      <p:cBhvr>
                                        <p:cTn id="20" dur="500"/>
                                        <p:tgtEl>
                                          <p:spTgt spid="4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500"/>
                                        <p:tgtEl>
                                          <p:spTgt spid="41"/>
                                        </p:tgtEl>
                                      </p:cBhvr>
                                    </p:animEffect>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childTnLst>
                                </p:cTn>
                              </p:par>
                            </p:childTnLst>
                          </p:cTn>
                        </p:par>
                        <p:par>
                          <p:cTn id="32" fill="hold">
                            <p:stCondLst>
                              <p:cond delay="1500"/>
                            </p:stCondLst>
                            <p:childTnLst>
                              <p:par>
                                <p:cTn id="33" presetID="10" presetClass="entr" presetSubtype="0" fill="hold" grpId="0" nodeType="after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childTnLst>
                                </p:cTn>
                              </p:par>
                            </p:childTnLst>
                          </p:cTn>
                        </p:par>
                        <p:par>
                          <p:cTn id="40" fill="hold">
                            <p:stCondLst>
                              <p:cond delay="2500"/>
                            </p:stCondLst>
                            <p:childTnLst>
                              <p:par>
                                <p:cTn id="41" presetID="10" presetClass="entr" presetSubtype="0" fill="hold" grpId="0" nodeType="after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500"/>
                                        <p:tgtEl>
                                          <p:spTgt spid="44"/>
                                        </p:tgtEl>
                                      </p:cBhvr>
                                    </p:animEffect>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500"/>
                                        <p:tgtEl>
                                          <p:spTgt spid="45"/>
                                        </p:tgtEl>
                                      </p:cBhvr>
                                    </p:animEffect>
                                  </p:childTnLst>
                                </p:cTn>
                              </p:par>
                            </p:childTnLst>
                          </p:cTn>
                        </p:par>
                        <p:par>
                          <p:cTn id="48" fill="hold">
                            <p:stCondLst>
                              <p:cond delay="3500"/>
                            </p:stCondLst>
                            <p:childTnLst>
                              <p:par>
                                <p:cTn id="49" presetID="10" presetClass="entr" presetSubtype="0" fill="hold" grpId="0" nodeType="afterEffect">
                                  <p:stCondLst>
                                    <p:cond delay="0"/>
                                  </p:stCondLst>
                                  <p:childTnLst>
                                    <p:set>
                                      <p:cBhvr>
                                        <p:cTn id="50" dur="1" fill="hold">
                                          <p:stCondLst>
                                            <p:cond delay="0"/>
                                          </p:stCondLst>
                                        </p:cTn>
                                        <p:tgtEl>
                                          <p:spTgt spid="47"/>
                                        </p:tgtEl>
                                        <p:attrNameLst>
                                          <p:attrName>style.visibility</p:attrName>
                                        </p:attrNameLst>
                                      </p:cBhvr>
                                      <p:to>
                                        <p:strVal val="visible"/>
                                      </p:to>
                                    </p:set>
                                    <p:animEffect transition="in" filter="fade">
                                      <p:cBhvr>
                                        <p:cTn id="51" dur="500"/>
                                        <p:tgtEl>
                                          <p:spTgt spid="4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500"/>
                                        <p:tgtEl>
                                          <p:spTgt spid="3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00"/>
                                        <p:tgtEl>
                                          <p:spTgt spid="3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500"/>
                                        <p:tgtEl>
                                          <p:spTgt spid="3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500"/>
                                        <p:tgtEl>
                                          <p:spTgt spid="37"/>
                                        </p:tgtEl>
                                      </p:cBhvr>
                                    </p:animEffect>
                                  </p:childTnLst>
                                </p:cTn>
                              </p:par>
                            </p:childTnLst>
                          </p:cTn>
                        </p:par>
                        <p:par>
                          <p:cTn id="68" fill="hold">
                            <p:stCondLst>
                              <p:cond delay="500"/>
                            </p:stCondLst>
                            <p:childTnLst>
                              <p:par>
                                <p:cTn id="69" presetID="10" presetClass="entr" presetSubtype="0"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00"/>
                                        <p:tgtEl>
                                          <p:spTgt spid="36"/>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40"/>
                                        </p:tgtEl>
                                        <p:attrNameLst>
                                          <p:attrName>style.visibility</p:attrName>
                                        </p:attrNameLst>
                                      </p:cBhvr>
                                      <p:to>
                                        <p:strVal val="visible"/>
                                      </p:to>
                                    </p:set>
                                    <p:animEffect transition="in" filter="fade">
                                      <p:cBhvr>
                                        <p:cTn id="76" dur="500"/>
                                        <p:tgtEl>
                                          <p:spTgt spid="4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5"/>
                                        </p:tgtEl>
                                        <p:attrNameLst>
                                          <p:attrName>style.visibility</p:attrName>
                                        </p:attrNameLst>
                                      </p:cBhvr>
                                      <p:to>
                                        <p:strVal val="visible"/>
                                      </p:to>
                                    </p:set>
                                    <p:animEffect transition="in" filter="fade">
                                      <p:cBhvr>
                                        <p:cTn id="79" dur="500"/>
                                        <p:tgtEl>
                                          <p:spTgt spid="3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52"/>
                                        </p:tgtEl>
                                        <p:attrNameLst>
                                          <p:attrName>style.visibility</p:attrName>
                                        </p:attrNameLst>
                                      </p:cBhvr>
                                      <p:to>
                                        <p:strVal val="visible"/>
                                      </p:to>
                                    </p:set>
                                    <p:animEffect transition="in" filter="fade">
                                      <p:cBhvr>
                                        <p:cTn id="84" dur="500"/>
                                        <p:tgtEl>
                                          <p:spTgt spid="52"/>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53"/>
                                        </p:tgtEl>
                                        <p:attrNameLst>
                                          <p:attrName>style.visibility</p:attrName>
                                        </p:attrNameLst>
                                      </p:cBhvr>
                                      <p:to>
                                        <p:strVal val="visible"/>
                                      </p:to>
                                    </p:set>
                                    <p:animEffect transition="in" filter="fade">
                                      <p:cBhvr>
                                        <p:cTn id="89" dur="500"/>
                                        <p:tgtEl>
                                          <p:spTgt spid="53"/>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54"/>
                                        </p:tgtEl>
                                        <p:attrNameLst>
                                          <p:attrName>style.visibility</p:attrName>
                                        </p:attrNameLst>
                                      </p:cBhvr>
                                      <p:to>
                                        <p:strVal val="visible"/>
                                      </p:to>
                                    </p:set>
                                    <p:animEffect transition="in" filter="fade">
                                      <p:cBhvr>
                                        <p:cTn id="9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animBg="1"/>
      <p:bldP spid="13" grpId="0"/>
      <p:bldP spid="32" grpId="0" animBg="1"/>
      <p:bldP spid="33" grpId="0"/>
      <p:bldP spid="34" grpId="0" animBg="1"/>
      <p:bldP spid="35" grpId="0" animBg="1"/>
      <p:bldP spid="36" grpId="0" animBg="1"/>
      <p:bldP spid="37" grpId="0" animBg="1"/>
      <p:bldP spid="38" grpId="0"/>
      <p:bldP spid="39" grpId="0"/>
      <p:bldP spid="40" grpId="0"/>
      <p:bldP spid="41" grpId="0" animBg="1"/>
      <p:bldP spid="42" grpId="0"/>
      <p:bldP spid="44" grpId="0" animBg="1"/>
      <p:bldP spid="45" grpId="0" animBg="1"/>
      <p:bldP spid="47" grpId="0"/>
      <p:bldP spid="52" grpId="0"/>
      <p:bldP spid="53" grpId="0"/>
      <p:bldP spid="5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75F5A-FB88-F692-1197-C4102CAD478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0D507C1-ACEC-B256-C616-D43A339CD136}"/>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Rectangle 4">
            <a:extLst>
              <a:ext uri="{FF2B5EF4-FFF2-40B4-BE49-F238E27FC236}">
                <a16:creationId xmlns:a16="http://schemas.microsoft.com/office/drawing/2014/main" id="{E7285691-806F-C70E-533A-DA0F796C9D1E}"/>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10" name="TextBox 9">
            <a:extLst>
              <a:ext uri="{FF2B5EF4-FFF2-40B4-BE49-F238E27FC236}">
                <a16:creationId xmlns:a16="http://schemas.microsoft.com/office/drawing/2014/main" id="{BDD8AFC6-C583-76E0-7022-0EAE9062817F}"/>
              </a:ext>
            </a:extLst>
          </p:cNvPr>
          <p:cNvSpPr txBox="1"/>
          <p:nvPr/>
        </p:nvSpPr>
        <p:spPr>
          <a:xfrm>
            <a:off x="503580" y="541907"/>
            <a:ext cx="7666912"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DATA CLEANING PROCESS</a:t>
            </a:r>
          </a:p>
        </p:txBody>
      </p:sp>
      <p:sp>
        <p:nvSpPr>
          <p:cNvPr id="11" name="TextBox 10">
            <a:extLst>
              <a:ext uri="{FF2B5EF4-FFF2-40B4-BE49-F238E27FC236}">
                <a16:creationId xmlns:a16="http://schemas.microsoft.com/office/drawing/2014/main" id="{77E752E2-3C1A-CFF1-C50F-6DBB9F32D5F1}"/>
              </a:ext>
            </a:extLst>
          </p:cNvPr>
          <p:cNvSpPr txBox="1"/>
          <p:nvPr/>
        </p:nvSpPr>
        <p:spPr>
          <a:xfrm>
            <a:off x="509123" y="246742"/>
            <a:ext cx="2124299" cy="461665"/>
          </a:xfrm>
          <a:prstGeom prst="rect">
            <a:avLst/>
          </a:prstGeom>
          <a:noFill/>
        </p:spPr>
        <p:txBody>
          <a:bodyPr wrap="none" rtlCol="0">
            <a:spAutoFit/>
          </a:bodyPr>
          <a:lstStyle/>
          <a:p>
            <a:r>
              <a:rPr lang="fr-FR" sz="2400" dirty="0">
                <a:latin typeface="Montserrat" pitchFamily="2" charset="0"/>
              </a:rPr>
              <a:t>Introduction</a:t>
            </a:r>
          </a:p>
        </p:txBody>
      </p:sp>
      <p:sp>
        <p:nvSpPr>
          <p:cNvPr id="3" name="Rectangle: Rounded Corners 2">
            <a:extLst>
              <a:ext uri="{FF2B5EF4-FFF2-40B4-BE49-F238E27FC236}">
                <a16:creationId xmlns:a16="http://schemas.microsoft.com/office/drawing/2014/main" id="{566A7499-2299-3918-2226-70C526DDBF44}"/>
              </a:ext>
            </a:extLst>
          </p:cNvPr>
          <p:cNvSpPr/>
          <p:nvPr/>
        </p:nvSpPr>
        <p:spPr>
          <a:xfrm>
            <a:off x="737549" y="3266660"/>
            <a:ext cx="2091448" cy="1566038"/>
          </a:xfrm>
          <a:prstGeom prst="roundRect">
            <a:avLst>
              <a:gd name="adj" fmla="val 6171"/>
            </a:avLst>
          </a:prstGeom>
          <a:solidFill>
            <a:schemeClr val="bg1"/>
          </a:solidFill>
          <a:ln w="22225">
            <a:solidFill>
              <a:srgbClr val="D3242A"/>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2E62268-8D34-B5B6-9B92-D0BC0E3B359F}"/>
              </a:ext>
            </a:extLst>
          </p:cNvPr>
          <p:cNvSpPr txBox="1"/>
          <p:nvPr/>
        </p:nvSpPr>
        <p:spPr>
          <a:xfrm>
            <a:off x="928549" y="3865013"/>
            <a:ext cx="1709446" cy="646331"/>
          </a:xfrm>
          <a:prstGeom prst="rect">
            <a:avLst/>
          </a:prstGeom>
          <a:noFill/>
        </p:spPr>
        <p:txBody>
          <a:bodyPr wrap="square" rtlCol="0">
            <a:spAutoFit/>
          </a:bodyPr>
          <a:lstStyle/>
          <a:p>
            <a:pPr algn="ctr">
              <a:spcBef>
                <a:spcPts val="600"/>
              </a:spcBef>
            </a:pPr>
            <a:r>
              <a:rPr lang="en-US" dirty="0">
                <a:latin typeface="Montserrat" pitchFamily="2" charset="0"/>
              </a:rPr>
              <a:t>Assess the data quality</a:t>
            </a:r>
          </a:p>
        </p:txBody>
      </p:sp>
      <p:sp>
        <p:nvSpPr>
          <p:cNvPr id="18" name="Arrow: Chevron 17">
            <a:extLst>
              <a:ext uri="{FF2B5EF4-FFF2-40B4-BE49-F238E27FC236}">
                <a16:creationId xmlns:a16="http://schemas.microsoft.com/office/drawing/2014/main" id="{A9CC9880-4BD7-F9C3-36C9-25C8A23B59EC}"/>
              </a:ext>
            </a:extLst>
          </p:cNvPr>
          <p:cNvSpPr/>
          <p:nvPr/>
        </p:nvSpPr>
        <p:spPr>
          <a:xfrm>
            <a:off x="3134642" y="3880141"/>
            <a:ext cx="180782" cy="339075"/>
          </a:xfrm>
          <a:prstGeom prst="chevron">
            <a:avLst>
              <a:gd name="adj" fmla="val 62905"/>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TextBox 19">
            <a:extLst>
              <a:ext uri="{FF2B5EF4-FFF2-40B4-BE49-F238E27FC236}">
                <a16:creationId xmlns:a16="http://schemas.microsoft.com/office/drawing/2014/main" id="{5080BF60-9947-8ED2-A42C-DE5CA37C4C4C}"/>
              </a:ext>
            </a:extLst>
          </p:cNvPr>
          <p:cNvSpPr txBox="1"/>
          <p:nvPr/>
        </p:nvSpPr>
        <p:spPr>
          <a:xfrm>
            <a:off x="1425196" y="3288635"/>
            <a:ext cx="716152" cy="646331"/>
          </a:xfrm>
          <a:prstGeom prst="rect">
            <a:avLst/>
          </a:prstGeom>
          <a:noFill/>
        </p:spPr>
        <p:txBody>
          <a:bodyPr wrap="square" rtlCol="0">
            <a:spAutoFit/>
          </a:bodyPr>
          <a:lstStyle/>
          <a:p>
            <a:r>
              <a:rPr lang="en-US" sz="3600" b="1" dirty="0"/>
              <a:t>01</a:t>
            </a:r>
          </a:p>
        </p:txBody>
      </p:sp>
      <p:sp>
        <p:nvSpPr>
          <p:cNvPr id="21" name="Rectangle: Rounded Corners 20">
            <a:extLst>
              <a:ext uri="{FF2B5EF4-FFF2-40B4-BE49-F238E27FC236}">
                <a16:creationId xmlns:a16="http://schemas.microsoft.com/office/drawing/2014/main" id="{B9FB7630-53CF-F2C7-3618-789780E9B1C4}"/>
              </a:ext>
            </a:extLst>
          </p:cNvPr>
          <p:cNvSpPr/>
          <p:nvPr/>
        </p:nvSpPr>
        <p:spPr>
          <a:xfrm>
            <a:off x="3621069" y="3265071"/>
            <a:ext cx="2091448" cy="1566038"/>
          </a:xfrm>
          <a:prstGeom prst="roundRect">
            <a:avLst>
              <a:gd name="adj" fmla="val 6171"/>
            </a:avLst>
          </a:prstGeom>
          <a:solidFill>
            <a:schemeClr val="bg1"/>
          </a:solidFill>
          <a:ln w="22225">
            <a:solidFill>
              <a:srgbClr val="D3242A"/>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993A8FF-A8F7-72BB-BE9B-69B0D56F8EB7}"/>
              </a:ext>
            </a:extLst>
          </p:cNvPr>
          <p:cNvSpPr txBox="1"/>
          <p:nvPr/>
        </p:nvSpPr>
        <p:spPr>
          <a:xfrm>
            <a:off x="3812069" y="3863424"/>
            <a:ext cx="1709446" cy="646331"/>
          </a:xfrm>
          <a:prstGeom prst="rect">
            <a:avLst/>
          </a:prstGeom>
          <a:noFill/>
        </p:spPr>
        <p:txBody>
          <a:bodyPr wrap="square" rtlCol="0">
            <a:spAutoFit/>
          </a:bodyPr>
          <a:lstStyle/>
          <a:p>
            <a:pPr algn="ctr">
              <a:spcBef>
                <a:spcPts val="600"/>
              </a:spcBef>
            </a:pPr>
            <a:r>
              <a:rPr lang="en-US" dirty="0">
                <a:latin typeface="Montserrat" pitchFamily="2" charset="0"/>
              </a:rPr>
              <a:t>Data cleaning</a:t>
            </a:r>
          </a:p>
        </p:txBody>
      </p:sp>
      <p:sp>
        <p:nvSpPr>
          <p:cNvPr id="23" name="Arrow: Chevron 22">
            <a:extLst>
              <a:ext uri="{FF2B5EF4-FFF2-40B4-BE49-F238E27FC236}">
                <a16:creationId xmlns:a16="http://schemas.microsoft.com/office/drawing/2014/main" id="{3AB6C609-AB82-2728-C34F-796A90239F33}"/>
              </a:ext>
            </a:extLst>
          </p:cNvPr>
          <p:cNvSpPr/>
          <p:nvPr/>
        </p:nvSpPr>
        <p:spPr>
          <a:xfrm>
            <a:off x="6018162" y="3878552"/>
            <a:ext cx="180782" cy="339075"/>
          </a:xfrm>
          <a:prstGeom prst="chevron">
            <a:avLst>
              <a:gd name="adj" fmla="val 62905"/>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TextBox 23">
            <a:extLst>
              <a:ext uri="{FF2B5EF4-FFF2-40B4-BE49-F238E27FC236}">
                <a16:creationId xmlns:a16="http://schemas.microsoft.com/office/drawing/2014/main" id="{0388F384-AA0C-CE38-C32E-2C3881E1B101}"/>
              </a:ext>
            </a:extLst>
          </p:cNvPr>
          <p:cNvSpPr txBox="1"/>
          <p:nvPr/>
        </p:nvSpPr>
        <p:spPr>
          <a:xfrm>
            <a:off x="4308715" y="3287046"/>
            <a:ext cx="796951" cy="646331"/>
          </a:xfrm>
          <a:prstGeom prst="rect">
            <a:avLst/>
          </a:prstGeom>
          <a:noFill/>
        </p:spPr>
        <p:txBody>
          <a:bodyPr wrap="square" rtlCol="0">
            <a:spAutoFit/>
          </a:bodyPr>
          <a:lstStyle/>
          <a:p>
            <a:r>
              <a:rPr lang="en-US" sz="3600" b="1" dirty="0"/>
              <a:t>02</a:t>
            </a:r>
          </a:p>
        </p:txBody>
      </p:sp>
      <p:sp>
        <p:nvSpPr>
          <p:cNvPr id="25" name="Rectangle: Rounded Corners 24">
            <a:extLst>
              <a:ext uri="{FF2B5EF4-FFF2-40B4-BE49-F238E27FC236}">
                <a16:creationId xmlns:a16="http://schemas.microsoft.com/office/drawing/2014/main" id="{EF77050B-EEAB-6F18-A3F6-1C1C3B6420E7}"/>
              </a:ext>
            </a:extLst>
          </p:cNvPr>
          <p:cNvSpPr/>
          <p:nvPr/>
        </p:nvSpPr>
        <p:spPr>
          <a:xfrm>
            <a:off x="6400164" y="3235923"/>
            <a:ext cx="2091448" cy="1566038"/>
          </a:xfrm>
          <a:prstGeom prst="roundRect">
            <a:avLst>
              <a:gd name="adj" fmla="val 6171"/>
            </a:avLst>
          </a:prstGeom>
          <a:solidFill>
            <a:schemeClr val="bg1"/>
          </a:solidFill>
          <a:ln w="22225">
            <a:solidFill>
              <a:srgbClr val="D3242A"/>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930E0F3-285C-AE95-0DB6-E98AD34FEA2C}"/>
              </a:ext>
            </a:extLst>
          </p:cNvPr>
          <p:cNvSpPr txBox="1"/>
          <p:nvPr/>
        </p:nvSpPr>
        <p:spPr>
          <a:xfrm>
            <a:off x="6591164" y="3834276"/>
            <a:ext cx="1709446" cy="646331"/>
          </a:xfrm>
          <a:prstGeom prst="rect">
            <a:avLst/>
          </a:prstGeom>
          <a:noFill/>
        </p:spPr>
        <p:txBody>
          <a:bodyPr wrap="square" rtlCol="0">
            <a:spAutoFit/>
          </a:bodyPr>
          <a:lstStyle/>
          <a:p>
            <a:pPr algn="ctr">
              <a:spcBef>
                <a:spcPts val="600"/>
              </a:spcBef>
            </a:pPr>
            <a:r>
              <a:rPr lang="en-US" dirty="0">
                <a:latin typeface="Montserrat" pitchFamily="2" charset="0"/>
              </a:rPr>
              <a:t>Data transforming</a:t>
            </a:r>
          </a:p>
        </p:txBody>
      </p:sp>
      <p:sp>
        <p:nvSpPr>
          <p:cNvPr id="27" name="Arrow: Chevron 26">
            <a:extLst>
              <a:ext uri="{FF2B5EF4-FFF2-40B4-BE49-F238E27FC236}">
                <a16:creationId xmlns:a16="http://schemas.microsoft.com/office/drawing/2014/main" id="{0251153F-AA00-7254-E18D-D23F5719EF1C}"/>
              </a:ext>
            </a:extLst>
          </p:cNvPr>
          <p:cNvSpPr/>
          <p:nvPr/>
        </p:nvSpPr>
        <p:spPr>
          <a:xfrm>
            <a:off x="8797257" y="3849404"/>
            <a:ext cx="180782" cy="339075"/>
          </a:xfrm>
          <a:prstGeom prst="chevron">
            <a:avLst>
              <a:gd name="adj" fmla="val 62905"/>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TextBox 27">
            <a:extLst>
              <a:ext uri="{FF2B5EF4-FFF2-40B4-BE49-F238E27FC236}">
                <a16:creationId xmlns:a16="http://schemas.microsoft.com/office/drawing/2014/main" id="{5C04387B-F74A-5D50-2CD3-B547B80749CC}"/>
              </a:ext>
            </a:extLst>
          </p:cNvPr>
          <p:cNvSpPr txBox="1"/>
          <p:nvPr/>
        </p:nvSpPr>
        <p:spPr>
          <a:xfrm>
            <a:off x="7087811" y="3257898"/>
            <a:ext cx="826370" cy="646331"/>
          </a:xfrm>
          <a:prstGeom prst="rect">
            <a:avLst/>
          </a:prstGeom>
          <a:noFill/>
        </p:spPr>
        <p:txBody>
          <a:bodyPr wrap="square" rtlCol="0">
            <a:spAutoFit/>
          </a:bodyPr>
          <a:lstStyle/>
          <a:p>
            <a:r>
              <a:rPr lang="en-US" sz="3600" b="1" dirty="0"/>
              <a:t>03</a:t>
            </a:r>
          </a:p>
        </p:txBody>
      </p:sp>
      <p:sp>
        <p:nvSpPr>
          <p:cNvPr id="29" name="Rectangle: Rounded Corners 28">
            <a:extLst>
              <a:ext uri="{FF2B5EF4-FFF2-40B4-BE49-F238E27FC236}">
                <a16:creationId xmlns:a16="http://schemas.microsoft.com/office/drawing/2014/main" id="{BE1C365B-9CF6-D158-AAC6-A11D96CF4F92}"/>
              </a:ext>
            </a:extLst>
          </p:cNvPr>
          <p:cNvSpPr/>
          <p:nvPr/>
        </p:nvSpPr>
        <p:spPr>
          <a:xfrm>
            <a:off x="9283684" y="3221349"/>
            <a:ext cx="2091448" cy="1566038"/>
          </a:xfrm>
          <a:prstGeom prst="roundRect">
            <a:avLst>
              <a:gd name="adj" fmla="val 6171"/>
            </a:avLst>
          </a:prstGeom>
          <a:solidFill>
            <a:schemeClr val="bg1"/>
          </a:solidFill>
          <a:ln w="22225">
            <a:solidFill>
              <a:srgbClr val="D3242A"/>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D11FE19C-5184-6CFF-BE58-7FDED36DFDEC}"/>
              </a:ext>
            </a:extLst>
          </p:cNvPr>
          <p:cNvSpPr txBox="1"/>
          <p:nvPr/>
        </p:nvSpPr>
        <p:spPr>
          <a:xfrm>
            <a:off x="9474684" y="3819702"/>
            <a:ext cx="1709446" cy="646331"/>
          </a:xfrm>
          <a:prstGeom prst="rect">
            <a:avLst/>
          </a:prstGeom>
          <a:noFill/>
        </p:spPr>
        <p:txBody>
          <a:bodyPr wrap="square" rtlCol="0">
            <a:spAutoFit/>
          </a:bodyPr>
          <a:lstStyle/>
          <a:p>
            <a:pPr algn="ctr">
              <a:spcBef>
                <a:spcPts val="600"/>
              </a:spcBef>
            </a:pPr>
            <a:r>
              <a:rPr lang="en-US" dirty="0">
                <a:latin typeface="Montserrat" pitchFamily="2" charset="0"/>
              </a:rPr>
              <a:t>Data reducing</a:t>
            </a:r>
          </a:p>
        </p:txBody>
      </p:sp>
      <p:sp>
        <p:nvSpPr>
          <p:cNvPr id="43" name="TextBox 42">
            <a:extLst>
              <a:ext uri="{FF2B5EF4-FFF2-40B4-BE49-F238E27FC236}">
                <a16:creationId xmlns:a16="http://schemas.microsoft.com/office/drawing/2014/main" id="{568FFA5D-3A93-717A-539B-1DEAC5EBA1A0}"/>
              </a:ext>
            </a:extLst>
          </p:cNvPr>
          <p:cNvSpPr txBox="1"/>
          <p:nvPr/>
        </p:nvSpPr>
        <p:spPr>
          <a:xfrm>
            <a:off x="9971331" y="3243324"/>
            <a:ext cx="872662" cy="646331"/>
          </a:xfrm>
          <a:prstGeom prst="rect">
            <a:avLst/>
          </a:prstGeom>
          <a:noFill/>
        </p:spPr>
        <p:txBody>
          <a:bodyPr wrap="square" rtlCol="0">
            <a:spAutoFit/>
          </a:bodyPr>
          <a:lstStyle/>
          <a:p>
            <a:r>
              <a:rPr lang="en-US" sz="3600" b="1" dirty="0"/>
              <a:t>04</a:t>
            </a:r>
          </a:p>
        </p:txBody>
      </p:sp>
      <p:grpSp>
        <p:nvGrpSpPr>
          <p:cNvPr id="63" name="Group 62">
            <a:extLst>
              <a:ext uri="{FF2B5EF4-FFF2-40B4-BE49-F238E27FC236}">
                <a16:creationId xmlns:a16="http://schemas.microsoft.com/office/drawing/2014/main" id="{62DA9DE6-C36F-EFC4-37E9-FC73C7364D1B}"/>
              </a:ext>
            </a:extLst>
          </p:cNvPr>
          <p:cNvGrpSpPr/>
          <p:nvPr/>
        </p:nvGrpSpPr>
        <p:grpSpPr>
          <a:xfrm>
            <a:off x="1313071" y="2191472"/>
            <a:ext cx="855345" cy="857250"/>
            <a:chOff x="1481282" y="1722413"/>
            <a:chExt cx="855345" cy="857250"/>
          </a:xfrm>
        </p:grpSpPr>
        <p:sp>
          <p:nvSpPr>
            <p:cNvPr id="50" name="Freeform: Shape 49">
              <a:extLst>
                <a:ext uri="{FF2B5EF4-FFF2-40B4-BE49-F238E27FC236}">
                  <a16:creationId xmlns:a16="http://schemas.microsoft.com/office/drawing/2014/main" id="{18DCDD36-FEB5-6A7F-7B2B-A203D5C5C62A}"/>
                </a:ext>
              </a:extLst>
            </p:cNvPr>
            <p:cNvSpPr/>
            <p:nvPr/>
          </p:nvSpPr>
          <p:spPr>
            <a:xfrm>
              <a:off x="1901335" y="1940535"/>
              <a:ext cx="103822" cy="339090"/>
            </a:xfrm>
            <a:custGeom>
              <a:avLst/>
              <a:gdLst>
                <a:gd name="connsiteX0" fmla="*/ 103822 w 103822"/>
                <a:gd name="connsiteY0" fmla="*/ 259080 h 339090"/>
                <a:gd name="connsiteX1" fmla="*/ 103822 w 103822"/>
                <a:gd name="connsiteY1" fmla="*/ 0 h 339090"/>
                <a:gd name="connsiteX2" fmla="*/ 0 w 103822"/>
                <a:gd name="connsiteY2" fmla="*/ 0 h 339090"/>
                <a:gd name="connsiteX3" fmla="*/ 0 w 103822"/>
                <a:gd name="connsiteY3" fmla="*/ 339090 h 339090"/>
                <a:gd name="connsiteX4" fmla="*/ 103822 w 103822"/>
                <a:gd name="connsiteY4" fmla="*/ 259080 h 3390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22" h="339090">
                  <a:moveTo>
                    <a:pt x="103822" y="259080"/>
                  </a:moveTo>
                  <a:lnTo>
                    <a:pt x="103822" y="0"/>
                  </a:lnTo>
                  <a:lnTo>
                    <a:pt x="0" y="0"/>
                  </a:lnTo>
                  <a:lnTo>
                    <a:pt x="0" y="339090"/>
                  </a:lnTo>
                  <a:cubicBezTo>
                    <a:pt x="40957" y="321945"/>
                    <a:pt x="77152" y="294323"/>
                    <a:pt x="103822" y="259080"/>
                  </a:cubicBezTo>
                  <a:close/>
                </a:path>
              </a:pathLst>
            </a:custGeom>
            <a:solidFill>
              <a:srgbClr val="000000"/>
            </a:solid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3A47900B-F5B4-4CEE-E0AE-161A39E0D8F9}"/>
                </a:ext>
              </a:extLst>
            </p:cNvPr>
            <p:cNvSpPr/>
            <p:nvPr/>
          </p:nvSpPr>
          <p:spPr>
            <a:xfrm>
              <a:off x="1758460" y="2110080"/>
              <a:ext cx="104775" cy="186690"/>
            </a:xfrm>
            <a:custGeom>
              <a:avLst/>
              <a:gdLst>
                <a:gd name="connsiteX0" fmla="*/ 0 w 104775"/>
                <a:gd name="connsiteY0" fmla="*/ 180975 h 186690"/>
                <a:gd name="connsiteX1" fmla="*/ 52388 w 104775"/>
                <a:gd name="connsiteY1" fmla="*/ 186690 h 186690"/>
                <a:gd name="connsiteX2" fmla="*/ 104775 w 104775"/>
                <a:gd name="connsiteY2" fmla="*/ 180975 h 186690"/>
                <a:gd name="connsiteX3" fmla="*/ 104775 w 104775"/>
                <a:gd name="connsiteY3" fmla="*/ 0 h 186690"/>
                <a:gd name="connsiteX4" fmla="*/ 0 w 104775"/>
                <a:gd name="connsiteY4" fmla="*/ 0 h 186690"/>
                <a:gd name="connsiteX5" fmla="*/ 0 w 104775"/>
                <a:gd name="connsiteY5" fmla="*/ 180975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775" h="186690">
                  <a:moveTo>
                    <a:pt x="0" y="180975"/>
                  </a:moveTo>
                  <a:cubicBezTo>
                    <a:pt x="17145" y="184785"/>
                    <a:pt x="34290" y="186690"/>
                    <a:pt x="52388" y="186690"/>
                  </a:cubicBezTo>
                  <a:cubicBezTo>
                    <a:pt x="70485" y="186690"/>
                    <a:pt x="87630" y="184785"/>
                    <a:pt x="104775" y="180975"/>
                  </a:cubicBezTo>
                  <a:lnTo>
                    <a:pt x="104775" y="0"/>
                  </a:lnTo>
                  <a:lnTo>
                    <a:pt x="0" y="0"/>
                  </a:lnTo>
                  <a:lnTo>
                    <a:pt x="0" y="180975"/>
                  </a:lnTo>
                  <a:close/>
                </a:path>
              </a:pathLst>
            </a:custGeom>
            <a:solidFill>
              <a:srgbClr val="000000"/>
            </a:solid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849E8C51-8494-FABD-F37B-05628D471ADC}"/>
                </a:ext>
              </a:extLst>
            </p:cNvPr>
            <p:cNvSpPr/>
            <p:nvPr/>
          </p:nvSpPr>
          <p:spPr>
            <a:xfrm>
              <a:off x="1616537" y="2052930"/>
              <a:ext cx="103822" cy="226694"/>
            </a:xfrm>
            <a:custGeom>
              <a:avLst/>
              <a:gdLst>
                <a:gd name="connsiteX0" fmla="*/ 103823 w 103822"/>
                <a:gd name="connsiteY0" fmla="*/ 226695 h 226694"/>
                <a:gd name="connsiteX1" fmla="*/ 103823 w 103822"/>
                <a:gd name="connsiteY1" fmla="*/ 0 h 226694"/>
                <a:gd name="connsiteX2" fmla="*/ 0 w 103822"/>
                <a:gd name="connsiteY2" fmla="*/ 0 h 226694"/>
                <a:gd name="connsiteX3" fmla="*/ 0 w 103822"/>
                <a:gd name="connsiteY3" fmla="*/ 146685 h 226694"/>
                <a:gd name="connsiteX4" fmla="*/ 103823 w 103822"/>
                <a:gd name="connsiteY4" fmla="*/ 226695 h 226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22" h="226694">
                  <a:moveTo>
                    <a:pt x="103823" y="226695"/>
                  </a:moveTo>
                  <a:lnTo>
                    <a:pt x="103823" y="0"/>
                  </a:lnTo>
                  <a:lnTo>
                    <a:pt x="0" y="0"/>
                  </a:lnTo>
                  <a:lnTo>
                    <a:pt x="0" y="146685"/>
                  </a:lnTo>
                  <a:cubicBezTo>
                    <a:pt x="26670" y="181927"/>
                    <a:pt x="62865" y="209550"/>
                    <a:pt x="103823" y="226695"/>
                  </a:cubicBezTo>
                  <a:close/>
                </a:path>
              </a:pathLst>
            </a:custGeom>
            <a:solidFill>
              <a:srgbClr val="000000"/>
            </a:solid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E73EF9C8-9B91-B354-AA08-B46BAC3286F1}"/>
                </a:ext>
              </a:extLst>
            </p:cNvPr>
            <p:cNvSpPr/>
            <p:nvPr/>
          </p:nvSpPr>
          <p:spPr>
            <a:xfrm>
              <a:off x="1481282" y="1722413"/>
              <a:ext cx="855345" cy="857250"/>
            </a:xfrm>
            <a:custGeom>
              <a:avLst/>
              <a:gdLst>
                <a:gd name="connsiteX0" fmla="*/ 855345 w 855345"/>
                <a:gd name="connsiteY0" fmla="*/ 782955 h 857250"/>
                <a:gd name="connsiteX1" fmla="*/ 596265 w 855345"/>
                <a:gd name="connsiteY1" fmla="*/ 523875 h 857250"/>
                <a:gd name="connsiteX2" fmla="*/ 659130 w 855345"/>
                <a:gd name="connsiteY2" fmla="*/ 330518 h 857250"/>
                <a:gd name="connsiteX3" fmla="*/ 328613 w 855345"/>
                <a:gd name="connsiteY3" fmla="*/ 0 h 857250"/>
                <a:gd name="connsiteX4" fmla="*/ 0 w 855345"/>
                <a:gd name="connsiteY4" fmla="*/ 330518 h 857250"/>
                <a:gd name="connsiteX5" fmla="*/ 330518 w 855345"/>
                <a:gd name="connsiteY5" fmla="*/ 661035 h 857250"/>
                <a:gd name="connsiteX6" fmla="*/ 523875 w 855345"/>
                <a:gd name="connsiteY6" fmla="*/ 598170 h 857250"/>
                <a:gd name="connsiteX7" fmla="*/ 782955 w 855345"/>
                <a:gd name="connsiteY7" fmla="*/ 857250 h 857250"/>
                <a:gd name="connsiteX8" fmla="*/ 855345 w 855345"/>
                <a:gd name="connsiteY8" fmla="*/ 782955 h 857250"/>
                <a:gd name="connsiteX9" fmla="*/ 68580 w 855345"/>
                <a:gd name="connsiteY9" fmla="*/ 330518 h 857250"/>
                <a:gd name="connsiteX10" fmla="*/ 329565 w 855345"/>
                <a:gd name="connsiteY10" fmla="*/ 69533 h 857250"/>
                <a:gd name="connsiteX11" fmla="*/ 590550 w 855345"/>
                <a:gd name="connsiteY11" fmla="*/ 330518 h 857250"/>
                <a:gd name="connsiteX12" fmla="*/ 329565 w 855345"/>
                <a:gd name="connsiteY12" fmla="*/ 591503 h 857250"/>
                <a:gd name="connsiteX13" fmla="*/ 68580 w 855345"/>
                <a:gd name="connsiteY13" fmla="*/ 330518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345" h="857250">
                  <a:moveTo>
                    <a:pt x="855345" y="782955"/>
                  </a:moveTo>
                  <a:lnTo>
                    <a:pt x="596265" y="523875"/>
                  </a:lnTo>
                  <a:cubicBezTo>
                    <a:pt x="635318" y="469583"/>
                    <a:pt x="659130" y="402908"/>
                    <a:pt x="659130" y="330518"/>
                  </a:cubicBezTo>
                  <a:cubicBezTo>
                    <a:pt x="659130" y="148590"/>
                    <a:pt x="511493" y="0"/>
                    <a:pt x="328613" y="0"/>
                  </a:cubicBezTo>
                  <a:cubicBezTo>
                    <a:pt x="145733" y="0"/>
                    <a:pt x="0" y="148590"/>
                    <a:pt x="0" y="330518"/>
                  </a:cubicBezTo>
                  <a:cubicBezTo>
                    <a:pt x="0" y="512445"/>
                    <a:pt x="147638" y="661035"/>
                    <a:pt x="330518" y="661035"/>
                  </a:cubicBezTo>
                  <a:cubicBezTo>
                    <a:pt x="402908" y="661035"/>
                    <a:pt x="469583" y="637223"/>
                    <a:pt x="523875" y="598170"/>
                  </a:cubicBezTo>
                  <a:lnTo>
                    <a:pt x="782955" y="857250"/>
                  </a:lnTo>
                  <a:lnTo>
                    <a:pt x="855345" y="782955"/>
                  </a:lnTo>
                  <a:close/>
                  <a:moveTo>
                    <a:pt x="68580" y="330518"/>
                  </a:moveTo>
                  <a:cubicBezTo>
                    <a:pt x="68580" y="186690"/>
                    <a:pt x="185738" y="69533"/>
                    <a:pt x="329565" y="69533"/>
                  </a:cubicBezTo>
                  <a:cubicBezTo>
                    <a:pt x="473393" y="69533"/>
                    <a:pt x="590550" y="186690"/>
                    <a:pt x="590550" y="330518"/>
                  </a:cubicBezTo>
                  <a:cubicBezTo>
                    <a:pt x="590550" y="474345"/>
                    <a:pt x="473393" y="591503"/>
                    <a:pt x="329565" y="591503"/>
                  </a:cubicBezTo>
                  <a:cubicBezTo>
                    <a:pt x="185738" y="591503"/>
                    <a:pt x="68580" y="474345"/>
                    <a:pt x="68580" y="330518"/>
                  </a:cubicBezTo>
                  <a:close/>
                </a:path>
              </a:pathLst>
            </a:custGeom>
            <a:solidFill>
              <a:srgbClr val="000000"/>
            </a:solidFill>
            <a:ln w="9525" cap="flat">
              <a:noFill/>
              <a:prstDash val="solid"/>
              <a:miter/>
            </a:ln>
          </p:spPr>
          <p:txBody>
            <a:bodyPr rtlCol="0" anchor="ctr"/>
            <a:lstStyle/>
            <a:p>
              <a:endParaRPr lang="en-US"/>
            </a:p>
          </p:txBody>
        </p:sp>
      </p:grpSp>
      <p:grpSp>
        <p:nvGrpSpPr>
          <p:cNvPr id="67" name="Graphic 64">
            <a:extLst>
              <a:ext uri="{FF2B5EF4-FFF2-40B4-BE49-F238E27FC236}">
                <a16:creationId xmlns:a16="http://schemas.microsoft.com/office/drawing/2014/main" id="{5E1E391D-5E8E-8B12-514B-75340F925403}"/>
              </a:ext>
            </a:extLst>
          </p:cNvPr>
          <p:cNvGrpSpPr/>
          <p:nvPr/>
        </p:nvGrpSpPr>
        <p:grpSpPr>
          <a:xfrm>
            <a:off x="3909793" y="2108442"/>
            <a:ext cx="1354494" cy="857250"/>
            <a:chOff x="3626195" y="4882417"/>
            <a:chExt cx="2015943" cy="1302859"/>
          </a:xfrm>
          <a:solidFill>
            <a:srgbClr val="000000"/>
          </a:solidFill>
        </p:grpSpPr>
        <p:sp>
          <p:nvSpPr>
            <p:cNvPr id="68" name="Freeform: Shape 67">
              <a:extLst>
                <a:ext uri="{FF2B5EF4-FFF2-40B4-BE49-F238E27FC236}">
                  <a16:creationId xmlns:a16="http://schemas.microsoft.com/office/drawing/2014/main" id="{0D84F656-BDE2-BFAE-F2F0-FEBA25D4AB69}"/>
                </a:ext>
              </a:extLst>
            </p:cNvPr>
            <p:cNvSpPr/>
            <p:nvPr/>
          </p:nvSpPr>
          <p:spPr>
            <a:xfrm>
              <a:off x="4522091" y="5460728"/>
              <a:ext cx="43148" cy="43905"/>
            </a:xfrm>
            <a:custGeom>
              <a:avLst/>
              <a:gdLst>
                <a:gd name="connsiteX0" fmla="*/ 43148 w 43148"/>
                <a:gd name="connsiteY0" fmla="*/ 21953 h 43905"/>
                <a:gd name="connsiteX1" fmla="*/ 21574 w 43148"/>
                <a:gd name="connsiteY1" fmla="*/ 43905 h 43905"/>
                <a:gd name="connsiteX2" fmla="*/ 0 w 43148"/>
                <a:gd name="connsiteY2" fmla="*/ 21953 h 43905"/>
                <a:gd name="connsiteX3" fmla="*/ 21574 w 43148"/>
                <a:gd name="connsiteY3" fmla="*/ 0 h 43905"/>
                <a:gd name="connsiteX4" fmla="*/ 43148 w 43148"/>
                <a:gd name="connsiteY4" fmla="*/ 21953 h 43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48" h="43905">
                  <a:moveTo>
                    <a:pt x="43148" y="21953"/>
                  </a:moveTo>
                  <a:cubicBezTo>
                    <a:pt x="43148" y="34077"/>
                    <a:pt x="33489" y="43905"/>
                    <a:pt x="21574" y="43905"/>
                  </a:cubicBezTo>
                  <a:cubicBezTo>
                    <a:pt x="9659" y="43905"/>
                    <a:pt x="0" y="34077"/>
                    <a:pt x="0" y="21953"/>
                  </a:cubicBezTo>
                  <a:cubicBezTo>
                    <a:pt x="0" y="9829"/>
                    <a:pt x="9659" y="0"/>
                    <a:pt x="21574" y="0"/>
                  </a:cubicBezTo>
                  <a:cubicBezTo>
                    <a:pt x="33489" y="0"/>
                    <a:pt x="43148" y="9829"/>
                    <a:pt x="43148" y="21953"/>
                  </a:cubicBezTo>
                  <a:close/>
                </a:path>
              </a:pathLst>
            </a:custGeom>
            <a:solidFill>
              <a:srgbClr val="000000"/>
            </a:solidFill>
            <a:ln w="3778"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02DE6BF6-3319-4677-635A-5AB64706B13E}"/>
                </a:ext>
              </a:extLst>
            </p:cNvPr>
            <p:cNvSpPr/>
            <p:nvPr/>
          </p:nvSpPr>
          <p:spPr>
            <a:xfrm>
              <a:off x="4448285" y="5486465"/>
              <a:ext cx="43148" cy="43905"/>
            </a:xfrm>
            <a:custGeom>
              <a:avLst/>
              <a:gdLst>
                <a:gd name="connsiteX0" fmla="*/ 43148 w 43148"/>
                <a:gd name="connsiteY0" fmla="*/ 21953 h 43905"/>
                <a:gd name="connsiteX1" fmla="*/ 21574 w 43148"/>
                <a:gd name="connsiteY1" fmla="*/ 43905 h 43905"/>
                <a:gd name="connsiteX2" fmla="*/ 0 w 43148"/>
                <a:gd name="connsiteY2" fmla="*/ 21953 h 43905"/>
                <a:gd name="connsiteX3" fmla="*/ 21574 w 43148"/>
                <a:gd name="connsiteY3" fmla="*/ 0 h 43905"/>
                <a:gd name="connsiteX4" fmla="*/ 43148 w 43148"/>
                <a:gd name="connsiteY4" fmla="*/ 21953 h 43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48" h="43905">
                  <a:moveTo>
                    <a:pt x="43148" y="21953"/>
                  </a:moveTo>
                  <a:cubicBezTo>
                    <a:pt x="43148" y="34077"/>
                    <a:pt x="33489" y="43905"/>
                    <a:pt x="21574" y="43905"/>
                  </a:cubicBezTo>
                  <a:cubicBezTo>
                    <a:pt x="9659" y="43905"/>
                    <a:pt x="0" y="34077"/>
                    <a:pt x="0" y="21953"/>
                  </a:cubicBezTo>
                  <a:cubicBezTo>
                    <a:pt x="0" y="9829"/>
                    <a:pt x="9659" y="0"/>
                    <a:pt x="21574" y="0"/>
                  </a:cubicBezTo>
                  <a:cubicBezTo>
                    <a:pt x="33489" y="0"/>
                    <a:pt x="43148" y="9829"/>
                    <a:pt x="43148" y="21953"/>
                  </a:cubicBezTo>
                  <a:close/>
                </a:path>
              </a:pathLst>
            </a:custGeom>
            <a:solidFill>
              <a:srgbClr val="000000"/>
            </a:solidFill>
            <a:ln w="3778"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71DCAEB8-87CD-074D-DC5F-A6DEF0E9E3D7}"/>
                </a:ext>
              </a:extLst>
            </p:cNvPr>
            <p:cNvSpPr/>
            <p:nvPr/>
          </p:nvSpPr>
          <p:spPr>
            <a:xfrm>
              <a:off x="4374857" y="5502362"/>
              <a:ext cx="43148" cy="43905"/>
            </a:xfrm>
            <a:custGeom>
              <a:avLst/>
              <a:gdLst>
                <a:gd name="connsiteX0" fmla="*/ 43148 w 43148"/>
                <a:gd name="connsiteY0" fmla="*/ 21953 h 43905"/>
                <a:gd name="connsiteX1" fmla="*/ 21574 w 43148"/>
                <a:gd name="connsiteY1" fmla="*/ 43905 h 43905"/>
                <a:gd name="connsiteX2" fmla="*/ 0 w 43148"/>
                <a:gd name="connsiteY2" fmla="*/ 21953 h 43905"/>
                <a:gd name="connsiteX3" fmla="*/ 21574 w 43148"/>
                <a:gd name="connsiteY3" fmla="*/ 0 h 43905"/>
                <a:gd name="connsiteX4" fmla="*/ 43148 w 43148"/>
                <a:gd name="connsiteY4" fmla="*/ 21953 h 43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48" h="43905">
                  <a:moveTo>
                    <a:pt x="43148" y="21953"/>
                  </a:moveTo>
                  <a:cubicBezTo>
                    <a:pt x="43148" y="34077"/>
                    <a:pt x="33489" y="43905"/>
                    <a:pt x="21574" y="43905"/>
                  </a:cubicBezTo>
                  <a:cubicBezTo>
                    <a:pt x="9659" y="43905"/>
                    <a:pt x="0" y="34077"/>
                    <a:pt x="0" y="21953"/>
                  </a:cubicBezTo>
                  <a:cubicBezTo>
                    <a:pt x="0" y="9829"/>
                    <a:pt x="9659" y="0"/>
                    <a:pt x="21574" y="0"/>
                  </a:cubicBezTo>
                  <a:cubicBezTo>
                    <a:pt x="33489" y="0"/>
                    <a:pt x="43148" y="9829"/>
                    <a:pt x="43148" y="21953"/>
                  </a:cubicBezTo>
                  <a:close/>
                </a:path>
              </a:pathLst>
            </a:custGeom>
            <a:solidFill>
              <a:srgbClr val="000000"/>
            </a:solidFill>
            <a:ln w="3778"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04DB94EA-3106-12D5-7657-1FCB5A250322}"/>
                </a:ext>
              </a:extLst>
            </p:cNvPr>
            <p:cNvSpPr/>
            <p:nvPr/>
          </p:nvSpPr>
          <p:spPr>
            <a:xfrm>
              <a:off x="4522091" y="5696908"/>
              <a:ext cx="43148" cy="43905"/>
            </a:xfrm>
            <a:custGeom>
              <a:avLst/>
              <a:gdLst>
                <a:gd name="connsiteX0" fmla="*/ 43148 w 43148"/>
                <a:gd name="connsiteY0" fmla="*/ 21953 h 43905"/>
                <a:gd name="connsiteX1" fmla="*/ 21574 w 43148"/>
                <a:gd name="connsiteY1" fmla="*/ 43905 h 43905"/>
                <a:gd name="connsiteX2" fmla="*/ 0 w 43148"/>
                <a:gd name="connsiteY2" fmla="*/ 21953 h 43905"/>
                <a:gd name="connsiteX3" fmla="*/ 21574 w 43148"/>
                <a:gd name="connsiteY3" fmla="*/ 0 h 43905"/>
                <a:gd name="connsiteX4" fmla="*/ 43148 w 43148"/>
                <a:gd name="connsiteY4" fmla="*/ 21953 h 43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48" h="43905">
                  <a:moveTo>
                    <a:pt x="43148" y="21953"/>
                  </a:moveTo>
                  <a:cubicBezTo>
                    <a:pt x="43148" y="34077"/>
                    <a:pt x="33489" y="43905"/>
                    <a:pt x="21574" y="43905"/>
                  </a:cubicBezTo>
                  <a:cubicBezTo>
                    <a:pt x="9659" y="43905"/>
                    <a:pt x="0" y="34077"/>
                    <a:pt x="0" y="21953"/>
                  </a:cubicBezTo>
                  <a:cubicBezTo>
                    <a:pt x="0" y="9829"/>
                    <a:pt x="9659" y="0"/>
                    <a:pt x="21574" y="0"/>
                  </a:cubicBezTo>
                  <a:cubicBezTo>
                    <a:pt x="33489" y="0"/>
                    <a:pt x="43148" y="9829"/>
                    <a:pt x="43148" y="21953"/>
                  </a:cubicBezTo>
                  <a:close/>
                </a:path>
              </a:pathLst>
            </a:custGeom>
            <a:solidFill>
              <a:srgbClr val="000000"/>
            </a:solidFill>
            <a:ln w="3778"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8DE2C4BC-5FEE-0B0E-9799-1B975B4143AE}"/>
                </a:ext>
              </a:extLst>
            </p:cNvPr>
            <p:cNvSpPr/>
            <p:nvPr/>
          </p:nvSpPr>
          <p:spPr>
            <a:xfrm>
              <a:off x="4448285" y="5722646"/>
              <a:ext cx="43148" cy="43905"/>
            </a:xfrm>
            <a:custGeom>
              <a:avLst/>
              <a:gdLst>
                <a:gd name="connsiteX0" fmla="*/ 43148 w 43148"/>
                <a:gd name="connsiteY0" fmla="*/ 21953 h 43905"/>
                <a:gd name="connsiteX1" fmla="*/ 21574 w 43148"/>
                <a:gd name="connsiteY1" fmla="*/ 43905 h 43905"/>
                <a:gd name="connsiteX2" fmla="*/ 0 w 43148"/>
                <a:gd name="connsiteY2" fmla="*/ 21953 h 43905"/>
                <a:gd name="connsiteX3" fmla="*/ 21574 w 43148"/>
                <a:gd name="connsiteY3" fmla="*/ 0 h 43905"/>
                <a:gd name="connsiteX4" fmla="*/ 43148 w 43148"/>
                <a:gd name="connsiteY4" fmla="*/ 21953 h 43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48" h="43905">
                  <a:moveTo>
                    <a:pt x="43148" y="21953"/>
                  </a:moveTo>
                  <a:cubicBezTo>
                    <a:pt x="43148" y="34077"/>
                    <a:pt x="33489" y="43905"/>
                    <a:pt x="21574" y="43905"/>
                  </a:cubicBezTo>
                  <a:cubicBezTo>
                    <a:pt x="9659" y="43905"/>
                    <a:pt x="0" y="34077"/>
                    <a:pt x="0" y="21953"/>
                  </a:cubicBezTo>
                  <a:cubicBezTo>
                    <a:pt x="0" y="9829"/>
                    <a:pt x="9659" y="0"/>
                    <a:pt x="21574" y="0"/>
                  </a:cubicBezTo>
                  <a:cubicBezTo>
                    <a:pt x="33489" y="0"/>
                    <a:pt x="43148" y="9829"/>
                    <a:pt x="43148" y="21953"/>
                  </a:cubicBezTo>
                  <a:close/>
                </a:path>
              </a:pathLst>
            </a:custGeom>
            <a:solidFill>
              <a:srgbClr val="000000"/>
            </a:solidFill>
            <a:ln w="3778"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C818C042-9810-05D5-DFC3-AA046FDC9CFF}"/>
                </a:ext>
              </a:extLst>
            </p:cNvPr>
            <p:cNvSpPr/>
            <p:nvPr/>
          </p:nvSpPr>
          <p:spPr>
            <a:xfrm>
              <a:off x="4374857" y="5738543"/>
              <a:ext cx="43148" cy="43905"/>
            </a:xfrm>
            <a:custGeom>
              <a:avLst/>
              <a:gdLst>
                <a:gd name="connsiteX0" fmla="*/ 43148 w 43148"/>
                <a:gd name="connsiteY0" fmla="*/ 21953 h 43905"/>
                <a:gd name="connsiteX1" fmla="*/ 21574 w 43148"/>
                <a:gd name="connsiteY1" fmla="*/ 43905 h 43905"/>
                <a:gd name="connsiteX2" fmla="*/ 0 w 43148"/>
                <a:gd name="connsiteY2" fmla="*/ 21953 h 43905"/>
                <a:gd name="connsiteX3" fmla="*/ 21574 w 43148"/>
                <a:gd name="connsiteY3" fmla="*/ 0 h 43905"/>
                <a:gd name="connsiteX4" fmla="*/ 43148 w 43148"/>
                <a:gd name="connsiteY4" fmla="*/ 21953 h 43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48" h="43905">
                  <a:moveTo>
                    <a:pt x="43148" y="21953"/>
                  </a:moveTo>
                  <a:cubicBezTo>
                    <a:pt x="43148" y="34077"/>
                    <a:pt x="33489" y="43905"/>
                    <a:pt x="21574" y="43905"/>
                  </a:cubicBezTo>
                  <a:cubicBezTo>
                    <a:pt x="9659" y="43905"/>
                    <a:pt x="0" y="34077"/>
                    <a:pt x="0" y="21953"/>
                  </a:cubicBezTo>
                  <a:cubicBezTo>
                    <a:pt x="0" y="9829"/>
                    <a:pt x="9659" y="0"/>
                    <a:pt x="21574" y="0"/>
                  </a:cubicBezTo>
                  <a:cubicBezTo>
                    <a:pt x="33489" y="0"/>
                    <a:pt x="43148" y="9829"/>
                    <a:pt x="43148" y="21953"/>
                  </a:cubicBezTo>
                  <a:close/>
                </a:path>
              </a:pathLst>
            </a:custGeom>
            <a:solidFill>
              <a:srgbClr val="000000"/>
            </a:solidFill>
            <a:ln w="3778"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E3C29FBF-9967-B8EE-3E94-B1EFC201439E}"/>
                </a:ext>
              </a:extLst>
            </p:cNvPr>
            <p:cNvSpPr/>
            <p:nvPr/>
          </p:nvSpPr>
          <p:spPr>
            <a:xfrm>
              <a:off x="4528525" y="5932710"/>
              <a:ext cx="43148" cy="43905"/>
            </a:xfrm>
            <a:custGeom>
              <a:avLst/>
              <a:gdLst>
                <a:gd name="connsiteX0" fmla="*/ 43148 w 43148"/>
                <a:gd name="connsiteY0" fmla="*/ 21953 h 43905"/>
                <a:gd name="connsiteX1" fmla="*/ 21574 w 43148"/>
                <a:gd name="connsiteY1" fmla="*/ 43905 h 43905"/>
                <a:gd name="connsiteX2" fmla="*/ 0 w 43148"/>
                <a:gd name="connsiteY2" fmla="*/ 21953 h 43905"/>
                <a:gd name="connsiteX3" fmla="*/ 21574 w 43148"/>
                <a:gd name="connsiteY3" fmla="*/ 0 h 43905"/>
                <a:gd name="connsiteX4" fmla="*/ 43148 w 43148"/>
                <a:gd name="connsiteY4" fmla="*/ 21953 h 43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48" h="43905">
                  <a:moveTo>
                    <a:pt x="43148" y="21953"/>
                  </a:moveTo>
                  <a:cubicBezTo>
                    <a:pt x="43148" y="34077"/>
                    <a:pt x="33489" y="43905"/>
                    <a:pt x="21574" y="43905"/>
                  </a:cubicBezTo>
                  <a:cubicBezTo>
                    <a:pt x="9659" y="43905"/>
                    <a:pt x="0" y="34077"/>
                    <a:pt x="0" y="21953"/>
                  </a:cubicBezTo>
                  <a:cubicBezTo>
                    <a:pt x="0" y="9829"/>
                    <a:pt x="9659" y="0"/>
                    <a:pt x="21574" y="0"/>
                  </a:cubicBezTo>
                  <a:cubicBezTo>
                    <a:pt x="33489" y="0"/>
                    <a:pt x="43148" y="9829"/>
                    <a:pt x="43148" y="21953"/>
                  </a:cubicBezTo>
                  <a:close/>
                </a:path>
              </a:pathLst>
            </a:custGeom>
            <a:solidFill>
              <a:srgbClr val="000000"/>
            </a:solidFill>
            <a:ln w="3778"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663E5632-6147-91CB-D279-72095AD90ECB}"/>
                </a:ext>
              </a:extLst>
            </p:cNvPr>
            <p:cNvSpPr/>
            <p:nvPr/>
          </p:nvSpPr>
          <p:spPr>
            <a:xfrm>
              <a:off x="4454719" y="5958448"/>
              <a:ext cx="43148" cy="43905"/>
            </a:xfrm>
            <a:custGeom>
              <a:avLst/>
              <a:gdLst>
                <a:gd name="connsiteX0" fmla="*/ 43148 w 43148"/>
                <a:gd name="connsiteY0" fmla="*/ 21953 h 43905"/>
                <a:gd name="connsiteX1" fmla="*/ 21574 w 43148"/>
                <a:gd name="connsiteY1" fmla="*/ 43905 h 43905"/>
                <a:gd name="connsiteX2" fmla="*/ 0 w 43148"/>
                <a:gd name="connsiteY2" fmla="*/ 21953 h 43905"/>
                <a:gd name="connsiteX3" fmla="*/ 21574 w 43148"/>
                <a:gd name="connsiteY3" fmla="*/ 0 h 43905"/>
                <a:gd name="connsiteX4" fmla="*/ 43148 w 43148"/>
                <a:gd name="connsiteY4" fmla="*/ 21953 h 43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48" h="43905">
                  <a:moveTo>
                    <a:pt x="43148" y="21953"/>
                  </a:moveTo>
                  <a:cubicBezTo>
                    <a:pt x="43148" y="34077"/>
                    <a:pt x="33489" y="43905"/>
                    <a:pt x="21574" y="43905"/>
                  </a:cubicBezTo>
                  <a:cubicBezTo>
                    <a:pt x="9659" y="43905"/>
                    <a:pt x="0" y="34077"/>
                    <a:pt x="0" y="21953"/>
                  </a:cubicBezTo>
                  <a:cubicBezTo>
                    <a:pt x="0" y="9829"/>
                    <a:pt x="9659" y="0"/>
                    <a:pt x="21574" y="0"/>
                  </a:cubicBezTo>
                  <a:cubicBezTo>
                    <a:pt x="33489" y="0"/>
                    <a:pt x="43148" y="9829"/>
                    <a:pt x="43148" y="21953"/>
                  </a:cubicBezTo>
                  <a:close/>
                </a:path>
              </a:pathLst>
            </a:custGeom>
            <a:solidFill>
              <a:srgbClr val="000000"/>
            </a:solidFill>
            <a:ln w="3778"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0419D599-F341-1210-F1EF-C40A547C930D}"/>
                </a:ext>
              </a:extLst>
            </p:cNvPr>
            <p:cNvSpPr/>
            <p:nvPr/>
          </p:nvSpPr>
          <p:spPr>
            <a:xfrm>
              <a:off x="4381291" y="5974345"/>
              <a:ext cx="43148" cy="43905"/>
            </a:xfrm>
            <a:custGeom>
              <a:avLst/>
              <a:gdLst>
                <a:gd name="connsiteX0" fmla="*/ 43148 w 43148"/>
                <a:gd name="connsiteY0" fmla="*/ 21953 h 43905"/>
                <a:gd name="connsiteX1" fmla="*/ 21574 w 43148"/>
                <a:gd name="connsiteY1" fmla="*/ 43905 h 43905"/>
                <a:gd name="connsiteX2" fmla="*/ 0 w 43148"/>
                <a:gd name="connsiteY2" fmla="*/ 21953 h 43905"/>
                <a:gd name="connsiteX3" fmla="*/ 21574 w 43148"/>
                <a:gd name="connsiteY3" fmla="*/ 0 h 43905"/>
                <a:gd name="connsiteX4" fmla="*/ 43148 w 43148"/>
                <a:gd name="connsiteY4" fmla="*/ 21953 h 43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48" h="43905">
                  <a:moveTo>
                    <a:pt x="43148" y="21953"/>
                  </a:moveTo>
                  <a:cubicBezTo>
                    <a:pt x="43148" y="34077"/>
                    <a:pt x="33489" y="43905"/>
                    <a:pt x="21574" y="43905"/>
                  </a:cubicBezTo>
                  <a:cubicBezTo>
                    <a:pt x="9659" y="43905"/>
                    <a:pt x="0" y="34077"/>
                    <a:pt x="0" y="21953"/>
                  </a:cubicBezTo>
                  <a:cubicBezTo>
                    <a:pt x="0" y="9829"/>
                    <a:pt x="9659" y="0"/>
                    <a:pt x="21574" y="0"/>
                  </a:cubicBezTo>
                  <a:cubicBezTo>
                    <a:pt x="33489" y="0"/>
                    <a:pt x="43148" y="9829"/>
                    <a:pt x="43148" y="21953"/>
                  </a:cubicBezTo>
                  <a:close/>
                </a:path>
              </a:pathLst>
            </a:custGeom>
            <a:solidFill>
              <a:srgbClr val="000000"/>
            </a:solidFill>
            <a:ln w="3778"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41168C6-4C2B-5677-C204-5266284B3720}"/>
                </a:ext>
              </a:extLst>
            </p:cNvPr>
            <p:cNvSpPr/>
            <p:nvPr/>
          </p:nvSpPr>
          <p:spPr>
            <a:xfrm>
              <a:off x="4091743" y="4931971"/>
              <a:ext cx="40120" cy="40120"/>
            </a:xfrm>
            <a:custGeom>
              <a:avLst/>
              <a:gdLst>
                <a:gd name="connsiteX0" fmla="*/ 40120 w 40120"/>
                <a:gd name="connsiteY0" fmla="*/ 20060 h 40120"/>
                <a:gd name="connsiteX1" fmla="*/ 20060 w 40120"/>
                <a:gd name="connsiteY1" fmla="*/ 40120 h 40120"/>
                <a:gd name="connsiteX2" fmla="*/ 0 w 40120"/>
                <a:gd name="connsiteY2" fmla="*/ 20060 h 40120"/>
                <a:gd name="connsiteX3" fmla="*/ 20060 w 40120"/>
                <a:gd name="connsiteY3" fmla="*/ 0 h 40120"/>
                <a:gd name="connsiteX4" fmla="*/ 40120 w 40120"/>
                <a:gd name="connsiteY4" fmla="*/ 20060 h 4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20" h="40120">
                  <a:moveTo>
                    <a:pt x="40120" y="20060"/>
                  </a:moveTo>
                  <a:cubicBezTo>
                    <a:pt x="40120" y="31139"/>
                    <a:pt x="31139" y="40120"/>
                    <a:pt x="20060" y="40120"/>
                  </a:cubicBezTo>
                  <a:cubicBezTo>
                    <a:pt x="8981" y="40120"/>
                    <a:pt x="0" y="31139"/>
                    <a:pt x="0" y="20060"/>
                  </a:cubicBezTo>
                  <a:cubicBezTo>
                    <a:pt x="0" y="8981"/>
                    <a:pt x="8981" y="0"/>
                    <a:pt x="20060" y="0"/>
                  </a:cubicBezTo>
                  <a:cubicBezTo>
                    <a:pt x="31139" y="0"/>
                    <a:pt x="40120" y="8981"/>
                    <a:pt x="40120" y="20060"/>
                  </a:cubicBezTo>
                  <a:close/>
                </a:path>
              </a:pathLst>
            </a:custGeom>
            <a:solidFill>
              <a:srgbClr val="000000"/>
            </a:solidFill>
            <a:ln w="3778"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235AB419-5A2B-724F-57C9-00A08DB26A53}"/>
                </a:ext>
              </a:extLst>
            </p:cNvPr>
            <p:cNvSpPr/>
            <p:nvPr/>
          </p:nvSpPr>
          <p:spPr>
            <a:xfrm>
              <a:off x="3869567" y="5175343"/>
              <a:ext cx="335345" cy="335345"/>
            </a:xfrm>
            <a:custGeom>
              <a:avLst/>
              <a:gdLst>
                <a:gd name="connsiteX0" fmla="*/ 335346 w 335345"/>
                <a:gd name="connsiteY0" fmla="*/ 167673 h 335345"/>
                <a:gd name="connsiteX1" fmla="*/ 274408 w 335345"/>
                <a:gd name="connsiteY1" fmla="*/ 121118 h 335345"/>
                <a:gd name="connsiteX2" fmla="*/ 214228 w 335345"/>
                <a:gd name="connsiteY2" fmla="*/ 60938 h 335345"/>
                <a:gd name="connsiteX3" fmla="*/ 167673 w 335345"/>
                <a:gd name="connsiteY3" fmla="*/ 0 h 335345"/>
                <a:gd name="connsiteX4" fmla="*/ 121118 w 335345"/>
                <a:gd name="connsiteY4" fmla="*/ 60938 h 335345"/>
                <a:gd name="connsiteX5" fmla="*/ 60938 w 335345"/>
                <a:gd name="connsiteY5" fmla="*/ 121118 h 335345"/>
                <a:gd name="connsiteX6" fmla="*/ 0 w 335345"/>
                <a:gd name="connsiteY6" fmla="*/ 167673 h 335345"/>
                <a:gd name="connsiteX7" fmla="*/ 60938 w 335345"/>
                <a:gd name="connsiteY7" fmla="*/ 214228 h 335345"/>
                <a:gd name="connsiteX8" fmla="*/ 121118 w 335345"/>
                <a:gd name="connsiteY8" fmla="*/ 274408 h 335345"/>
                <a:gd name="connsiteX9" fmla="*/ 167673 w 335345"/>
                <a:gd name="connsiteY9" fmla="*/ 335346 h 335345"/>
                <a:gd name="connsiteX10" fmla="*/ 214228 w 335345"/>
                <a:gd name="connsiteY10" fmla="*/ 274408 h 335345"/>
                <a:gd name="connsiteX11" fmla="*/ 274408 w 335345"/>
                <a:gd name="connsiteY11" fmla="*/ 214228 h 335345"/>
                <a:gd name="connsiteX12" fmla="*/ 335346 w 335345"/>
                <a:gd name="connsiteY12" fmla="*/ 167673 h 33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5345" h="335345">
                  <a:moveTo>
                    <a:pt x="335346" y="167673"/>
                  </a:moveTo>
                  <a:cubicBezTo>
                    <a:pt x="335346" y="148748"/>
                    <a:pt x="311501" y="132094"/>
                    <a:pt x="274408" y="121118"/>
                  </a:cubicBezTo>
                  <a:cubicBezTo>
                    <a:pt x="245643" y="112413"/>
                    <a:pt x="222933" y="89703"/>
                    <a:pt x="214228" y="60938"/>
                  </a:cubicBezTo>
                  <a:cubicBezTo>
                    <a:pt x="203251" y="23845"/>
                    <a:pt x="186598" y="0"/>
                    <a:pt x="167673" y="0"/>
                  </a:cubicBezTo>
                  <a:cubicBezTo>
                    <a:pt x="148748" y="0"/>
                    <a:pt x="132095" y="23845"/>
                    <a:pt x="121118" y="60938"/>
                  </a:cubicBezTo>
                  <a:cubicBezTo>
                    <a:pt x="112413" y="89703"/>
                    <a:pt x="89703" y="112413"/>
                    <a:pt x="60938" y="121118"/>
                  </a:cubicBezTo>
                  <a:cubicBezTo>
                    <a:pt x="23845" y="132094"/>
                    <a:pt x="0" y="148748"/>
                    <a:pt x="0" y="167673"/>
                  </a:cubicBezTo>
                  <a:cubicBezTo>
                    <a:pt x="0" y="186598"/>
                    <a:pt x="23845" y="203251"/>
                    <a:pt x="60938" y="214228"/>
                  </a:cubicBezTo>
                  <a:cubicBezTo>
                    <a:pt x="89703" y="222933"/>
                    <a:pt x="112413" y="245643"/>
                    <a:pt x="121118" y="274408"/>
                  </a:cubicBezTo>
                  <a:cubicBezTo>
                    <a:pt x="132095" y="311501"/>
                    <a:pt x="148748" y="335346"/>
                    <a:pt x="167673" y="335346"/>
                  </a:cubicBezTo>
                  <a:cubicBezTo>
                    <a:pt x="186598" y="335346"/>
                    <a:pt x="203251" y="311501"/>
                    <a:pt x="214228" y="274408"/>
                  </a:cubicBezTo>
                  <a:cubicBezTo>
                    <a:pt x="222933" y="245643"/>
                    <a:pt x="245643" y="222933"/>
                    <a:pt x="274408" y="214228"/>
                  </a:cubicBezTo>
                  <a:cubicBezTo>
                    <a:pt x="311879" y="202873"/>
                    <a:pt x="335346" y="186219"/>
                    <a:pt x="335346" y="167673"/>
                  </a:cubicBezTo>
                  <a:close/>
                </a:path>
              </a:pathLst>
            </a:custGeom>
            <a:solidFill>
              <a:srgbClr val="000000"/>
            </a:solidFill>
            <a:ln w="3778"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4D72292A-8C0F-C6ED-F17B-FA2DC9C93E12}"/>
                </a:ext>
              </a:extLst>
            </p:cNvPr>
            <p:cNvSpPr/>
            <p:nvPr/>
          </p:nvSpPr>
          <p:spPr>
            <a:xfrm>
              <a:off x="4131863" y="5060281"/>
              <a:ext cx="146855" cy="146855"/>
            </a:xfrm>
            <a:custGeom>
              <a:avLst/>
              <a:gdLst>
                <a:gd name="connsiteX0" fmla="*/ 26495 w 146855"/>
                <a:gd name="connsiteY0" fmla="*/ 93867 h 146855"/>
                <a:gd name="connsiteX1" fmla="*/ 52989 w 146855"/>
                <a:gd name="connsiteY1" fmla="*/ 120361 h 146855"/>
                <a:gd name="connsiteX2" fmla="*/ 73428 w 146855"/>
                <a:gd name="connsiteY2" fmla="*/ 146856 h 146855"/>
                <a:gd name="connsiteX3" fmla="*/ 93867 w 146855"/>
                <a:gd name="connsiteY3" fmla="*/ 120361 h 146855"/>
                <a:gd name="connsiteX4" fmla="*/ 120361 w 146855"/>
                <a:gd name="connsiteY4" fmla="*/ 93867 h 146855"/>
                <a:gd name="connsiteX5" fmla="*/ 146856 w 146855"/>
                <a:gd name="connsiteY5" fmla="*/ 73428 h 146855"/>
                <a:gd name="connsiteX6" fmla="*/ 120361 w 146855"/>
                <a:gd name="connsiteY6" fmla="*/ 52989 h 146855"/>
                <a:gd name="connsiteX7" fmla="*/ 93867 w 146855"/>
                <a:gd name="connsiteY7" fmla="*/ 26495 h 146855"/>
                <a:gd name="connsiteX8" fmla="*/ 73428 w 146855"/>
                <a:gd name="connsiteY8" fmla="*/ 0 h 146855"/>
                <a:gd name="connsiteX9" fmla="*/ 52989 w 146855"/>
                <a:gd name="connsiteY9" fmla="*/ 26495 h 146855"/>
                <a:gd name="connsiteX10" fmla="*/ 26495 w 146855"/>
                <a:gd name="connsiteY10" fmla="*/ 52989 h 146855"/>
                <a:gd name="connsiteX11" fmla="*/ 0 w 146855"/>
                <a:gd name="connsiteY11" fmla="*/ 73428 h 146855"/>
                <a:gd name="connsiteX12" fmla="*/ 26495 w 146855"/>
                <a:gd name="connsiteY12" fmla="*/ 93867 h 146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6855" h="146855">
                  <a:moveTo>
                    <a:pt x="26495" y="93867"/>
                  </a:moveTo>
                  <a:cubicBezTo>
                    <a:pt x="38985" y="97652"/>
                    <a:pt x="49204" y="107492"/>
                    <a:pt x="52989" y="120361"/>
                  </a:cubicBezTo>
                  <a:cubicBezTo>
                    <a:pt x="57910" y="136636"/>
                    <a:pt x="65101" y="146856"/>
                    <a:pt x="73428" y="146856"/>
                  </a:cubicBezTo>
                  <a:cubicBezTo>
                    <a:pt x="81755" y="146856"/>
                    <a:pt x="88946" y="136636"/>
                    <a:pt x="93867" y="120361"/>
                  </a:cubicBezTo>
                  <a:cubicBezTo>
                    <a:pt x="97652" y="107871"/>
                    <a:pt x="107492" y="97652"/>
                    <a:pt x="120361" y="93867"/>
                  </a:cubicBezTo>
                  <a:cubicBezTo>
                    <a:pt x="136636" y="88946"/>
                    <a:pt x="146856" y="81755"/>
                    <a:pt x="146856" y="73428"/>
                  </a:cubicBezTo>
                  <a:cubicBezTo>
                    <a:pt x="146856" y="65101"/>
                    <a:pt x="136636" y="57910"/>
                    <a:pt x="120361" y="52989"/>
                  </a:cubicBezTo>
                  <a:cubicBezTo>
                    <a:pt x="107871" y="49204"/>
                    <a:pt x="97652" y="39363"/>
                    <a:pt x="93867" y="26495"/>
                  </a:cubicBezTo>
                  <a:cubicBezTo>
                    <a:pt x="88946" y="10219"/>
                    <a:pt x="81755" y="0"/>
                    <a:pt x="73428" y="0"/>
                  </a:cubicBezTo>
                  <a:cubicBezTo>
                    <a:pt x="65101" y="0"/>
                    <a:pt x="57910" y="10219"/>
                    <a:pt x="52989" y="26495"/>
                  </a:cubicBezTo>
                  <a:cubicBezTo>
                    <a:pt x="49204" y="38985"/>
                    <a:pt x="39363" y="49204"/>
                    <a:pt x="26495" y="52989"/>
                  </a:cubicBezTo>
                  <a:cubicBezTo>
                    <a:pt x="10219" y="57910"/>
                    <a:pt x="0" y="65101"/>
                    <a:pt x="0" y="73428"/>
                  </a:cubicBezTo>
                  <a:cubicBezTo>
                    <a:pt x="0" y="81755"/>
                    <a:pt x="10219" y="88946"/>
                    <a:pt x="26495" y="93867"/>
                  </a:cubicBezTo>
                  <a:close/>
                </a:path>
              </a:pathLst>
            </a:custGeom>
            <a:solidFill>
              <a:srgbClr val="000000"/>
            </a:solidFill>
            <a:ln w="3778"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D708FAC3-CEAA-4F44-E2F6-EC5B1D751858}"/>
                </a:ext>
              </a:extLst>
            </p:cNvPr>
            <p:cNvSpPr/>
            <p:nvPr/>
          </p:nvSpPr>
          <p:spPr>
            <a:xfrm>
              <a:off x="3828311" y="4912290"/>
              <a:ext cx="189247" cy="189247"/>
            </a:xfrm>
            <a:custGeom>
              <a:avLst/>
              <a:gdLst>
                <a:gd name="connsiteX0" fmla="*/ 34443 w 189247"/>
                <a:gd name="connsiteY0" fmla="*/ 120740 h 189247"/>
                <a:gd name="connsiteX1" fmla="*/ 68507 w 189247"/>
                <a:gd name="connsiteY1" fmla="*/ 154804 h 189247"/>
                <a:gd name="connsiteX2" fmla="*/ 94624 w 189247"/>
                <a:gd name="connsiteY2" fmla="*/ 189247 h 189247"/>
                <a:gd name="connsiteX3" fmla="*/ 120740 w 189247"/>
                <a:gd name="connsiteY3" fmla="*/ 154804 h 189247"/>
                <a:gd name="connsiteX4" fmla="*/ 154804 w 189247"/>
                <a:gd name="connsiteY4" fmla="*/ 120740 h 189247"/>
                <a:gd name="connsiteX5" fmla="*/ 189247 w 189247"/>
                <a:gd name="connsiteY5" fmla="*/ 94624 h 189247"/>
                <a:gd name="connsiteX6" fmla="*/ 154804 w 189247"/>
                <a:gd name="connsiteY6" fmla="*/ 68507 h 189247"/>
                <a:gd name="connsiteX7" fmla="*/ 120740 w 189247"/>
                <a:gd name="connsiteY7" fmla="*/ 34443 h 189247"/>
                <a:gd name="connsiteX8" fmla="*/ 94624 w 189247"/>
                <a:gd name="connsiteY8" fmla="*/ 0 h 189247"/>
                <a:gd name="connsiteX9" fmla="*/ 68507 w 189247"/>
                <a:gd name="connsiteY9" fmla="*/ 34443 h 189247"/>
                <a:gd name="connsiteX10" fmla="*/ 34443 w 189247"/>
                <a:gd name="connsiteY10" fmla="*/ 68507 h 189247"/>
                <a:gd name="connsiteX11" fmla="*/ 0 w 189247"/>
                <a:gd name="connsiteY11" fmla="*/ 94624 h 189247"/>
                <a:gd name="connsiteX12" fmla="*/ 34443 w 189247"/>
                <a:gd name="connsiteY12" fmla="*/ 120740 h 189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247" h="189247">
                  <a:moveTo>
                    <a:pt x="34443" y="120740"/>
                  </a:moveTo>
                  <a:cubicBezTo>
                    <a:pt x="50718" y="125660"/>
                    <a:pt x="63587" y="138529"/>
                    <a:pt x="68507" y="154804"/>
                  </a:cubicBezTo>
                  <a:cubicBezTo>
                    <a:pt x="74563" y="175621"/>
                    <a:pt x="84026" y="189247"/>
                    <a:pt x="94624" y="189247"/>
                  </a:cubicBezTo>
                  <a:cubicBezTo>
                    <a:pt x="105221" y="189247"/>
                    <a:pt x="114684" y="176000"/>
                    <a:pt x="120740" y="154804"/>
                  </a:cubicBezTo>
                  <a:cubicBezTo>
                    <a:pt x="125660" y="138529"/>
                    <a:pt x="138529" y="125660"/>
                    <a:pt x="154804" y="120740"/>
                  </a:cubicBezTo>
                  <a:cubicBezTo>
                    <a:pt x="175621" y="114684"/>
                    <a:pt x="189247" y="105221"/>
                    <a:pt x="189247" y="94624"/>
                  </a:cubicBezTo>
                  <a:cubicBezTo>
                    <a:pt x="189247" y="84026"/>
                    <a:pt x="176000" y="74563"/>
                    <a:pt x="154804" y="68507"/>
                  </a:cubicBezTo>
                  <a:cubicBezTo>
                    <a:pt x="138529" y="63587"/>
                    <a:pt x="125660" y="50718"/>
                    <a:pt x="120740" y="34443"/>
                  </a:cubicBezTo>
                  <a:cubicBezTo>
                    <a:pt x="114684" y="13626"/>
                    <a:pt x="105221" y="0"/>
                    <a:pt x="94624" y="0"/>
                  </a:cubicBezTo>
                  <a:cubicBezTo>
                    <a:pt x="84026" y="0"/>
                    <a:pt x="74563" y="13247"/>
                    <a:pt x="68507" y="34443"/>
                  </a:cubicBezTo>
                  <a:cubicBezTo>
                    <a:pt x="63587" y="50718"/>
                    <a:pt x="50718" y="63587"/>
                    <a:pt x="34443" y="68507"/>
                  </a:cubicBezTo>
                  <a:cubicBezTo>
                    <a:pt x="13626" y="74563"/>
                    <a:pt x="0" y="84026"/>
                    <a:pt x="0" y="94624"/>
                  </a:cubicBezTo>
                  <a:cubicBezTo>
                    <a:pt x="0" y="105221"/>
                    <a:pt x="13626" y="114684"/>
                    <a:pt x="34443" y="120740"/>
                  </a:cubicBezTo>
                  <a:close/>
                </a:path>
              </a:pathLst>
            </a:custGeom>
            <a:solidFill>
              <a:srgbClr val="000000"/>
            </a:solidFill>
            <a:ln w="3778"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E70AB1A8-0AF1-AB52-BA35-BA34BA110DE9}"/>
                </a:ext>
              </a:extLst>
            </p:cNvPr>
            <p:cNvSpPr/>
            <p:nvPr/>
          </p:nvSpPr>
          <p:spPr>
            <a:xfrm>
              <a:off x="3883193" y="5208651"/>
              <a:ext cx="40120" cy="40120"/>
            </a:xfrm>
            <a:custGeom>
              <a:avLst/>
              <a:gdLst>
                <a:gd name="connsiteX0" fmla="*/ 40120 w 40120"/>
                <a:gd name="connsiteY0" fmla="*/ 20060 h 40120"/>
                <a:gd name="connsiteX1" fmla="*/ 20060 w 40120"/>
                <a:gd name="connsiteY1" fmla="*/ 40120 h 40120"/>
                <a:gd name="connsiteX2" fmla="*/ 0 w 40120"/>
                <a:gd name="connsiteY2" fmla="*/ 20060 h 40120"/>
                <a:gd name="connsiteX3" fmla="*/ 20060 w 40120"/>
                <a:gd name="connsiteY3" fmla="*/ 0 h 40120"/>
                <a:gd name="connsiteX4" fmla="*/ 40120 w 40120"/>
                <a:gd name="connsiteY4" fmla="*/ 20060 h 4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20" h="40120">
                  <a:moveTo>
                    <a:pt x="40120" y="20060"/>
                  </a:moveTo>
                  <a:cubicBezTo>
                    <a:pt x="40120" y="31139"/>
                    <a:pt x="31139" y="40120"/>
                    <a:pt x="20060" y="40120"/>
                  </a:cubicBezTo>
                  <a:cubicBezTo>
                    <a:pt x="8981" y="40120"/>
                    <a:pt x="0" y="31139"/>
                    <a:pt x="0" y="20060"/>
                  </a:cubicBezTo>
                  <a:cubicBezTo>
                    <a:pt x="0" y="8981"/>
                    <a:pt x="8981" y="0"/>
                    <a:pt x="20060" y="0"/>
                  </a:cubicBezTo>
                  <a:cubicBezTo>
                    <a:pt x="31139" y="0"/>
                    <a:pt x="40120" y="8981"/>
                    <a:pt x="40120" y="20060"/>
                  </a:cubicBezTo>
                  <a:close/>
                </a:path>
              </a:pathLst>
            </a:custGeom>
            <a:solidFill>
              <a:srgbClr val="000000"/>
            </a:solidFill>
            <a:ln w="3778"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8F76E88D-A9E2-AB21-28AD-6174A4C23419}"/>
                </a:ext>
              </a:extLst>
            </p:cNvPr>
            <p:cNvSpPr/>
            <p:nvPr/>
          </p:nvSpPr>
          <p:spPr>
            <a:xfrm>
              <a:off x="3626195" y="5155283"/>
              <a:ext cx="146855" cy="146855"/>
            </a:xfrm>
            <a:custGeom>
              <a:avLst/>
              <a:gdLst>
                <a:gd name="connsiteX0" fmla="*/ 120361 w 146855"/>
                <a:gd name="connsiteY0" fmla="*/ 93867 h 146855"/>
                <a:gd name="connsiteX1" fmla="*/ 146856 w 146855"/>
                <a:gd name="connsiteY1" fmla="*/ 73428 h 146855"/>
                <a:gd name="connsiteX2" fmla="*/ 120361 w 146855"/>
                <a:gd name="connsiteY2" fmla="*/ 52989 h 146855"/>
                <a:gd name="connsiteX3" fmla="*/ 93867 w 146855"/>
                <a:gd name="connsiteY3" fmla="*/ 26495 h 146855"/>
                <a:gd name="connsiteX4" fmla="*/ 73428 w 146855"/>
                <a:gd name="connsiteY4" fmla="*/ 0 h 146855"/>
                <a:gd name="connsiteX5" fmla="*/ 52989 w 146855"/>
                <a:gd name="connsiteY5" fmla="*/ 26495 h 146855"/>
                <a:gd name="connsiteX6" fmla="*/ 26495 w 146855"/>
                <a:gd name="connsiteY6" fmla="*/ 52989 h 146855"/>
                <a:gd name="connsiteX7" fmla="*/ 0 w 146855"/>
                <a:gd name="connsiteY7" fmla="*/ 73428 h 146855"/>
                <a:gd name="connsiteX8" fmla="*/ 26495 w 146855"/>
                <a:gd name="connsiteY8" fmla="*/ 93867 h 146855"/>
                <a:gd name="connsiteX9" fmla="*/ 52989 w 146855"/>
                <a:gd name="connsiteY9" fmla="*/ 120361 h 146855"/>
                <a:gd name="connsiteX10" fmla="*/ 73428 w 146855"/>
                <a:gd name="connsiteY10" fmla="*/ 146856 h 146855"/>
                <a:gd name="connsiteX11" fmla="*/ 93867 w 146855"/>
                <a:gd name="connsiteY11" fmla="*/ 120361 h 146855"/>
                <a:gd name="connsiteX12" fmla="*/ 120361 w 146855"/>
                <a:gd name="connsiteY12" fmla="*/ 93867 h 146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6855" h="146855">
                  <a:moveTo>
                    <a:pt x="120361" y="93867"/>
                  </a:moveTo>
                  <a:cubicBezTo>
                    <a:pt x="136636" y="88946"/>
                    <a:pt x="146856" y="81755"/>
                    <a:pt x="146856" y="73428"/>
                  </a:cubicBezTo>
                  <a:cubicBezTo>
                    <a:pt x="146856" y="65101"/>
                    <a:pt x="136636" y="57910"/>
                    <a:pt x="120361" y="52989"/>
                  </a:cubicBezTo>
                  <a:cubicBezTo>
                    <a:pt x="107871" y="49204"/>
                    <a:pt x="97652" y="39363"/>
                    <a:pt x="93867" y="26495"/>
                  </a:cubicBezTo>
                  <a:cubicBezTo>
                    <a:pt x="88946" y="10219"/>
                    <a:pt x="81755" y="0"/>
                    <a:pt x="73428" y="0"/>
                  </a:cubicBezTo>
                  <a:cubicBezTo>
                    <a:pt x="65101" y="0"/>
                    <a:pt x="57910" y="10219"/>
                    <a:pt x="52989" y="26495"/>
                  </a:cubicBezTo>
                  <a:cubicBezTo>
                    <a:pt x="49204" y="38985"/>
                    <a:pt x="39363" y="49204"/>
                    <a:pt x="26495" y="52989"/>
                  </a:cubicBezTo>
                  <a:cubicBezTo>
                    <a:pt x="10219" y="57910"/>
                    <a:pt x="0" y="65101"/>
                    <a:pt x="0" y="73428"/>
                  </a:cubicBezTo>
                  <a:cubicBezTo>
                    <a:pt x="0" y="81755"/>
                    <a:pt x="10219" y="88946"/>
                    <a:pt x="26495" y="93867"/>
                  </a:cubicBezTo>
                  <a:cubicBezTo>
                    <a:pt x="38985" y="97652"/>
                    <a:pt x="49204" y="107492"/>
                    <a:pt x="52989" y="120361"/>
                  </a:cubicBezTo>
                  <a:cubicBezTo>
                    <a:pt x="57910" y="136636"/>
                    <a:pt x="65101" y="146856"/>
                    <a:pt x="73428" y="146856"/>
                  </a:cubicBezTo>
                  <a:cubicBezTo>
                    <a:pt x="81755" y="146856"/>
                    <a:pt x="88946" y="136636"/>
                    <a:pt x="93867" y="120361"/>
                  </a:cubicBezTo>
                  <a:cubicBezTo>
                    <a:pt x="97652" y="107492"/>
                    <a:pt x="107871" y="97273"/>
                    <a:pt x="120361" y="93867"/>
                  </a:cubicBezTo>
                  <a:close/>
                </a:path>
              </a:pathLst>
            </a:custGeom>
            <a:solidFill>
              <a:srgbClr val="000000"/>
            </a:solidFill>
            <a:ln w="3778"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20D7A3BC-E782-BB17-4793-09C389D0A363}"/>
                </a:ext>
              </a:extLst>
            </p:cNvPr>
            <p:cNvSpPr/>
            <p:nvPr/>
          </p:nvSpPr>
          <p:spPr>
            <a:xfrm>
              <a:off x="3733309" y="5081477"/>
              <a:ext cx="40120" cy="40120"/>
            </a:xfrm>
            <a:custGeom>
              <a:avLst/>
              <a:gdLst>
                <a:gd name="connsiteX0" fmla="*/ 40120 w 40120"/>
                <a:gd name="connsiteY0" fmla="*/ 20060 h 40120"/>
                <a:gd name="connsiteX1" fmla="*/ 20060 w 40120"/>
                <a:gd name="connsiteY1" fmla="*/ 40120 h 40120"/>
                <a:gd name="connsiteX2" fmla="*/ 0 w 40120"/>
                <a:gd name="connsiteY2" fmla="*/ 20060 h 40120"/>
                <a:gd name="connsiteX3" fmla="*/ 20060 w 40120"/>
                <a:gd name="connsiteY3" fmla="*/ 0 h 40120"/>
                <a:gd name="connsiteX4" fmla="*/ 40120 w 40120"/>
                <a:gd name="connsiteY4" fmla="*/ 20060 h 4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20" h="40120">
                  <a:moveTo>
                    <a:pt x="40120" y="20060"/>
                  </a:moveTo>
                  <a:cubicBezTo>
                    <a:pt x="40120" y="31139"/>
                    <a:pt x="31139" y="40120"/>
                    <a:pt x="20060" y="40120"/>
                  </a:cubicBezTo>
                  <a:cubicBezTo>
                    <a:pt x="8981" y="40120"/>
                    <a:pt x="0" y="31139"/>
                    <a:pt x="0" y="20060"/>
                  </a:cubicBezTo>
                  <a:cubicBezTo>
                    <a:pt x="0" y="8981"/>
                    <a:pt x="8981" y="0"/>
                    <a:pt x="20060" y="0"/>
                  </a:cubicBezTo>
                  <a:cubicBezTo>
                    <a:pt x="31139" y="0"/>
                    <a:pt x="40120" y="8981"/>
                    <a:pt x="40120" y="20060"/>
                  </a:cubicBezTo>
                  <a:close/>
                </a:path>
              </a:pathLst>
            </a:custGeom>
            <a:solidFill>
              <a:srgbClr val="000000"/>
            </a:solidFill>
            <a:ln w="3778"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ACD85C5A-8E01-0681-0E9B-138FA799CEE2}"/>
                </a:ext>
              </a:extLst>
            </p:cNvPr>
            <p:cNvSpPr/>
            <p:nvPr/>
          </p:nvSpPr>
          <p:spPr>
            <a:xfrm>
              <a:off x="3716277" y="5039842"/>
              <a:ext cx="977272" cy="1133590"/>
            </a:xfrm>
            <a:custGeom>
              <a:avLst/>
              <a:gdLst>
                <a:gd name="connsiteX0" fmla="*/ 977272 w 977272"/>
                <a:gd name="connsiteY0" fmla="*/ 200223 h 1133590"/>
                <a:gd name="connsiteX1" fmla="*/ 820197 w 977272"/>
                <a:gd name="connsiteY1" fmla="*/ 51854 h 1133590"/>
                <a:gd name="connsiteX2" fmla="*/ 488636 w 977272"/>
                <a:gd name="connsiteY2" fmla="*/ 0 h 1133590"/>
                <a:gd name="connsiteX3" fmla="*/ 248292 w 977272"/>
                <a:gd name="connsiteY3" fmla="*/ 24981 h 1133590"/>
                <a:gd name="connsiteX4" fmla="*/ 246021 w 977272"/>
                <a:gd name="connsiteY4" fmla="*/ 31037 h 1133590"/>
                <a:gd name="connsiteX5" fmla="*/ 207036 w 977272"/>
                <a:gd name="connsiteY5" fmla="*/ 74942 h 1133590"/>
                <a:gd name="connsiteX6" fmla="*/ 173350 w 977272"/>
                <a:gd name="connsiteY6" fmla="*/ 46176 h 1133590"/>
                <a:gd name="connsiteX7" fmla="*/ 157454 w 977272"/>
                <a:gd name="connsiteY7" fmla="*/ 51854 h 1133590"/>
                <a:gd name="connsiteX8" fmla="*/ 24981 w 977272"/>
                <a:gd name="connsiteY8" fmla="*/ 150641 h 1133590"/>
                <a:gd name="connsiteX9" fmla="*/ 34064 w 977272"/>
                <a:gd name="connsiteY9" fmla="*/ 155561 h 1133590"/>
                <a:gd name="connsiteX10" fmla="*/ 70400 w 977272"/>
                <a:gd name="connsiteY10" fmla="*/ 188869 h 1133590"/>
                <a:gd name="connsiteX11" fmla="*/ 34064 w 977272"/>
                <a:gd name="connsiteY11" fmla="*/ 222176 h 1133590"/>
                <a:gd name="connsiteX12" fmla="*/ 16654 w 977272"/>
                <a:gd name="connsiteY12" fmla="*/ 239587 h 1133590"/>
                <a:gd name="connsiteX13" fmla="*/ 0 w 977272"/>
                <a:gd name="connsiteY13" fmla="*/ 269109 h 1133590"/>
                <a:gd name="connsiteX14" fmla="*/ 0 w 977272"/>
                <a:gd name="connsiteY14" fmla="*/ 925040 h 1133590"/>
                <a:gd name="connsiteX15" fmla="*/ 157075 w 977272"/>
                <a:gd name="connsiteY15" fmla="*/ 1081737 h 1133590"/>
                <a:gd name="connsiteX16" fmla="*/ 488636 w 977272"/>
                <a:gd name="connsiteY16" fmla="*/ 1133590 h 1133590"/>
                <a:gd name="connsiteX17" fmla="*/ 820197 w 977272"/>
                <a:gd name="connsiteY17" fmla="*/ 1081737 h 1133590"/>
                <a:gd name="connsiteX18" fmla="*/ 977272 w 977272"/>
                <a:gd name="connsiteY18" fmla="*/ 925040 h 1133590"/>
                <a:gd name="connsiteX19" fmla="*/ 977272 w 977272"/>
                <a:gd name="connsiteY19" fmla="*/ 200223 h 1133590"/>
                <a:gd name="connsiteX20" fmla="*/ 899303 w 977272"/>
                <a:gd name="connsiteY20" fmla="*/ 925040 h 1133590"/>
                <a:gd name="connsiteX21" fmla="*/ 793324 w 977272"/>
                <a:gd name="connsiteY21" fmla="*/ 1007173 h 1133590"/>
                <a:gd name="connsiteX22" fmla="*/ 489015 w 977272"/>
                <a:gd name="connsiteY22" fmla="*/ 1054107 h 1133590"/>
                <a:gd name="connsiteX23" fmla="*/ 184705 w 977272"/>
                <a:gd name="connsiteY23" fmla="*/ 1007173 h 1133590"/>
                <a:gd name="connsiteX24" fmla="*/ 78727 w 977272"/>
                <a:gd name="connsiteY24" fmla="*/ 925040 h 1133590"/>
                <a:gd name="connsiteX25" fmla="*/ 78727 w 977272"/>
                <a:gd name="connsiteY25" fmla="*/ 805057 h 1133590"/>
                <a:gd name="connsiteX26" fmla="*/ 157832 w 977272"/>
                <a:gd name="connsiteY26" fmla="*/ 843664 h 1133590"/>
                <a:gd name="connsiteX27" fmla="*/ 489393 w 977272"/>
                <a:gd name="connsiteY27" fmla="*/ 895517 h 1133590"/>
                <a:gd name="connsiteX28" fmla="*/ 820954 w 977272"/>
                <a:gd name="connsiteY28" fmla="*/ 843664 h 1133590"/>
                <a:gd name="connsiteX29" fmla="*/ 900059 w 977272"/>
                <a:gd name="connsiteY29" fmla="*/ 805057 h 1133590"/>
                <a:gd name="connsiteX30" fmla="*/ 899303 w 977272"/>
                <a:gd name="connsiteY30" fmla="*/ 925040 h 1133590"/>
                <a:gd name="connsiteX31" fmla="*/ 899303 w 977272"/>
                <a:gd name="connsiteY31" fmla="*/ 686967 h 1133590"/>
                <a:gd name="connsiteX32" fmla="*/ 793324 w 977272"/>
                <a:gd name="connsiteY32" fmla="*/ 769100 h 1133590"/>
                <a:gd name="connsiteX33" fmla="*/ 489015 w 977272"/>
                <a:gd name="connsiteY33" fmla="*/ 816034 h 1133590"/>
                <a:gd name="connsiteX34" fmla="*/ 184705 w 977272"/>
                <a:gd name="connsiteY34" fmla="*/ 769100 h 1133590"/>
                <a:gd name="connsiteX35" fmla="*/ 78727 w 977272"/>
                <a:gd name="connsiteY35" fmla="*/ 686967 h 1133590"/>
                <a:gd name="connsiteX36" fmla="*/ 78727 w 977272"/>
                <a:gd name="connsiteY36" fmla="*/ 566984 h 1133590"/>
                <a:gd name="connsiteX37" fmla="*/ 157832 w 977272"/>
                <a:gd name="connsiteY37" fmla="*/ 605591 h 1133590"/>
                <a:gd name="connsiteX38" fmla="*/ 489393 w 977272"/>
                <a:gd name="connsiteY38" fmla="*/ 657445 h 1133590"/>
                <a:gd name="connsiteX39" fmla="*/ 820954 w 977272"/>
                <a:gd name="connsiteY39" fmla="*/ 605591 h 1133590"/>
                <a:gd name="connsiteX40" fmla="*/ 900059 w 977272"/>
                <a:gd name="connsiteY40" fmla="*/ 566984 h 1133590"/>
                <a:gd name="connsiteX41" fmla="*/ 899303 w 977272"/>
                <a:gd name="connsiteY41" fmla="*/ 686967 h 1133590"/>
                <a:gd name="connsiteX42" fmla="*/ 488636 w 977272"/>
                <a:gd name="connsiteY42" fmla="*/ 417479 h 1133590"/>
                <a:gd name="connsiteX43" fmla="*/ 820197 w 977272"/>
                <a:gd name="connsiteY43" fmla="*/ 365625 h 1133590"/>
                <a:gd name="connsiteX44" fmla="*/ 899303 w 977272"/>
                <a:gd name="connsiteY44" fmla="*/ 327019 h 1133590"/>
                <a:gd name="connsiteX45" fmla="*/ 899303 w 977272"/>
                <a:gd name="connsiteY45" fmla="*/ 448894 h 1133590"/>
                <a:gd name="connsiteX46" fmla="*/ 793324 w 977272"/>
                <a:gd name="connsiteY46" fmla="*/ 531027 h 1133590"/>
                <a:gd name="connsiteX47" fmla="*/ 489015 w 977272"/>
                <a:gd name="connsiteY47" fmla="*/ 577961 h 1133590"/>
                <a:gd name="connsiteX48" fmla="*/ 184705 w 977272"/>
                <a:gd name="connsiteY48" fmla="*/ 531027 h 1133590"/>
                <a:gd name="connsiteX49" fmla="*/ 78727 w 977272"/>
                <a:gd name="connsiteY49" fmla="*/ 448894 h 1133590"/>
                <a:gd name="connsiteX50" fmla="*/ 78727 w 977272"/>
                <a:gd name="connsiteY50" fmla="*/ 327019 h 1133590"/>
                <a:gd name="connsiteX51" fmla="*/ 157832 w 977272"/>
                <a:gd name="connsiteY51" fmla="*/ 365625 h 1133590"/>
                <a:gd name="connsiteX52" fmla="*/ 252456 w 977272"/>
                <a:gd name="connsiteY52" fmla="*/ 393256 h 1133590"/>
                <a:gd name="connsiteX53" fmla="*/ 210821 w 977272"/>
                <a:gd name="connsiteY53" fmla="*/ 362598 h 1133590"/>
                <a:gd name="connsiteX54" fmla="*/ 140421 w 977272"/>
                <a:gd name="connsiteY54" fmla="*/ 303174 h 1133590"/>
                <a:gd name="connsiteX55" fmla="*/ 151019 w 977272"/>
                <a:gd name="connsiteY55" fmla="*/ 276679 h 1133590"/>
                <a:gd name="connsiteX56" fmla="*/ 78727 w 977272"/>
                <a:gd name="connsiteY56" fmla="*/ 208929 h 1133590"/>
                <a:gd name="connsiteX57" fmla="*/ 184705 w 977272"/>
                <a:gd name="connsiteY57" fmla="*/ 126796 h 1133590"/>
                <a:gd name="connsiteX58" fmla="*/ 405367 w 977272"/>
                <a:gd name="connsiteY58" fmla="*/ 82890 h 1133590"/>
                <a:gd name="connsiteX59" fmla="*/ 438675 w 977272"/>
                <a:gd name="connsiteY59" fmla="*/ 60938 h 1133590"/>
                <a:gd name="connsiteX60" fmla="*/ 456086 w 977272"/>
                <a:gd name="connsiteY60" fmla="*/ 43527 h 1133590"/>
                <a:gd name="connsiteX61" fmla="*/ 489393 w 977272"/>
                <a:gd name="connsiteY61" fmla="*/ 7191 h 1133590"/>
                <a:gd name="connsiteX62" fmla="*/ 522701 w 977272"/>
                <a:gd name="connsiteY62" fmla="*/ 43527 h 1133590"/>
                <a:gd name="connsiteX63" fmla="*/ 540111 w 977272"/>
                <a:gd name="connsiteY63" fmla="*/ 60938 h 1133590"/>
                <a:gd name="connsiteX64" fmla="*/ 573419 w 977272"/>
                <a:gd name="connsiteY64" fmla="*/ 82890 h 1133590"/>
                <a:gd name="connsiteX65" fmla="*/ 794081 w 977272"/>
                <a:gd name="connsiteY65" fmla="*/ 126796 h 1133590"/>
                <a:gd name="connsiteX66" fmla="*/ 900059 w 977272"/>
                <a:gd name="connsiteY66" fmla="*/ 208929 h 1133590"/>
                <a:gd name="connsiteX67" fmla="*/ 794081 w 977272"/>
                <a:gd name="connsiteY67" fmla="*/ 291062 h 1133590"/>
                <a:gd name="connsiteX68" fmla="*/ 489772 w 977272"/>
                <a:gd name="connsiteY68" fmla="*/ 337995 h 1133590"/>
                <a:gd name="connsiteX69" fmla="*/ 483716 w 977272"/>
                <a:gd name="connsiteY69" fmla="*/ 337995 h 1133590"/>
                <a:gd name="connsiteX70" fmla="*/ 432619 w 977272"/>
                <a:gd name="connsiteY70" fmla="*/ 362598 h 1133590"/>
                <a:gd name="connsiteX71" fmla="*/ 381522 w 977272"/>
                <a:gd name="connsiteY71" fmla="*/ 412937 h 1133590"/>
                <a:gd name="connsiteX72" fmla="*/ 488636 w 977272"/>
                <a:gd name="connsiteY72" fmla="*/ 417479 h 1133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77272" h="1133590">
                  <a:moveTo>
                    <a:pt x="977272" y="200223"/>
                  </a:moveTo>
                  <a:cubicBezTo>
                    <a:pt x="977272" y="200223"/>
                    <a:pt x="941694" y="97652"/>
                    <a:pt x="820197" y="51854"/>
                  </a:cubicBezTo>
                  <a:cubicBezTo>
                    <a:pt x="730873" y="18168"/>
                    <a:pt x="613161" y="0"/>
                    <a:pt x="488636" y="0"/>
                  </a:cubicBezTo>
                  <a:cubicBezTo>
                    <a:pt x="402718" y="0"/>
                    <a:pt x="320206" y="8705"/>
                    <a:pt x="248292" y="24981"/>
                  </a:cubicBezTo>
                  <a:cubicBezTo>
                    <a:pt x="247157" y="26873"/>
                    <a:pt x="246400" y="28766"/>
                    <a:pt x="246021" y="31037"/>
                  </a:cubicBezTo>
                  <a:cubicBezTo>
                    <a:pt x="234666" y="69264"/>
                    <a:pt x="216499" y="74942"/>
                    <a:pt x="207036" y="74942"/>
                  </a:cubicBezTo>
                  <a:cubicBezTo>
                    <a:pt x="198710" y="74942"/>
                    <a:pt x="184705" y="70778"/>
                    <a:pt x="173350" y="46176"/>
                  </a:cubicBezTo>
                  <a:cubicBezTo>
                    <a:pt x="168051" y="48069"/>
                    <a:pt x="162753" y="49961"/>
                    <a:pt x="157454" y="51854"/>
                  </a:cubicBezTo>
                  <a:cubicBezTo>
                    <a:pt x="91974" y="76456"/>
                    <a:pt x="49204" y="119226"/>
                    <a:pt x="24981" y="150641"/>
                  </a:cubicBezTo>
                  <a:cubicBezTo>
                    <a:pt x="27630" y="152912"/>
                    <a:pt x="30658" y="154804"/>
                    <a:pt x="34064" y="155561"/>
                  </a:cubicBezTo>
                  <a:cubicBezTo>
                    <a:pt x="65480" y="165023"/>
                    <a:pt x="70400" y="180542"/>
                    <a:pt x="70400" y="188869"/>
                  </a:cubicBezTo>
                  <a:cubicBezTo>
                    <a:pt x="70400" y="197196"/>
                    <a:pt x="65858" y="212714"/>
                    <a:pt x="34064" y="222176"/>
                  </a:cubicBezTo>
                  <a:cubicBezTo>
                    <a:pt x="25738" y="224447"/>
                    <a:pt x="19303" y="231260"/>
                    <a:pt x="16654" y="239587"/>
                  </a:cubicBezTo>
                  <a:cubicBezTo>
                    <a:pt x="12112" y="255105"/>
                    <a:pt x="6056" y="264189"/>
                    <a:pt x="0" y="269109"/>
                  </a:cubicBezTo>
                  <a:lnTo>
                    <a:pt x="0" y="925040"/>
                  </a:lnTo>
                  <a:cubicBezTo>
                    <a:pt x="0" y="969702"/>
                    <a:pt x="27252" y="1032911"/>
                    <a:pt x="157075" y="1081737"/>
                  </a:cubicBezTo>
                  <a:cubicBezTo>
                    <a:pt x="246021" y="1115044"/>
                    <a:pt x="363733" y="1133590"/>
                    <a:pt x="488636" y="1133590"/>
                  </a:cubicBezTo>
                  <a:cubicBezTo>
                    <a:pt x="613161" y="1133590"/>
                    <a:pt x="730873" y="1115044"/>
                    <a:pt x="820197" y="1081737"/>
                  </a:cubicBezTo>
                  <a:cubicBezTo>
                    <a:pt x="950021" y="1032911"/>
                    <a:pt x="977272" y="969324"/>
                    <a:pt x="977272" y="925040"/>
                  </a:cubicBezTo>
                  <a:lnTo>
                    <a:pt x="977272" y="200223"/>
                  </a:lnTo>
                  <a:close/>
                  <a:moveTo>
                    <a:pt x="899303" y="925040"/>
                  </a:moveTo>
                  <a:cubicBezTo>
                    <a:pt x="899303" y="944343"/>
                    <a:pt x="871672" y="977651"/>
                    <a:pt x="793324" y="1007173"/>
                  </a:cubicBezTo>
                  <a:cubicBezTo>
                    <a:pt x="712705" y="1037453"/>
                    <a:pt x="604455" y="1054107"/>
                    <a:pt x="489015" y="1054107"/>
                  </a:cubicBezTo>
                  <a:cubicBezTo>
                    <a:pt x="373574" y="1054107"/>
                    <a:pt x="265325" y="1037453"/>
                    <a:pt x="184705" y="1007173"/>
                  </a:cubicBezTo>
                  <a:cubicBezTo>
                    <a:pt x="106357" y="977651"/>
                    <a:pt x="78727" y="944722"/>
                    <a:pt x="78727" y="925040"/>
                  </a:cubicBezTo>
                  <a:cubicBezTo>
                    <a:pt x="78727" y="923905"/>
                    <a:pt x="78727" y="805057"/>
                    <a:pt x="78727" y="805057"/>
                  </a:cubicBezTo>
                  <a:cubicBezTo>
                    <a:pt x="99544" y="818683"/>
                    <a:pt x="125660" y="831552"/>
                    <a:pt x="157832" y="843664"/>
                  </a:cubicBezTo>
                  <a:cubicBezTo>
                    <a:pt x="246778" y="876971"/>
                    <a:pt x="364490" y="895517"/>
                    <a:pt x="489393" y="895517"/>
                  </a:cubicBezTo>
                  <a:cubicBezTo>
                    <a:pt x="613918" y="895517"/>
                    <a:pt x="731629" y="876971"/>
                    <a:pt x="820954" y="843664"/>
                  </a:cubicBezTo>
                  <a:cubicBezTo>
                    <a:pt x="853505" y="831552"/>
                    <a:pt x="879242" y="818305"/>
                    <a:pt x="900059" y="805057"/>
                  </a:cubicBezTo>
                  <a:cubicBezTo>
                    <a:pt x="899303" y="805057"/>
                    <a:pt x="899303" y="923905"/>
                    <a:pt x="899303" y="925040"/>
                  </a:cubicBezTo>
                  <a:close/>
                  <a:moveTo>
                    <a:pt x="899303" y="686967"/>
                  </a:moveTo>
                  <a:cubicBezTo>
                    <a:pt x="899303" y="706270"/>
                    <a:pt x="871672" y="739578"/>
                    <a:pt x="793324" y="769100"/>
                  </a:cubicBezTo>
                  <a:cubicBezTo>
                    <a:pt x="712705" y="799380"/>
                    <a:pt x="604455" y="816034"/>
                    <a:pt x="489015" y="816034"/>
                  </a:cubicBezTo>
                  <a:cubicBezTo>
                    <a:pt x="373574" y="816034"/>
                    <a:pt x="265325" y="799380"/>
                    <a:pt x="184705" y="769100"/>
                  </a:cubicBezTo>
                  <a:cubicBezTo>
                    <a:pt x="106357" y="739578"/>
                    <a:pt x="78727" y="706649"/>
                    <a:pt x="78727" y="686967"/>
                  </a:cubicBezTo>
                  <a:cubicBezTo>
                    <a:pt x="78727" y="685832"/>
                    <a:pt x="78727" y="566984"/>
                    <a:pt x="78727" y="566984"/>
                  </a:cubicBezTo>
                  <a:cubicBezTo>
                    <a:pt x="99544" y="580610"/>
                    <a:pt x="125660" y="593479"/>
                    <a:pt x="157832" y="605591"/>
                  </a:cubicBezTo>
                  <a:cubicBezTo>
                    <a:pt x="246778" y="638898"/>
                    <a:pt x="364490" y="657445"/>
                    <a:pt x="489393" y="657445"/>
                  </a:cubicBezTo>
                  <a:cubicBezTo>
                    <a:pt x="613918" y="657445"/>
                    <a:pt x="731629" y="638898"/>
                    <a:pt x="820954" y="605591"/>
                  </a:cubicBezTo>
                  <a:cubicBezTo>
                    <a:pt x="853505" y="593479"/>
                    <a:pt x="879242" y="580232"/>
                    <a:pt x="900059" y="566984"/>
                  </a:cubicBezTo>
                  <a:cubicBezTo>
                    <a:pt x="899303" y="566984"/>
                    <a:pt x="899303" y="685832"/>
                    <a:pt x="899303" y="686967"/>
                  </a:cubicBezTo>
                  <a:close/>
                  <a:moveTo>
                    <a:pt x="488636" y="417479"/>
                  </a:moveTo>
                  <a:cubicBezTo>
                    <a:pt x="613161" y="417479"/>
                    <a:pt x="730873" y="398933"/>
                    <a:pt x="820197" y="365625"/>
                  </a:cubicBezTo>
                  <a:cubicBezTo>
                    <a:pt x="852748" y="353514"/>
                    <a:pt x="878485" y="340266"/>
                    <a:pt x="899303" y="327019"/>
                  </a:cubicBezTo>
                  <a:cubicBezTo>
                    <a:pt x="899303" y="327019"/>
                    <a:pt x="899303" y="447759"/>
                    <a:pt x="899303" y="448894"/>
                  </a:cubicBezTo>
                  <a:cubicBezTo>
                    <a:pt x="899303" y="468197"/>
                    <a:pt x="871672" y="501505"/>
                    <a:pt x="793324" y="531027"/>
                  </a:cubicBezTo>
                  <a:cubicBezTo>
                    <a:pt x="712705" y="561307"/>
                    <a:pt x="604455" y="577961"/>
                    <a:pt x="489015" y="577961"/>
                  </a:cubicBezTo>
                  <a:cubicBezTo>
                    <a:pt x="373574" y="577961"/>
                    <a:pt x="265325" y="561307"/>
                    <a:pt x="184705" y="531027"/>
                  </a:cubicBezTo>
                  <a:cubicBezTo>
                    <a:pt x="106357" y="501505"/>
                    <a:pt x="78727" y="468576"/>
                    <a:pt x="78727" y="448894"/>
                  </a:cubicBezTo>
                  <a:cubicBezTo>
                    <a:pt x="78727" y="447759"/>
                    <a:pt x="78727" y="327019"/>
                    <a:pt x="78727" y="327019"/>
                  </a:cubicBezTo>
                  <a:cubicBezTo>
                    <a:pt x="99544" y="340645"/>
                    <a:pt x="125660" y="353514"/>
                    <a:pt x="157832" y="365625"/>
                  </a:cubicBezTo>
                  <a:cubicBezTo>
                    <a:pt x="186598" y="376602"/>
                    <a:pt x="218391" y="385686"/>
                    <a:pt x="252456" y="393256"/>
                  </a:cubicBezTo>
                  <a:cubicBezTo>
                    <a:pt x="242615" y="378494"/>
                    <a:pt x="227854" y="367518"/>
                    <a:pt x="210821" y="362598"/>
                  </a:cubicBezTo>
                  <a:cubicBezTo>
                    <a:pt x="165402" y="348972"/>
                    <a:pt x="140421" y="328155"/>
                    <a:pt x="140421" y="303174"/>
                  </a:cubicBezTo>
                  <a:cubicBezTo>
                    <a:pt x="140421" y="293712"/>
                    <a:pt x="144206" y="285006"/>
                    <a:pt x="151019" y="276679"/>
                  </a:cubicBezTo>
                  <a:cubicBezTo>
                    <a:pt x="98409" y="251320"/>
                    <a:pt x="78727" y="225204"/>
                    <a:pt x="78727" y="208929"/>
                  </a:cubicBezTo>
                  <a:cubicBezTo>
                    <a:pt x="78727" y="189626"/>
                    <a:pt x="106357" y="156318"/>
                    <a:pt x="184705" y="126796"/>
                  </a:cubicBezTo>
                  <a:cubicBezTo>
                    <a:pt x="245643" y="104086"/>
                    <a:pt x="321720" y="88946"/>
                    <a:pt x="405367" y="82890"/>
                  </a:cubicBezTo>
                  <a:cubicBezTo>
                    <a:pt x="409531" y="75320"/>
                    <a:pt x="418615" y="66993"/>
                    <a:pt x="438675" y="60938"/>
                  </a:cubicBezTo>
                  <a:cubicBezTo>
                    <a:pt x="447002" y="58667"/>
                    <a:pt x="453436" y="51854"/>
                    <a:pt x="456086" y="43527"/>
                  </a:cubicBezTo>
                  <a:cubicBezTo>
                    <a:pt x="465548" y="12112"/>
                    <a:pt x="481066" y="7191"/>
                    <a:pt x="489393" y="7191"/>
                  </a:cubicBezTo>
                  <a:cubicBezTo>
                    <a:pt x="497720" y="7191"/>
                    <a:pt x="513238" y="11733"/>
                    <a:pt x="522701" y="43527"/>
                  </a:cubicBezTo>
                  <a:cubicBezTo>
                    <a:pt x="524972" y="51854"/>
                    <a:pt x="531785" y="58288"/>
                    <a:pt x="540111" y="60938"/>
                  </a:cubicBezTo>
                  <a:cubicBezTo>
                    <a:pt x="560172" y="66993"/>
                    <a:pt x="569255" y="75320"/>
                    <a:pt x="573419" y="82890"/>
                  </a:cubicBezTo>
                  <a:cubicBezTo>
                    <a:pt x="656688" y="88946"/>
                    <a:pt x="733143" y="104086"/>
                    <a:pt x="794081" y="126796"/>
                  </a:cubicBezTo>
                  <a:cubicBezTo>
                    <a:pt x="872429" y="156318"/>
                    <a:pt x="900059" y="189247"/>
                    <a:pt x="900059" y="208929"/>
                  </a:cubicBezTo>
                  <a:cubicBezTo>
                    <a:pt x="900059" y="228232"/>
                    <a:pt x="872429" y="261540"/>
                    <a:pt x="794081" y="291062"/>
                  </a:cubicBezTo>
                  <a:cubicBezTo>
                    <a:pt x="713462" y="321342"/>
                    <a:pt x="605212" y="337995"/>
                    <a:pt x="489772" y="337995"/>
                  </a:cubicBezTo>
                  <a:cubicBezTo>
                    <a:pt x="487879" y="337995"/>
                    <a:pt x="485987" y="337995"/>
                    <a:pt x="483716" y="337995"/>
                  </a:cubicBezTo>
                  <a:cubicBezTo>
                    <a:pt x="471982" y="347836"/>
                    <a:pt x="454572" y="356163"/>
                    <a:pt x="432619" y="362598"/>
                  </a:cubicBezTo>
                  <a:cubicBezTo>
                    <a:pt x="408395" y="369789"/>
                    <a:pt x="389092" y="389092"/>
                    <a:pt x="381522" y="412937"/>
                  </a:cubicBezTo>
                  <a:cubicBezTo>
                    <a:pt x="415587" y="415965"/>
                    <a:pt x="451922" y="417479"/>
                    <a:pt x="488636" y="417479"/>
                  </a:cubicBezTo>
                  <a:close/>
                </a:path>
              </a:pathLst>
            </a:custGeom>
            <a:solidFill>
              <a:srgbClr val="000000"/>
            </a:solidFill>
            <a:ln w="3778"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FC767321-8FA9-83AC-BA17-3F9B12C2D58C}"/>
                </a:ext>
              </a:extLst>
            </p:cNvPr>
            <p:cNvSpPr/>
            <p:nvPr/>
          </p:nvSpPr>
          <p:spPr>
            <a:xfrm>
              <a:off x="5359935" y="5942265"/>
              <a:ext cx="59330" cy="59473"/>
            </a:xfrm>
            <a:custGeom>
              <a:avLst/>
              <a:gdLst>
                <a:gd name="connsiteX0" fmla="*/ 8848 w 59330"/>
                <a:gd name="connsiteY0" fmla="*/ 8613 h 59473"/>
                <a:gd name="connsiteX1" fmla="*/ 8469 w 59330"/>
                <a:gd name="connsiteY1" fmla="*/ 50626 h 59473"/>
                <a:gd name="connsiteX2" fmla="*/ 50482 w 59330"/>
                <a:gd name="connsiteY2" fmla="*/ 51004 h 59473"/>
                <a:gd name="connsiteX3" fmla="*/ 50861 w 59330"/>
                <a:gd name="connsiteY3" fmla="*/ 8991 h 59473"/>
                <a:gd name="connsiteX4" fmla="*/ 8848 w 59330"/>
                <a:gd name="connsiteY4" fmla="*/ 8613 h 59473"/>
                <a:gd name="connsiteX5" fmla="*/ 45562 w 59330"/>
                <a:gd name="connsiteY5" fmla="*/ 38893 h 59473"/>
                <a:gd name="connsiteX6" fmla="*/ 39127 w 59330"/>
                <a:gd name="connsiteY6" fmla="*/ 45327 h 59473"/>
                <a:gd name="connsiteX7" fmla="*/ 30043 w 59330"/>
                <a:gd name="connsiteY7" fmla="*/ 35865 h 59473"/>
                <a:gd name="connsiteX8" fmla="*/ 20581 w 59330"/>
                <a:gd name="connsiteY8" fmla="*/ 44948 h 59473"/>
                <a:gd name="connsiteX9" fmla="*/ 14147 w 59330"/>
                <a:gd name="connsiteY9" fmla="*/ 38514 h 59473"/>
                <a:gd name="connsiteX10" fmla="*/ 23609 w 59330"/>
                <a:gd name="connsiteY10" fmla="*/ 29430 h 59473"/>
                <a:gd name="connsiteX11" fmla="*/ 14525 w 59330"/>
                <a:gd name="connsiteY11" fmla="*/ 19968 h 59473"/>
                <a:gd name="connsiteX12" fmla="*/ 20960 w 59330"/>
                <a:gd name="connsiteY12" fmla="*/ 13533 h 59473"/>
                <a:gd name="connsiteX13" fmla="*/ 30043 w 59330"/>
                <a:gd name="connsiteY13" fmla="*/ 22996 h 59473"/>
                <a:gd name="connsiteX14" fmla="*/ 39506 w 59330"/>
                <a:gd name="connsiteY14" fmla="*/ 13912 h 59473"/>
                <a:gd name="connsiteX15" fmla="*/ 45940 w 59330"/>
                <a:gd name="connsiteY15" fmla="*/ 20346 h 59473"/>
                <a:gd name="connsiteX16" fmla="*/ 36478 w 59330"/>
                <a:gd name="connsiteY16" fmla="*/ 29430 h 59473"/>
                <a:gd name="connsiteX17" fmla="*/ 45562 w 59330"/>
                <a:gd name="connsiteY17" fmla="*/ 38893 h 59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9330" h="59473">
                  <a:moveTo>
                    <a:pt x="8848" y="8613"/>
                  </a:moveTo>
                  <a:cubicBezTo>
                    <a:pt x="-2885" y="19968"/>
                    <a:pt x="-2885" y="38893"/>
                    <a:pt x="8469" y="50626"/>
                  </a:cubicBezTo>
                  <a:cubicBezTo>
                    <a:pt x="19824" y="62359"/>
                    <a:pt x="38749" y="62359"/>
                    <a:pt x="50482" y="51004"/>
                  </a:cubicBezTo>
                  <a:cubicBezTo>
                    <a:pt x="62216" y="39650"/>
                    <a:pt x="62216" y="20725"/>
                    <a:pt x="50861" y="8991"/>
                  </a:cubicBezTo>
                  <a:cubicBezTo>
                    <a:pt x="39506" y="-2742"/>
                    <a:pt x="20581" y="-3120"/>
                    <a:pt x="8848" y="8613"/>
                  </a:cubicBezTo>
                  <a:close/>
                  <a:moveTo>
                    <a:pt x="45562" y="38893"/>
                  </a:moveTo>
                  <a:lnTo>
                    <a:pt x="39127" y="45327"/>
                  </a:lnTo>
                  <a:lnTo>
                    <a:pt x="30043" y="35865"/>
                  </a:lnTo>
                  <a:lnTo>
                    <a:pt x="20581" y="44948"/>
                  </a:lnTo>
                  <a:lnTo>
                    <a:pt x="14147" y="38514"/>
                  </a:lnTo>
                  <a:lnTo>
                    <a:pt x="23609" y="29430"/>
                  </a:lnTo>
                  <a:lnTo>
                    <a:pt x="14525" y="19968"/>
                  </a:lnTo>
                  <a:lnTo>
                    <a:pt x="20960" y="13533"/>
                  </a:lnTo>
                  <a:lnTo>
                    <a:pt x="30043" y="22996"/>
                  </a:lnTo>
                  <a:lnTo>
                    <a:pt x="39506" y="13912"/>
                  </a:lnTo>
                  <a:lnTo>
                    <a:pt x="45940" y="20346"/>
                  </a:lnTo>
                  <a:lnTo>
                    <a:pt x="36478" y="29430"/>
                  </a:lnTo>
                  <a:lnTo>
                    <a:pt x="45562" y="38893"/>
                  </a:lnTo>
                  <a:close/>
                </a:path>
              </a:pathLst>
            </a:custGeom>
            <a:solidFill>
              <a:srgbClr val="000000"/>
            </a:solidFill>
            <a:ln w="3778"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4586D877-8192-9099-AD1F-06F0982497DF}"/>
                </a:ext>
              </a:extLst>
            </p:cNvPr>
            <p:cNvSpPr/>
            <p:nvPr/>
          </p:nvSpPr>
          <p:spPr>
            <a:xfrm>
              <a:off x="5394788" y="6000350"/>
              <a:ext cx="184926" cy="184926"/>
            </a:xfrm>
            <a:custGeom>
              <a:avLst/>
              <a:gdLst>
                <a:gd name="connsiteX0" fmla="*/ 33418 w 184926"/>
                <a:gd name="connsiteY0" fmla="*/ 21306 h 184926"/>
                <a:gd name="connsiteX1" fmla="*/ 21306 w 184926"/>
                <a:gd name="connsiteY1" fmla="*/ 151508 h 184926"/>
                <a:gd name="connsiteX2" fmla="*/ 151508 w 184926"/>
                <a:gd name="connsiteY2" fmla="*/ 163620 h 184926"/>
                <a:gd name="connsiteX3" fmla="*/ 163620 w 184926"/>
                <a:gd name="connsiteY3" fmla="*/ 33418 h 184926"/>
                <a:gd name="connsiteX4" fmla="*/ 33418 w 184926"/>
                <a:gd name="connsiteY4" fmla="*/ 21306 h 184926"/>
                <a:gd name="connsiteX5" fmla="*/ 138639 w 184926"/>
                <a:gd name="connsiteY5" fmla="*/ 126149 h 184926"/>
                <a:gd name="connsiteX6" fmla="*/ 116687 w 184926"/>
                <a:gd name="connsiteY6" fmla="*/ 144317 h 184926"/>
                <a:gd name="connsiteX7" fmla="*/ 90571 w 184926"/>
                <a:gd name="connsiteY7" fmla="*/ 112523 h 184926"/>
                <a:gd name="connsiteX8" fmla="*/ 58777 w 184926"/>
                <a:gd name="connsiteY8" fmla="*/ 138639 h 184926"/>
                <a:gd name="connsiteX9" fmla="*/ 40609 w 184926"/>
                <a:gd name="connsiteY9" fmla="*/ 116687 h 184926"/>
                <a:gd name="connsiteX10" fmla="*/ 72403 w 184926"/>
                <a:gd name="connsiteY10" fmla="*/ 90571 h 184926"/>
                <a:gd name="connsiteX11" fmla="*/ 46287 w 184926"/>
                <a:gd name="connsiteY11" fmla="*/ 58777 h 184926"/>
                <a:gd name="connsiteX12" fmla="*/ 68239 w 184926"/>
                <a:gd name="connsiteY12" fmla="*/ 40609 h 184926"/>
                <a:gd name="connsiteX13" fmla="*/ 94356 w 184926"/>
                <a:gd name="connsiteY13" fmla="*/ 72403 h 184926"/>
                <a:gd name="connsiteX14" fmla="*/ 126149 w 184926"/>
                <a:gd name="connsiteY14" fmla="*/ 46287 h 184926"/>
                <a:gd name="connsiteX15" fmla="*/ 144317 w 184926"/>
                <a:gd name="connsiteY15" fmla="*/ 68239 h 184926"/>
                <a:gd name="connsiteX16" fmla="*/ 112523 w 184926"/>
                <a:gd name="connsiteY16" fmla="*/ 94356 h 184926"/>
                <a:gd name="connsiteX17" fmla="*/ 138639 w 184926"/>
                <a:gd name="connsiteY17" fmla="*/ 126149 h 184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4926" h="184926">
                  <a:moveTo>
                    <a:pt x="33418" y="21306"/>
                  </a:moveTo>
                  <a:cubicBezTo>
                    <a:pt x="-5945" y="53857"/>
                    <a:pt x="-11244" y="112145"/>
                    <a:pt x="21306" y="151508"/>
                  </a:cubicBezTo>
                  <a:cubicBezTo>
                    <a:pt x="53857" y="190872"/>
                    <a:pt x="112145" y="196171"/>
                    <a:pt x="151508" y="163620"/>
                  </a:cubicBezTo>
                  <a:cubicBezTo>
                    <a:pt x="190872" y="131069"/>
                    <a:pt x="196171" y="72781"/>
                    <a:pt x="163620" y="33418"/>
                  </a:cubicBezTo>
                  <a:cubicBezTo>
                    <a:pt x="131070" y="-5945"/>
                    <a:pt x="72781" y="-11244"/>
                    <a:pt x="33418" y="21306"/>
                  </a:cubicBezTo>
                  <a:close/>
                  <a:moveTo>
                    <a:pt x="138639" y="126149"/>
                  </a:moveTo>
                  <a:lnTo>
                    <a:pt x="116687" y="144317"/>
                  </a:lnTo>
                  <a:lnTo>
                    <a:pt x="90571" y="112523"/>
                  </a:lnTo>
                  <a:lnTo>
                    <a:pt x="58777" y="138639"/>
                  </a:lnTo>
                  <a:lnTo>
                    <a:pt x="40609" y="116687"/>
                  </a:lnTo>
                  <a:lnTo>
                    <a:pt x="72403" y="90571"/>
                  </a:lnTo>
                  <a:lnTo>
                    <a:pt x="46287" y="58777"/>
                  </a:lnTo>
                  <a:lnTo>
                    <a:pt x="68239" y="40609"/>
                  </a:lnTo>
                  <a:lnTo>
                    <a:pt x="94356" y="72403"/>
                  </a:lnTo>
                  <a:lnTo>
                    <a:pt x="126149" y="46287"/>
                  </a:lnTo>
                  <a:lnTo>
                    <a:pt x="144317" y="68239"/>
                  </a:lnTo>
                  <a:lnTo>
                    <a:pt x="112523" y="94356"/>
                  </a:lnTo>
                  <a:lnTo>
                    <a:pt x="138639" y="126149"/>
                  </a:lnTo>
                  <a:close/>
                </a:path>
              </a:pathLst>
            </a:custGeom>
            <a:solidFill>
              <a:srgbClr val="000000"/>
            </a:solidFill>
            <a:ln w="3778"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BD6945DC-C647-EF9F-4EB3-EB4419E9B7D1}"/>
                </a:ext>
              </a:extLst>
            </p:cNvPr>
            <p:cNvSpPr/>
            <p:nvPr/>
          </p:nvSpPr>
          <p:spPr>
            <a:xfrm>
              <a:off x="5582927" y="6000377"/>
              <a:ext cx="59211" cy="59211"/>
            </a:xfrm>
            <a:custGeom>
              <a:avLst/>
              <a:gdLst>
                <a:gd name="connsiteX0" fmla="*/ 48530 w 59211"/>
                <a:gd name="connsiteY0" fmla="*/ 6896 h 59211"/>
                <a:gd name="connsiteX1" fmla="*/ 6896 w 59211"/>
                <a:gd name="connsiteY1" fmla="*/ 10681 h 59211"/>
                <a:gd name="connsiteX2" fmla="*/ 10681 w 59211"/>
                <a:gd name="connsiteY2" fmla="*/ 52315 h 59211"/>
                <a:gd name="connsiteX3" fmla="*/ 52315 w 59211"/>
                <a:gd name="connsiteY3" fmla="*/ 48530 h 59211"/>
                <a:gd name="connsiteX4" fmla="*/ 48530 w 59211"/>
                <a:gd name="connsiteY4" fmla="*/ 6896 h 59211"/>
                <a:gd name="connsiteX5" fmla="*/ 40204 w 59211"/>
                <a:gd name="connsiteY5" fmla="*/ 44367 h 59211"/>
                <a:gd name="connsiteX6" fmla="*/ 29984 w 59211"/>
                <a:gd name="connsiteY6" fmla="*/ 36040 h 59211"/>
                <a:gd name="connsiteX7" fmla="*/ 21657 w 59211"/>
                <a:gd name="connsiteY7" fmla="*/ 46259 h 59211"/>
                <a:gd name="connsiteX8" fmla="*/ 14466 w 59211"/>
                <a:gd name="connsiteY8" fmla="*/ 40582 h 59211"/>
                <a:gd name="connsiteX9" fmla="*/ 22793 w 59211"/>
                <a:gd name="connsiteY9" fmla="*/ 30363 h 59211"/>
                <a:gd name="connsiteX10" fmla="*/ 12573 w 59211"/>
                <a:gd name="connsiteY10" fmla="*/ 22036 h 59211"/>
                <a:gd name="connsiteX11" fmla="*/ 18251 w 59211"/>
                <a:gd name="connsiteY11" fmla="*/ 14844 h 59211"/>
                <a:gd name="connsiteX12" fmla="*/ 28470 w 59211"/>
                <a:gd name="connsiteY12" fmla="*/ 23171 h 59211"/>
                <a:gd name="connsiteX13" fmla="*/ 36797 w 59211"/>
                <a:gd name="connsiteY13" fmla="*/ 12952 h 59211"/>
                <a:gd name="connsiteX14" fmla="*/ 43989 w 59211"/>
                <a:gd name="connsiteY14" fmla="*/ 18629 h 59211"/>
                <a:gd name="connsiteX15" fmla="*/ 35662 w 59211"/>
                <a:gd name="connsiteY15" fmla="*/ 28849 h 59211"/>
                <a:gd name="connsiteX16" fmla="*/ 45881 w 59211"/>
                <a:gd name="connsiteY16" fmla="*/ 37176 h 59211"/>
                <a:gd name="connsiteX17" fmla="*/ 40204 w 59211"/>
                <a:gd name="connsiteY17" fmla="*/ 44367 h 5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9211" h="59211">
                  <a:moveTo>
                    <a:pt x="48530" y="6896"/>
                  </a:moveTo>
                  <a:cubicBezTo>
                    <a:pt x="36040" y="-3702"/>
                    <a:pt x="17115" y="-1809"/>
                    <a:pt x="6896" y="10681"/>
                  </a:cubicBezTo>
                  <a:cubicBezTo>
                    <a:pt x="-3702" y="23171"/>
                    <a:pt x="-1809" y="42096"/>
                    <a:pt x="10681" y="52315"/>
                  </a:cubicBezTo>
                  <a:cubicBezTo>
                    <a:pt x="23171" y="62913"/>
                    <a:pt x="42096" y="61021"/>
                    <a:pt x="52315" y="48530"/>
                  </a:cubicBezTo>
                  <a:cubicBezTo>
                    <a:pt x="62913" y="36040"/>
                    <a:pt x="61021" y="17115"/>
                    <a:pt x="48530" y="6896"/>
                  </a:cubicBezTo>
                  <a:close/>
                  <a:moveTo>
                    <a:pt x="40204" y="44367"/>
                  </a:moveTo>
                  <a:lnTo>
                    <a:pt x="29984" y="36040"/>
                  </a:lnTo>
                  <a:lnTo>
                    <a:pt x="21657" y="46259"/>
                  </a:lnTo>
                  <a:lnTo>
                    <a:pt x="14466" y="40582"/>
                  </a:lnTo>
                  <a:lnTo>
                    <a:pt x="22793" y="30363"/>
                  </a:lnTo>
                  <a:lnTo>
                    <a:pt x="12573" y="22036"/>
                  </a:lnTo>
                  <a:lnTo>
                    <a:pt x="18251" y="14844"/>
                  </a:lnTo>
                  <a:lnTo>
                    <a:pt x="28470" y="23171"/>
                  </a:lnTo>
                  <a:lnTo>
                    <a:pt x="36797" y="12952"/>
                  </a:lnTo>
                  <a:lnTo>
                    <a:pt x="43989" y="18629"/>
                  </a:lnTo>
                  <a:lnTo>
                    <a:pt x="35662" y="28849"/>
                  </a:lnTo>
                  <a:lnTo>
                    <a:pt x="45881" y="37176"/>
                  </a:lnTo>
                  <a:lnTo>
                    <a:pt x="40204" y="44367"/>
                  </a:lnTo>
                  <a:close/>
                </a:path>
              </a:pathLst>
            </a:custGeom>
            <a:solidFill>
              <a:srgbClr val="000000"/>
            </a:solidFill>
            <a:ln w="3778"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CFA64D62-4FB9-6EC5-4A0D-D44632A471EA}"/>
                </a:ext>
              </a:extLst>
            </p:cNvPr>
            <p:cNvSpPr/>
            <p:nvPr/>
          </p:nvSpPr>
          <p:spPr>
            <a:xfrm>
              <a:off x="5451669" y="5895235"/>
              <a:ext cx="112864" cy="104468"/>
            </a:xfrm>
            <a:custGeom>
              <a:avLst/>
              <a:gdLst>
                <a:gd name="connsiteX0" fmla="*/ 14387 w 112864"/>
                <a:gd name="connsiteY0" fmla="*/ 93870 h 104468"/>
                <a:gd name="connsiteX1" fmla="*/ 85922 w 112864"/>
                <a:gd name="connsiteY1" fmla="*/ 104468 h 104468"/>
                <a:gd name="connsiteX2" fmla="*/ 107118 w 112864"/>
                <a:gd name="connsiteY2" fmla="*/ 31797 h 104468"/>
                <a:gd name="connsiteX3" fmla="*/ 31797 w 112864"/>
                <a:gd name="connsiteY3" fmla="*/ 5681 h 104468"/>
                <a:gd name="connsiteX4" fmla="*/ 5681 w 112864"/>
                <a:gd name="connsiteY4" fmla="*/ 81002 h 104468"/>
                <a:gd name="connsiteX5" fmla="*/ 14387 w 112864"/>
                <a:gd name="connsiteY5" fmla="*/ 93870 h 104468"/>
                <a:gd name="connsiteX6" fmla="*/ 45045 w 112864"/>
                <a:gd name="connsiteY6" fmla="*/ 52615 h 104468"/>
                <a:gd name="connsiteX7" fmla="*/ 34068 w 112864"/>
                <a:gd name="connsiteY7" fmla="*/ 30283 h 104468"/>
                <a:gd name="connsiteX8" fmla="*/ 49587 w 112864"/>
                <a:gd name="connsiteY8" fmla="*/ 22713 h 104468"/>
                <a:gd name="connsiteX9" fmla="*/ 60563 w 112864"/>
                <a:gd name="connsiteY9" fmla="*/ 45045 h 104468"/>
                <a:gd name="connsiteX10" fmla="*/ 82894 w 112864"/>
                <a:gd name="connsiteY10" fmla="*/ 34068 h 104468"/>
                <a:gd name="connsiteX11" fmla="*/ 90464 w 112864"/>
                <a:gd name="connsiteY11" fmla="*/ 49587 h 104468"/>
                <a:gd name="connsiteX12" fmla="*/ 68133 w 112864"/>
                <a:gd name="connsiteY12" fmla="*/ 60563 h 104468"/>
                <a:gd name="connsiteX13" fmla="*/ 79109 w 112864"/>
                <a:gd name="connsiteY13" fmla="*/ 82894 h 104468"/>
                <a:gd name="connsiteX14" fmla="*/ 63591 w 112864"/>
                <a:gd name="connsiteY14" fmla="*/ 90464 h 104468"/>
                <a:gd name="connsiteX15" fmla="*/ 52615 w 112864"/>
                <a:gd name="connsiteY15" fmla="*/ 68133 h 104468"/>
                <a:gd name="connsiteX16" fmla="*/ 30283 w 112864"/>
                <a:gd name="connsiteY16" fmla="*/ 79109 h 104468"/>
                <a:gd name="connsiteX17" fmla="*/ 22713 w 112864"/>
                <a:gd name="connsiteY17" fmla="*/ 63591 h 104468"/>
                <a:gd name="connsiteX18" fmla="*/ 45045 w 112864"/>
                <a:gd name="connsiteY18" fmla="*/ 52615 h 104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2864" h="104468">
                  <a:moveTo>
                    <a:pt x="14387" y="93870"/>
                  </a:moveTo>
                  <a:cubicBezTo>
                    <a:pt x="38232" y="88950"/>
                    <a:pt x="63969" y="92356"/>
                    <a:pt x="85922" y="104468"/>
                  </a:cubicBezTo>
                  <a:cubicBezTo>
                    <a:pt x="110524" y="89707"/>
                    <a:pt x="119987" y="58292"/>
                    <a:pt x="107118" y="31797"/>
                  </a:cubicBezTo>
                  <a:cubicBezTo>
                    <a:pt x="93492" y="3789"/>
                    <a:pt x="59806" y="-7945"/>
                    <a:pt x="31797" y="5681"/>
                  </a:cubicBezTo>
                  <a:cubicBezTo>
                    <a:pt x="3789" y="19307"/>
                    <a:pt x="-7945" y="52993"/>
                    <a:pt x="5681" y="81002"/>
                  </a:cubicBezTo>
                  <a:cubicBezTo>
                    <a:pt x="8331" y="85922"/>
                    <a:pt x="10980" y="90085"/>
                    <a:pt x="14387" y="93870"/>
                  </a:cubicBezTo>
                  <a:close/>
                  <a:moveTo>
                    <a:pt x="45045" y="52615"/>
                  </a:moveTo>
                  <a:lnTo>
                    <a:pt x="34068" y="30283"/>
                  </a:lnTo>
                  <a:lnTo>
                    <a:pt x="49587" y="22713"/>
                  </a:lnTo>
                  <a:lnTo>
                    <a:pt x="60563" y="45045"/>
                  </a:lnTo>
                  <a:lnTo>
                    <a:pt x="82894" y="34068"/>
                  </a:lnTo>
                  <a:lnTo>
                    <a:pt x="90464" y="49587"/>
                  </a:lnTo>
                  <a:lnTo>
                    <a:pt x="68133" y="60563"/>
                  </a:lnTo>
                  <a:lnTo>
                    <a:pt x="79109" y="82894"/>
                  </a:lnTo>
                  <a:lnTo>
                    <a:pt x="63591" y="90464"/>
                  </a:lnTo>
                  <a:lnTo>
                    <a:pt x="52615" y="68133"/>
                  </a:lnTo>
                  <a:lnTo>
                    <a:pt x="30283" y="79109"/>
                  </a:lnTo>
                  <a:lnTo>
                    <a:pt x="22713" y="63591"/>
                  </a:lnTo>
                  <a:lnTo>
                    <a:pt x="45045" y="52615"/>
                  </a:lnTo>
                  <a:close/>
                </a:path>
              </a:pathLst>
            </a:custGeom>
            <a:solidFill>
              <a:srgbClr val="000000"/>
            </a:solidFill>
            <a:ln w="3778"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E6332D34-074F-F706-D279-FAE14DB2234F}"/>
                </a:ext>
              </a:extLst>
            </p:cNvPr>
            <p:cNvSpPr/>
            <p:nvPr/>
          </p:nvSpPr>
          <p:spPr>
            <a:xfrm>
              <a:off x="5226469" y="5998655"/>
              <a:ext cx="168051" cy="185276"/>
            </a:xfrm>
            <a:custGeom>
              <a:avLst/>
              <a:gdLst>
                <a:gd name="connsiteX0" fmla="*/ 142314 w 168051"/>
                <a:gd name="connsiteY0" fmla="*/ 16189 h 185276"/>
                <a:gd name="connsiteX1" fmla="*/ 28009 w 168051"/>
                <a:gd name="connsiteY1" fmla="*/ 23758 h 185276"/>
                <a:gd name="connsiteX2" fmla="*/ 1514 w 168051"/>
                <a:gd name="connsiteY2" fmla="*/ 111191 h 185276"/>
                <a:gd name="connsiteX3" fmla="*/ 0 w 168051"/>
                <a:gd name="connsiteY3" fmla="*/ 114976 h 185276"/>
                <a:gd name="connsiteX4" fmla="*/ 37471 w 168051"/>
                <a:gd name="connsiteY4" fmla="*/ 169100 h 185276"/>
                <a:gd name="connsiteX5" fmla="*/ 166159 w 168051"/>
                <a:gd name="connsiteY5" fmla="*/ 145255 h 185276"/>
                <a:gd name="connsiteX6" fmla="*/ 166916 w 168051"/>
                <a:gd name="connsiteY6" fmla="*/ 144120 h 185276"/>
                <a:gd name="connsiteX7" fmla="*/ 168051 w 168051"/>
                <a:gd name="connsiteY7" fmla="*/ 43440 h 185276"/>
                <a:gd name="connsiteX8" fmla="*/ 142314 w 168051"/>
                <a:gd name="connsiteY8" fmla="*/ 16189 h 185276"/>
                <a:gd name="connsiteX9" fmla="*/ 127553 w 168051"/>
                <a:gd name="connsiteY9" fmla="*/ 135414 h 185276"/>
                <a:gd name="connsiteX10" fmla="*/ 93488 w 168051"/>
                <a:gd name="connsiteY10" fmla="*/ 112326 h 185276"/>
                <a:gd name="connsiteX11" fmla="*/ 70400 w 168051"/>
                <a:gd name="connsiteY11" fmla="*/ 146391 h 185276"/>
                <a:gd name="connsiteX12" fmla="*/ 46933 w 168051"/>
                <a:gd name="connsiteY12" fmla="*/ 130494 h 185276"/>
                <a:gd name="connsiteX13" fmla="*/ 70021 w 168051"/>
                <a:gd name="connsiteY13" fmla="*/ 96429 h 185276"/>
                <a:gd name="connsiteX14" fmla="*/ 35957 w 168051"/>
                <a:gd name="connsiteY14" fmla="*/ 73341 h 185276"/>
                <a:gd name="connsiteX15" fmla="*/ 51854 w 168051"/>
                <a:gd name="connsiteY15" fmla="*/ 49875 h 185276"/>
                <a:gd name="connsiteX16" fmla="*/ 85918 w 168051"/>
                <a:gd name="connsiteY16" fmla="*/ 72963 h 185276"/>
                <a:gd name="connsiteX17" fmla="*/ 109006 w 168051"/>
                <a:gd name="connsiteY17" fmla="*/ 38898 h 185276"/>
                <a:gd name="connsiteX18" fmla="*/ 132473 w 168051"/>
                <a:gd name="connsiteY18" fmla="*/ 54795 h 185276"/>
                <a:gd name="connsiteX19" fmla="*/ 109385 w 168051"/>
                <a:gd name="connsiteY19" fmla="*/ 88859 h 185276"/>
                <a:gd name="connsiteX20" fmla="*/ 143449 w 168051"/>
                <a:gd name="connsiteY20" fmla="*/ 111948 h 185276"/>
                <a:gd name="connsiteX21" fmla="*/ 127553 w 168051"/>
                <a:gd name="connsiteY21" fmla="*/ 135414 h 18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8051" h="185276">
                  <a:moveTo>
                    <a:pt x="142314" y="16189"/>
                  </a:moveTo>
                  <a:cubicBezTo>
                    <a:pt x="106357" y="-8414"/>
                    <a:pt x="59045" y="-4250"/>
                    <a:pt x="28009" y="23758"/>
                  </a:cubicBezTo>
                  <a:cubicBezTo>
                    <a:pt x="21953" y="55552"/>
                    <a:pt x="12490" y="85453"/>
                    <a:pt x="1514" y="111191"/>
                  </a:cubicBezTo>
                  <a:cubicBezTo>
                    <a:pt x="1135" y="112326"/>
                    <a:pt x="379" y="113840"/>
                    <a:pt x="0" y="114976"/>
                  </a:cubicBezTo>
                  <a:cubicBezTo>
                    <a:pt x="5299" y="136171"/>
                    <a:pt x="17789" y="155853"/>
                    <a:pt x="37471" y="169100"/>
                  </a:cubicBezTo>
                  <a:cubicBezTo>
                    <a:pt x="79484" y="197866"/>
                    <a:pt x="137393" y="187268"/>
                    <a:pt x="166159" y="145255"/>
                  </a:cubicBezTo>
                  <a:cubicBezTo>
                    <a:pt x="166537" y="144877"/>
                    <a:pt x="166537" y="144498"/>
                    <a:pt x="166916" y="144120"/>
                  </a:cubicBezTo>
                  <a:cubicBezTo>
                    <a:pt x="150262" y="112705"/>
                    <a:pt x="150641" y="74477"/>
                    <a:pt x="168051" y="43440"/>
                  </a:cubicBezTo>
                  <a:cubicBezTo>
                    <a:pt x="161617" y="32842"/>
                    <a:pt x="153290" y="23380"/>
                    <a:pt x="142314" y="16189"/>
                  </a:cubicBezTo>
                  <a:close/>
                  <a:moveTo>
                    <a:pt x="127553" y="135414"/>
                  </a:moveTo>
                  <a:lnTo>
                    <a:pt x="93488" y="112326"/>
                  </a:lnTo>
                  <a:lnTo>
                    <a:pt x="70400" y="146391"/>
                  </a:lnTo>
                  <a:lnTo>
                    <a:pt x="46933" y="130494"/>
                  </a:lnTo>
                  <a:lnTo>
                    <a:pt x="70021" y="96429"/>
                  </a:lnTo>
                  <a:lnTo>
                    <a:pt x="35957" y="73341"/>
                  </a:lnTo>
                  <a:lnTo>
                    <a:pt x="51854" y="49875"/>
                  </a:lnTo>
                  <a:lnTo>
                    <a:pt x="85918" y="72963"/>
                  </a:lnTo>
                  <a:lnTo>
                    <a:pt x="109006" y="38898"/>
                  </a:lnTo>
                  <a:lnTo>
                    <a:pt x="132473" y="54795"/>
                  </a:lnTo>
                  <a:lnTo>
                    <a:pt x="109385" y="88859"/>
                  </a:lnTo>
                  <a:lnTo>
                    <a:pt x="143449" y="111948"/>
                  </a:lnTo>
                  <a:lnTo>
                    <a:pt x="127553" y="135414"/>
                  </a:lnTo>
                  <a:close/>
                </a:path>
              </a:pathLst>
            </a:custGeom>
            <a:solidFill>
              <a:srgbClr val="000000"/>
            </a:solidFill>
            <a:ln w="3778"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F6136D8E-F0E1-6AA0-1B1D-A902CBDEE4DA}"/>
                </a:ext>
              </a:extLst>
            </p:cNvPr>
            <p:cNvSpPr/>
            <p:nvPr/>
          </p:nvSpPr>
          <p:spPr>
            <a:xfrm>
              <a:off x="4666548" y="4882417"/>
              <a:ext cx="752925" cy="1295179"/>
            </a:xfrm>
            <a:custGeom>
              <a:avLst/>
              <a:gdLst>
                <a:gd name="connsiteX0" fmla="*/ 553108 w 752925"/>
                <a:gd name="connsiteY0" fmla="*/ 938259 h 1295179"/>
                <a:gd name="connsiteX1" fmla="*/ 542132 w 752925"/>
                <a:gd name="connsiteY1" fmla="*/ 901167 h 1295179"/>
                <a:gd name="connsiteX2" fmla="*/ 558407 w 752925"/>
                <a:gd name="connsiteY2" fmla="*/ 884513 h 1295179"/>
                <a:gd name="connsiteX3" fmla="*/ 541375 w 752925"/>
                <a:gd name="connsiteY3" fmla="*/ 852341 h 1295179"/>
                <a:gd name="connsiteX4" fmla="*/ 540618 w 752925"/>
                <a:gd name="connsiteY4" fmla="*/ 851963 h 1295179"/>
                <a:gd name="connsiteX5" fmla="*/ 534941 w 752925"/>
                <a:gd name="connsiteY5" fmla="*/ 850070 h 1295179"/>
                <a:gd name="connsiteX6" fmla="*/ 751818 w 752925"/>
                <a:gd name="connsiteY6" fmla="*/ 39335 h 1295179"/>
                <a:gd name="connsiteX7" fmla="*/ 729865 w 752925"/>
                <a:gd name="connsiteY7" fmla="*/ 1108 h 1295179"/>
                <a:gd name="connsiteX8" fmla="*/ 691637 w 752925"/>
                <a:gd name="connsiteY8" fmla="*/ 23060 h 1295179"/>
                <a:gd name="connsiteX9" fmla="*/ 475139 w 752925"/>
                <a:gd name="connsiteY9" fmla="*/ 831524 h 1295179"/>
                <a:gd name="connsiteX10" fmla="*/ 466812 w 752925"/>
                <a:gd name="connsiteY10" fmla="*/ 828874 h 1295179"/>
                <a:gd name="connsiteX11" fmla="*/ 464919 w 752925"/>
                <a:gd name="connsiteY11" fmla="*/ 828496 h 1295179"/>
                <a:gd name="connsiteX12" fmla="*/ 457349 w 752925"/>
                <a:gd name="connsiteY12" fmla="*/ 827361 h 1295179"/>
                <a:gd name="connsiteX13" fmla="*/ 432747 w 752925"/>
                <a:gd name="connsiteY13" fmla="*/ 845528 h 1295179"/>
                <a:gd name="connsiteX14" fmla="*/ 435775 w 752925"/>
                <a:gd name="connsiteY14" fmla="*/ 866724 h 1295179"/>
                <a:gd name="connsiteX15" fmla="*/ 406253 w 752925"/>
                <a:gd name="connsiteY15" fmla="*/ 887541 h 1295179"/>
                <a:gd name="connsiteX16" fmla="*/ 249178 w 752925"/>
                <a:gd name="connsiteY16" fmla="*/ 1001089 h 1295179"/>
                <a:gd name="connsiteX17" fmla="*/ 210193 w 752925"/>
                <a:gd name="connsiteY17" fmla="*/ 1061648 h 1295179"/>
                <a:gd name="connsiteX18" fmla="*/ 140171 w 752925"/>
                <a:gd name="connsiteY18" fmla="*/ 1148702 h 1295179"/>
                <a:gd name="connsiteX19" fmla="*/ 133737 w 752925"/>
                <a:gd name="connsiteY19" fmla="*/ 1154758 h 1295179"/>
                <a:gd name="connsiteX20" fmla="*/ 83397 w 752925"/>
                <a:gd name="connsiteY20" fmla="*/ 1191850 h 1295179"/>
                <a:gd name="connsiteX21" fmla="*/ 47440 w 752925"/>
                <a:gd name="connsiteY21" fmla="*/ 1208126 h 1295179"/>
                <a:gd name="connsiteX22" fmla="*/ 20946 w 752925"/>
                <a:gd name="connsiteY22" fmla="*/ 1212668 h 1295179"/>
                <a:gd name="connsiteX23" fmla="*/ 3913 w 752925"/>
                <a:gd name="connsiteY23" fmla="*/ 1247111 h 1295179"/>
                <a:gd name="connsiteX24" fmla="*/ 66743 w 752925"/>
                <a:gd name="connsiteY24" fmla="*/ 1289502 h 1295179"/>
                <a:gd name="connsiteX25" fmla="*/ 118218 w 752925"/>
                <a:gd name="connsiteY25" fmla="*/ 1295179 h 1295179"/>
                <a:gd name="connsiteX26" fmla="*/ 437289 w 752925"/>
                <a:gd name="connsiteY26" fmla="*/ 1294422 h 1295179"/>
                <a:gd name="connsiteX27" fmla="*/ 548945 w 752925"/>
                <a:gd name="connsiteY27" fmla="*/ 1221752 h 1295179"/>
                <a:gd name="connsiteX28" fmla="*/ 553108 w 752925"/>
                <a:gd name="connsiteY28" fmla="*/ 938259 h 1295179"/>
                <a:gd name="connsiteX29" fmla="*/ 346451 w 752925"/>
                <a:gd name="connsiteY29" fmla="*/ 1030233 h 1295179"/>
                <a:gd name="connsiteX30" fmla="*/ 191268 w 752925"/>
                <a:gd name="connsiteY30" fmla="*/ 1210775 h 1295179"/>
                <a:gd name="connsiteX31" fmla="*/ 176507 w 752925"/>
                <a:gd name="connsiteY31" fmla="*/ 1185416 h 1295179"/>
                <a:gd name="connsiteX32" fmla="*/ 331689 w 752925"/>
                <a:gd name="connsiteY32" fmla="*/ 1004874 h 1295179"/>
                <a:gd name="connsiteX33" fmla="*/ 346451 w 752925"/>
                <a:gd name="connsiteY33" fmla="*/ 1030233 h 1295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925" h="1295179">
                  <a:moveTo>
                    <a:pt x="553108" y="938259"/>
                  </a:moveTo>
                  <a:cubicBezTo>
                    <a:pt x="550838" y="933339"/>
                    <a:pt x="545917" y="917064"/>
                    <a:pt x="542132" y="901167"/>
                  </a:cubicBezTo>
                  <a:cubicBezTo>
                    <a:pt x="549702" y="898517"/>
                    <a:pt x="555758" y="892840"/>
                    <a:pt x="558407" y="884513"/>
                  </a:cubicBezTo>
                  <a:cubicBezTo>
                    <a:pt x="562571" y="870887"/>
                    <a:pt x="555001" y="856505"/>
                    <a:pt x="541375" y="852341"/>
                  </a:cubicBezTo>
                  <a:lnTo>
                    <a:pt x="540618" y="851963"/>
                  </a:lnTo>
                  <a:lnTo>
                    <a:pt x="534941" y="850070"/>
                  </a:lnTo>
                  <a:lnTo>
                    <a:pt x="751818" y="39335"/>
                  </a:lnTo>
                  <a:cubicBezTo>
                    <a:pt x="756360" y="22682"/>
                    <a:pt x="746519" y="5649"/>
                    <a:pt x="729865" y="1108"/>
                  </a:cubicBezTo>
                  <a:cubicBezTo>
                    <a:pt x="713212" y="-3434"/>
                    <a:pt x="696179" y="6406"/>
                    <a:pt x="691637" y="23060"/>
                  </a:cubicBezTo>
                  <a:lnTo>
                    <a:pt x="475139" y="831524"/>
                  </a:lnTo>
                  <a:lnTo>
                    <a:pt x="466812" y="828874"/>
                  </a:lnTo>
                  <a:lnTo>
                    <a:pt x="464919" y="828496"/>
                  </a:lnTo>
                  <a:cubicBezTo>
                    <a:pt x="462270" y="827739"/>
                    <a:pt x="459999" y="827361"/>
                    <a:pt x="457349" y="827361"/>
                  </a:cubicBezTo>
                  <a:cubicBezTo>
                    <a:pt x="446373" y="827361"/>
                    <a:pt x="436154" y="834552"/>
                    <a:pt x="432747" y="845528"/>
                  </a:cubicBezTo>
                  <a:cubicBezTo>
                    <a:pt x="430476" y="853098"/>
                    <a:pt x="431612" y="860668"/>
                    <a:pt x="435775" y="866724"/>
                  </a:cubicBezTo>
                  <a:cubicBezTo>
                    <a:pt x="427827" y="873915"/>
                    <a:pt x="417986" y="880728"/>
                    <a:pt x="406253" y="887541"/>
                  </a:cubicBezTo>
                  <a:cubicBezTo>
                    <a:pt x="366511" y="913657"/>
                    <a:pt x="296111" y="930311"/>
                    <a:pt x="249178" y="1001089"/>
                  </a:cubicBezTo>
                  <a:cubicBezTo>
                    <a:pt x="235930" y="1021150"/>
                    <a:pt x="223440" y="1041588"/>
                    <a:pt x="210193" y="1061648"/>
                  </a:cubicBezTo>
                  <a:cubicBezTo>
                    <a:pt x="189375" y="1093820"/>
                    <a:pt x="165152" y="1124100"/>
                    <a:pt x="140171" y="1148702"/>
                  </a:cubicBezTo>
                  <a:cubicBezTo>
                    <a:pt x="140171" y="1148702"/>
                    <a:pt x="136008" y="1152487"/>
                    <a:pt x="133737" y="1154758"/>
                  </a:cubicBezTo>
                  <a:cubicBezTo>
                    <a:pt x="120489" y="1168005"/>
                    <a:pt x="101186" y="1180117"/>
                    <a:pt x="83397" y="1191850"/>
                  </a:cubicBezTo>
                  <a:cubicBezTo>
                    <a:pt x="72421" y="1199042"/>
                    <a:pt x="60309" y="1204719"/>
                    <a:pt x="47440" y="1208126"/>
                  </a:cubicBezTo>
                  <a:cubicBezTo>
                    <a:pt x="39113" y="1210397"/>
                    <a:pt x="30029" y="1211911"/>
                    <a:pt x="20946" y="1212668"/>
                  </a:cubicBezTo>
                  <a:cubicBezTo>
                    <a:pt x="3913" y="1214182"/>
                    <a:pt x="-5928" y="1233106"/>
                    <a:pt x="3913" y="1247111"/>
                  </a:cubicBezTo>
                  <a:cubicBezTo>
                    <a:pt x="19810" y="1269063"/>
                    <a:pt x="40627" y="1283068"/>
                    <a:pt x="66743" y="1289502"/>
                  </a:cubicBezTo>
                  <a:cubicBezTo>
                    <a:pt x="67500" y="1289881"/>
                    <a:pt x="93238" y="1295179"/>
                    <a:pt x="118218" y="1295179"/>
                  </a:cubicBezTo>
                  <a:cubicBezTo>
                    <a:pt x="219655" y="1295179"/>
                    <a:pt x="279079" y="1295179"/>
                    <a:pt x="437289" y="1294422"/>
                  </a:cubicBezTo>
                  <a:cubicBezTo>
                    <a:pt x="494442" y="1296315"/>
                    <a:pt x="528506" y="1269442"/>
                    <a:pt x="548945" y="1221752"/>
                  </a:cubicBezTo>
                  <a:cubicBezTo>
                    <a:pt x="582253" y="1146053"/>
                    <a:pt x="599663" y="1031369"/>
                    <a:pt x="553108" y="938259"/>
                  </a:cubicBezTo>
                  <a:close/>
                  <a:moveTo>
                    <a:pt x="346451" y="1030233"/>
                  </a:moveTo>
                  <a:cubicBezTo>
                    <a:pt x="271130" y="1066190"/>
                    <a:pt x="260532" y="1165356"/>
                    <a:pt x="191268" y="1210775"/>
                  </a:cubicBezTo>
                  <a:cubicBezTo>
                    <a:pt x="175371" y="1220995"/>
                    <a:pt x="160610" y="1195635"/>
                    <a:pt x="176507" y="1185416"/>
                  </a:cubicBezTo>
                  <a:cubicBezTo>
                    <a:pt x="245771" y="1139997"/>
                    <a:pt x="253719" y="1042345"/>
                    <a:pt x="331689" y="1004874"/>
                  </a:cubicBezTo>
                  <a:cubicBezTo>
                    <a:pt x="348721" y="996926"/>
                    <a:pt x="363483" y="1022285"/>
                    <a:pt x="346451" y="1030233"/>
                  </a:cubicBezTo>
                  <a:close/>
                </a:path>
              </a:pathLst>
            </a:custGeom>
            <a:solidFill>
              <a:srgbClr val="000000"/>
            </a:solidFill>
            <a:ln w="3778" cap="flat">
              <a:noFill/>
              <a:prstDash val="solid"/>
              <a:miter/>
            </a:ln>
          </p:spPr>
          <p:txBody>
            <a:bodyPr rtlCol="0" anchor="ctr"/>
            <a:lstStyle/>
            <a:p>
              <a:endParaRPr lang="en-US"/>
            </a:p>
          </p:txBody>
        </p:sp>
      </p:grpSp>
      <p:sp>
        <p:nvSpPr>
          <p:cNvPr id="96" name="Freeform: Shape 95">
            <a:extLst>
              <a:ext uri="{FF2B5EF4-FFF2-40B4-BE49-F238E27FC236}">
                <a16:creationId xmlns:a16="http://schemas.microsoft.com/office/drawing/2014/main" id="{D1A891A1-8255-32F4-3ECA-E1E65C2C9B45}"/>
              </a:ext>
            </a:extLst>
          </p:cNvPr>
          <p:cNvSpPr/>
          <p:nvPr/>
        </p:nvSpPr>
        <p:spPr>
          <a:xfrm>
            <a:off x="7079069" y="2167445"/>
            <a:ext cx="902614" cy="848321"/>
          </a:xfrm>
          <a:custGeom>
            <a:avLst/>
            <a:gdLst>
              <a:gd name="connsiteX0" fmla="*/ 224772 w 902614"/>
              <a:gd name="connsiteY0" fmla="*/ 526256 h 848321"/>
              <a:gd name="connsiteX1" fmla="*/ 224772 w 902614"/>
              <a:gd name="connsiteY1" fmla="*/ 559445 h 848321"/>
              <a:gd name="connsiteX2" fmla="*/ 258668 w 902614"/>
              <a:gd name="connsiteY2" fmla="*/ 559445 h 848321"/>
              <a:gd name="connsiteX3" fmla="*/ 274592 w 902614"/>
              <a:gd name="connsiteY3" fmla="*/ 581695 h 848321"/>
              <a:gd name="connsiteX4" fmla="*/ 274592 w 902614"/>
              <a:gd name="connsiteY4" fmla="*/ 840355 h 848321"/>
              <a:gd name="connsiteX5" fmla="*/ 33267 w 902614"/>
              <a:gd name="connsiteY5" fmla="*/ 840393 h 848321"/>
              <a:gd name="connsiteX6" fmla="*/ 33267 w 902614"/>
              <a:gd name="connsiteY6" fmla="*/ 510923 h 848321"/>
              <a:gd name="connsiteX7" fmla="*/ 202593 w 902614"/>
              <a:gd name="connsiteY7" fmla="*/ 510923 h 848321"/>
              <a:gd name="connsiteX8" fmla="*/ 202593 w 902614"/>
              <a:gd name="connsiteY8" fmla="*/ 570566 h 848321"/>
              <a:gd name="connsiteX9" fmla="*/ 213718 w 902614"/>
              <a:gd name="connsiteY9" fmla="*/ 581691 h 848321"/>
              <a:gd name="connsiteX10" fmla="*/ 274663 w 902614"/>
              <a:gd name="connsiteY10" fmla="*/ 581691 h 848321"/>
              <a:gd name="connsiteX11" fmla="*/ 241404 w 902614"/>
              <a:gd name="connsiteY11" fmla="*/ 511596 h 848321"/>
              <a:gd name="connsiteX12" fmla="*/ 221944 w 902614"/>
              <a:gd name="connsiteY12" fmla="*/ 492546 h 848321"/>
              <a:gd name="connsiteX13" fmla="*/ 213610 w 902614"/>
              <a:gd name="connsiteY13" fmla="*/ 488751 h 848321"/>
              <a:gd name="connsiteX14" fmla="*/ 22138 w 902614"/>
              <a:gd name="connsiteY14" fmla="*/ 488751 h 848321"/>
              <a:gd name="connsiteX15" fmla="*/ 11013 w 902614"/>
              <a:gd name="connsiteY15" fmla="*/ 499876 h 848321"/>
              <a:gd name="connsiteX16" fmla="*/ 11013 w 902614"/>
              <a:gd name="connsiteY16" fmla="*/ 811706 h 848321"/>
              <a:gd name="connsiteX17" fmla="*/ 0 w 902614"/>
              <a:gd name="connsiteY17" fmla="*/ 811706 h 848321"/>
              <a:gd name="connsiteX18" fmla="*/ 0 w 902614"/>
              <a:gd name="connsiteY18" fmla="*/ 482236 h 848321"/>
              <a:gd name="connsiteX19" fmla="*/ 241440 w 902614"/>
              <a:gd name="connsiteY19" fmla="*/ 482236 h 848321"/>
              <a:gd name="connsiteX20" fmla="*/ 241440 w 902614"/>
              <a:gd name="connsiteY20" fmla="*/ 511629 h 848321"/>
              <a:gd name="connsiteX21" fmla="*/ 69134 w 902614"/>
              <a:gd name="connsiteY21" fmla="*/ 621467 h 848321"/>
              <a:gd name="connsiteX22" fmla="*/ 160887 w 902614"/>
              <a:gd name="connsiteY22" fmla="*/ 621467 h 848321"/>
              <a:gd name="connsiteX23" fmla="*/ 172012 w 902614"/>
              <a:gd name="connsiteY23" fmla="*/ 610342 h 848321"/>
              <a:gd name="connsiteX24" fmla="*/ 160887 w 902614"/>
              <a:gd name="connsiteY24" fmla="*/ 599217 h 848321"/>
              <a:gd name="connsiteX25" fmla="*/ 69134 w 902614"/>
              <a:gd name="connsiteY25" fmla="*/ 599217 h 848321"/>
              <a:gd name="connsiteX26" fmla="*/ 58009 w 902614"/>
              <a:gd name="connsiteY26" fmla="*/ 610342 h 848321"/>
              <a:gd name="connsiteX27" fmla="*/ 69134 w 902614"/>
              <a:gd name="connsiteY27" fmla="*/ 621467 h 848321"/>
              <a:gd name="connsiteX28" fmla="*/ 69134 w 902614"/>
              <a:gd name="connsiteY28" fmla="*/ 679324 h 848321"/>
              <a:gd name="connsiteX29" fmla="*/ 207990 w 902614"/>
              <a:gd name="connsiteY29" fmla="*/ 679324 h 848321"/>
              <a:gd name="connsiteX30" fmla="*/ 219115 w 902614"/>
              <a:gd name="connsiteY30" fmla="*/ 668199 h 848321"/>
              <a:gd name="connsiteX31" fmla="*/ 207990 w 902614"/>
              <a:gd name="connsiteY31" fmla="*/ 657074 h 848321"/>
              <a:gd name="connsiteX32" fmla="*/ 69134 w 902614"/>
              <a:gd name="connsiteY32" fmla="*/ 657074 h 848321"/>
              <a:gd name="connsiteX33" fmla="*/ 58009 w 902614"/>
              <a:gd name="connsiteY33" fmla="*/ 668199 h 848321"/>
              <a:gd name="connsiteX34" fmla="*/ 69134 w 902614"/>
              <a:gd name="connsiteY34" fmla="*/ 679324 h 848321"/>
              <a:gd name="connsiteX35" fmla="*/ 69134 w 902614"/>
              <a:gd name="connsiteY35" fmla="*/ 737181 h 848321"/>
              <a:gd name="connsiteX36" fmla="*/ 207990 w 902614"/>
              <a:gd name="connsiteY36" fmla="*/ 737181 h 848321"/>
              <a:gd name="connsiteX37" fmla="*/ 219115 w 902614"/>
              <a:gd name="connsiteY37" fmla="*/ 726055 h 848321"/>
              <a:gd name="connsiteX38" fmla="*/ 207990 w 902614"/>
              <a:gd name="connsiteY38" fmla="*/ 714930 h 848321"/>
              <a:gd name="connsiteX39" fmla="*/ 69134 w 902614"/>
              <a:gd name="connsiteY39" fmla="*/ 714930 h 848321"/>
              <a:gd name="connsiteX40" fmla="*/ 58009 w 902614"/>
              <a:gd name="connsiteY40" fmla="*/ 726055 h 848321"/>
              <a:gd name="connsiteX41" fmla="*/ 69134 w 902614"/>
              <a:gd name="connsiteY41" fmla="*/ 737181 h 848321"/>
              <a:gd name="connsiteX42" fmla="*/ 69134 w 902614"/>
              <a:gd name="connsiteY42" fmla="*/ 795037 h 848321"/>
              <a:gd name="connsiteX43" fmla="*/ 207990 w 902614"/>
              <a:gd name="connsiteY43" fmla="*/ 795037 h 848321"/>
              <a:gd name="connsiteX44" fmla="*/ 219115 w 902614"/>
              <a:gd name="connsiteY44" fmla="*/ 783912 h 848321"/>
              <a:gd name="connsiteX45" fmla="*/ 207990 w 902614"/>
              <a:gd name="connsiteY45" fmla="*/ 772787 h 848321"/>
              <a:gd name="connsiteX46" fmla="*/ 69134 w 902614"/>
              <a:gd name="connsiteY46" fmla="*/ 772787 h 848321"/>
              <a:gd name="connsiteX47" fmla="*/ 58009 w 902614"/>
              <a:gd name="connsiteY47" fmla="*/ 783912 h 848321"/>
              <a:gd name="connsiteX48" fmla="*/ 69134 w 902614"/>
              <a:gd name="connsiteY48" fmla="*/ 795037 h 848321"/>
              <a:gd name="connsiteX49" fmla="*/ 429598 w 902614"/>
              <a:gd name="connsiteY49" fmla="*/ 312387 h 848321"/>
              <a:gd name="connsiteX50" fmla="*/ 424166 w 902614"/>
              <a:gd name="connsiteY50" fmla="*/ 287011 h 848321"/>
              <a:gd name="connsiteX51" fmla="*/ 390977 w 902614"/>
              <a:gd name="connsiteY51" fmla="*/ 287011 h 848321"/>
              <a:gd name="connsiteX52" fmla="*/ 385545 w 902614"/>
              <a:gd name="connsiteY52" fmla="*/ 312387 h 848321"/>
              <a:gd name="connsiteX53" fmla="*/ 377434 w 902614"/>
              <a:gd name="connsiteY53" fmla="*/ 320795 h 848321"/>
              <a:gd name="connsiteX54" fmla="*/ 367425 w 902614"/>
              <a:gd name="connsiteY54" fmla="*/ 324293 h 848321"/>
              <a:gd name="connsiteX55" fmla="*/ 357491 w 902614"/>
              <a:gd name="connsiteY55" fmla="*/ 329018 h 848321"/>
              <a:gd name="connsiteX56" fmla="*/ 346143 w 902614"/>
              <a:gd name="connsiteY56" fmla="*/ 328609 h 848321"/>
              <a:gd name="connsiteX57" fmla="*/ 324376 w 902614"/>
              <a:gd name="connsiteY57" fmla="*/ 314470 h 848321"/>
              <a:gd name="connsiteX58" fmla="*/ 300899 w 902614"/>
              <a:gd name="connsiteY58" fmla="*/ 337947 h 848321"/>
              <a:gd name="connsiteX59" fmla="*/ 315038 w 902614"/>
              <a:gd name="connsiteY59" fmla="*/ 359714 h 848321"/>
              <a:gd name="connsiteX60" fmla="*/ 315335 w 902614"/>
              <a:gd name="connsiteY60" fmla="*/ 371360 h 848321"/>
              <a:gd name="connsiteX61" fmla="*/ 310833 w 902614"/>
              <a:gd name="connsiteY61" fmla="*/ 380996 h 848321"/>
              <a:gd name="connsiteX62" fmla="*/ 307113 w 902614"/>
              <a:gd name="connsiteY62" fmla="*/ 391340 h 848321"/>
              <a:gd name="connsiteX63" fmla="*/ 298778 w 902614"/>
              <a:gd name="connsiteY63" fmla="*/ 399041 h 848321"/>
              <a:gd name="connsiteX64" fmla="*/ 273403 w 902614"/>
              <a:gd name="connsiteY64" fmla="*/ 404474 h 848321"/>
              <a:gd name="connsiteX65" fmla="*/ 273403 w 902614"/>
              <a:gd name="connsiteY65" fmla="*/ 437662 h 848321"/>
              <a:gd name="connsiteX66" fmla="*/ 298778 w 902614"/>
              <a:gd name="connsiteY66" fmla="*/ 443095 h 848321"/>
              <a:gd name="connsiteX67" fmla="*/ 307187 w 902614"/>
              <a:gd name="connsiteY67" fmla="*/ 451206 h 848321"/>
              <a:gd name="connsiteX68" fmla="*/ 310684 w 902614"/>
              <a:gd name="connsiteY68" fmla="*/ 461215 h 848321"/>
              <a:gd name="connsiteX69" fmla="*/ 315410 w 902614"/>
              <a:gd name="connsiteY69" fmla="*/ 471149 h 848321"/>
              <a:gd name="connsiteX70" fmla="*/ 315000 w 902614"/>
              <a:gd name="connsiteY70" fmla="*/ 482497 h 848321"/>
              <a:gd name="connsiteX71" fmla="*/ 300862 w 902614"/>
              <a:gd name="connsiteY71" fmla="*/ 504264 h 848321"/>
              <a:gd name="connsiteX72" fmla="*/ 324339 w 902614"/>
              <a:gd name="connsiteY72" fmla="*/ 527741 h 848321"/>
              <a:gd name="connsiteX73" fmla="*/ 346105 w 902614"/>
              <a:gd name="connsiteY73" fmla="*/ 513602 h 848321"/>
              <a:gd name="connsiteX74" fmla="*/ 357752 w 902614"/>
              <a:gd name="connsiteY74" fmla="*/ 513305 h 848321"/>
              <a:gd name="connsiteX75" fmla="*/ 367388 w 902614"/>
              <a:gd name="connsiteY75" fmla="*/ 517807 h 848321"/>
              <a:gd name="connsiteX76" fmla="*/ 377806 w 902614"/>
              <a:gd name="connsiteY76" fmla="*/ 521527 h 848321"/>
              <a:gd name="connsiteX77" fmla="*/ 385508 w 902614"/>
              <a:gd name="connsiteY77" fmla="*/ 529862 h 848321"/>
              <a:gd name="connsiteX78" fmla="*/ 390940 w 902614"/>
              <a:gd name="connsiteY78" fmla="*/ 555237 h 848321"/>
              <a:gd name="connsiteX79" fmla="*/ 424129 w 902614"/>
              <a:gd name="connsiteY79" fmla="*/ 555237 h 848321"/>
              <a:gd name="connsiteX80" fmla="*/ 429562 w 902614"/>
              <a:gd name="connsiteY80" fmla="*/ 529862 h 848321"/>
              <a:gd name="connsiteX81" fmla="*/ 437673 w 902614"/>
              <a:gd name="connsiteY81" fmla="*/ 521453 h 848321"/>
              <a:gd name="connsiteX82" fmla="*/ 447607 w 902614"/>
              <a:gd name="connsiteY82" fmla="*/ 517955 h 848321"/>
              <a:gd name="connsiteX83" fmla="*/ 448091 w 902614"/>
              <a:gd name="connsiteY83" fmla="*/ 517769 h 848321"/>
              <a:gd name="connsiteX84" fmla="*/ 457504 w 902614"/>
              <a:gd name="connsiteY84" fmla="*/ 513267 h 848321"/>
              <a:gd name="connsiteX85" fmla="*/ 468852 w 902614"/>
              <a:gd name="connsiteY85" fmla="*/ 513677 h 848321"/>
              <a:gd name="connsiteX86" fmla="*/ 490619 w 902614"/>
              <a:gd name="connsiteY86" fmla="*/ 527815 h 848321"/>
              <a:gd name="connsiteX87" fmla="*/ 514096 w 902614"/>
              <a:gd name="connsiteY87" fmla="*/ 504338 h 848321"/>
              <a:gd name="connsiteX88" fmla="*/ 499957 w 902614"/>
              <a:gd name="connsiteY88" fmla="*/ 482572 h 848321"/>
              <a:gd name="connsiteX89" fmla="*/ 499660 w 902614"/>
              <a:gd name="connsiteY89" fmla="*/ 470925 h 848321"/>
              <a:gd name="connsiteX90" fmla="*/ 504162 w 902614"/>
              <a:gd name="connsiteY90" fmla="*/ 461289 h 848321"/>
              <a:gd name="connsiteX91" fmla="*/ 507882 w 902614"/>
              <a:gd name="connsiteY91" fmla="*/ 450871 h 848321"/>
              <a:gd name="connsiteX92" fmla="*/ 516217 w 902614"/>
              <a:gd name="connsiteY92" fmla="*/ 443169 h 848321"/>
              <a:gd name="connsiteX93" fmla="*/ 541592 w 902614"/>
              <a:gd name="connsiteY93" fmla="*/ 437737 h 848321"/>
              <a:gd name="connsiteX94" fmla="*/ 541592 w 902614"/>
              <a:gd name="connsiteY94" fmla="*/ 404548 h 848321"/>
              <a:gd name="connsiteX95" fmla="*/ 516217 w 902614"/>
              <a:gd name="connsiteY95" fmla="*/ 399115 h 848321"/>
              <a:gd name="connsiteX96" fmla="*/ 507808 w 902614"/>
              <a:gd name="connsiteY96" fmla="*/ 391004 h 848321"/>
              <a:gd name="connsiteX97" fmla="*/ 504310 w 902614"/>
              <a:gd name="connsiteY97" fmla="*/ 380995 h 848321"/>
              <a:gd name="connsiteX98" fmla="*/ 499585 w 902614"/>
              <a:gd name="connsiteY98" fmla="*/ 371061 h 848321"/>
              <a:gd name="connsiteX99" fmla="*/ 499994 w 902614"/>
              <a:gd name="connsiteY99" fmla="*/ 359713 h 848321"/>
              <a:gd name="connsiteX100" fmla="*/ 514133 w 902614"/>
              <a:gd name="connsiteY100" fmla="*/ 337946 h 848321"/>
              <a:gd name="connsiteX101" fmla="*/ 490656 w 902614"/>
              <a:gd name="connsiteY101" fmla="*/ 314469 h 848321"/>
              <a:gd name="connsiteX102" fmla="*/ 468890 w 902614"/>
              <a:gd name="connsiteY102" fmla="*/ 328608 h 848321"/>
              <a:gd name="connsiteX103" fmla="*/ 457243 w 902614"/>
              <a:gd name="connsiteY103" fmla="*/ 328906 h 848321"/>
              <a:gd name="connsiteX104" fmla="*/ 447607 w 902614"/>
              <a:gd name="connsiteY104" fmla="*/ 324404 h 848321"/>
              <a:gd name="connsiteX105" fmla="*/ 437188 w 902614"/>
              <a:gd name="connsiteY105" fmla="*/ 320683 h 848321"/>
              <a:gd name="connsiteX106" fmla="*/ 429487 w 902614"/>
              <a:gd name="connsiteY106" fmla="*/ 312349 h 848321"/>
              <a:gd name="connsiteX107" fmla="*/ 454453 w 902614"/>
              <a:gd name="connsiteY107" fmla="*/ 374336 h 848321"/>
              <a:gd name="connsiteX108" fmla="*/ 473800 w 902614"/>
              <a:gd name="connsiteY108" fmla="*/ 421143 h 848321"/>
              <a:gd name="connsiteX109" fmla="*/ 454453 w 902614"/>
              <a:gd name="connsiteY109" fmla="*/ 467950 h 848321"/>
              <a:gd name="connsiteX110" fmla="*/ 407646 w 902614"/>
              <a:gd name="connsiteY110" fmla="*/ 487297 h 848321"/>
              <a:gd name="connsiteX111" fmla="*/ 360839 w 902614"/>
              <a:gd name="connsiteY111" fmla="*/ 467950 h 848321"/>
              <a:gd name="connsiteX112" fmla="*/ 341492 w 902614"/>
              <a:gd name="connsiteY112" fmla="*/ 421143 h 848321"/>
              <a:gd name="connsiteX113" fmla="*/ 360839 w 902614"/>
              <a:gd name="connsiteY113" fmla="*/ 374336 h 848321"/>
              <a:gd name="connsiteX114" fmla="*/ 407646 w 902614"/>
              <a:gd name="connsiteY114" fmla="*/ 354989 h 848321"/>
              <a:gd name="connsiteX115" fmla="*/ 454453 w 902614"/>
              <a:gd name="connsiteY115" fmla="*/ 374336 h 848321"/>
              <a:gd name="connsiteX116" fmla="*/ 407646 w 902614"/>
              <a:gd name="connsiteY116" fmla="*/ 332739 h 848321"/>
              <a:gd name="connsiteX117" fmla="*/ 470117 w 902614"/>
              <a:gd name="connsiteY117" fmla="*/ 358597 h 848321"/>
              <a:gd name="connsiteX118" fmla="*/ 495975 w 902614"/>
              <a:gd name="connsiteY118" fmla="*/ 421068 h 848321"/>
              <a:gd name="connsiteX119" fmla="*/ 470117 w 902614"/>
              <a:gd name="connsiteY119" fmla="*/ 483650 h 848321"/>
              <a:gd name="connsiteX120" fmla="*/ 407646 w 902614"/>
              <a:gd name="connsiteY120" fmla="*/ 509508 h 848321"/>
              <a:gd name="connsiteX121" fmla="*/ 345176 w 902614"/>
              <a:gd name="connsiteY121" fmla="*/ 483650 h 848321"/>
              <a:gd name="connsiteX122" fmla="*/ 319317 w 902614"/>
              <a:gd name="connsiteY122" fmla="*/ 421068 h 848321"/>
              <a:gd name="connsiteX123" fmla="*/ 345176 w 902614"/>
              <a:gd name="connsiteY123" fmla="*/ 358597 h 848321"/>
              <a:gd name="connsiteX124" fmla="*/ 407646 w 902614"/>
              <a:gd name="connsiteY124" fmla="*/ 332739 h 848321"/>
              <a:gd name="connsiteX125" fmla="*/ 758176 w 902614"/>
              <a:gd name="connsiteY125" fmla="*/ 210104 h 848321"/>
              <a:gd name="connsiteX126" fmla="*/ 687185 w 902614"/>
              <a:gd name="connsiteY126" fmla="*/ 198571 h 848321"/>
              <a:gd name="connsiteX127" fmla="*/ 616194 w 902614"/>
              <a:gd name="connsiteY127" fmla="*/ 210104 h 848321"/>
              <a:gd name="connsiteX128" fmla="*/ 592122 w 902614"/>
              <a:gd name="connsiteY128" fmla="*/ 229750 h 848321"/>
              <a:gd name="connsiteX129" fmla="*/ 616194 w 902614"/>
              <a:gd name="connsiteY129" fmla="*/ 249395 h 848321"/>
              <a:gd name="connsiteX130" fmla="*/ 687185 w 902614"/>
              <a:gd name="connsiteY130" fmla="*/ 260929 h 848321"/>
              <a:gd name="connsiteX131" fmla="*/ 758176 w 902614"/>
              <a:gd name="connsiteY131" fmla="*/ 249395 h 848321"/>
              <a:gd name="connsiteX132" fmla="*/ 782248 w 902614"/>
              <a:gd name="connsiteY132" fmla="*/ 229750 h 848321"/>
              <a:gd name="connsiteX133" fmla="*/ 758176 w 902614"/>
              <a:gd name="connsiteY133" fmla="*/ 210104 h 848321"/>
              <a:gd name="connsiteX134" fmla="*/ 804387 w 902614"/>
              <a:gd name="connsiteY134" fmla="*/ 229638 h 848321"/>
              <a:gd name="connsiteX135" fmla="*/ 766287 w 902614"/>
              <a:gd name="connsiteY135" fmla="*/ 189641 h 848321"/>
              <a:gd name="connsiteX136" fmla="*/ 687185 w 902614"/>
              <a:gd name="connsiteY136" fmla="*/ 176395 h 848321"/>
              <a:gd name="connsiteX137" fmla="*/ 608083 w 902614"/>
              <a:gd name="connsiteY137" fmla="*/ 189641 h 848321"/>
              <a:gd name="connsiteX138" fmla="*/ 569983 w 902614"/>
              <a:gd name="connsiteY138" fmla="*/ 229638 h 848321"/>
              <a:gd name="connsiteX139" fmla="*/ 569983 w 902614"/>
              <a:gd name="connsiteY139" fmla="*/ 253115 h 848321"/>
              <a:gd name="connsiteX140" fmla="*/ 511531 w 902614"/>
              <a:gd name="connsiteY140" fmla="*/ 253115 h 848321"/>
              <a:gd name="connsiteX141" fmla="*/ 483662 w 902614"/>
              <a:gd name="connsiteY141" fmla="*/ 241469 h 848321"/>
              <a:gd name="connsiteX142" fmla="*/ 472016 w 902614"/>
              <a:gd name="connsiteY142" fmla="*/ 213601 h 848321"/>
              <a:gd name="connsiteX143" fmla="*/ 483662 w 902614"/>
              <a:gd name="connsiteY143" fmla="*/ 185733 h 848321"/>
              <a:gd name="connsiteX144" fmla="*/ 511531 w 902614"/>
              <a:gd name="connsiteY144" fmla="*/ 174086 h 848321"/>
              <a:gd name="connsiteX145" fmla="*/ 516256 w 902614"/>
              <a:gd name="connsiteY145" fmla="*/ 174086 h 848321"/>
              <a:gd name="connsiteX146" fmla="*/ 527381 w 902614"/>
              <a:gd name="connsiteY146" fmla="*/ 162961 h 848321"/>
              <a:gd name="connsiteX147" fmla="*/ 526897 w 902614"/>
              <a:gd name="connsiteY147" fmla="*/ 159538 h 848321"/>
              <a:gd name="connsiteX148" fmla="*/ 525297 w 902614"/>
              <a:gd name="connsiteY148" fmla="*/ 151427 h 848321"/>
              <a:gd name="connsiteX149" fmla="*/ 524814 w 902614"/>
              <a:gd name="connsiteY149" fmla="*/ 142497 h 848321"/>
              <a:gd name="connsiteX150" fmla="*/ 544459 w 902614"/>
              <a:gd name="connsiteY150" fmla="*/ 94984 h 848321"/>
              <a:gd name="connsiteX151" fmla="*/ 591973 w 902614"/>
              <a:gd name="connsiteY151" fmla="*/ 75339 h 848321"/>
              <a:gd name="connsiteX152" fmla="*/ 639486 w 902614"/>
              <a:gd name="connsiteY152" fmla="*/ 94984 h 848321"/>
              <a:gd name="connsiteX153" fmla="*/ 659132 w 902614"/>
              <a:gd name="connsiteY153" fmla="*/ 142497 h 848321"/>
              <a:gd name="connsiteX154" fmla="*/ 670257 w 902614"/>
              <a:gd name="connsiteY154" fmla="*/ 153623 h 848321"/>
              <a:gd name="connsiteX155" fmla="*/ 681382 w 902614"/>
              <a:gd name="connsiteY155" fmla="*/ 142497 h 848321"/>
              <a:gd name="connsiteX156" fmla="*/ 655225 w 902614"/>
              <a:gd name="connsiteY156" fmla="*/ 79246 h 848321"/>
              <a:gd name="connsiteX157" fmla="*/ 627841 w 902614"/>
              <a:gd name="connsiteY157" fmla="*/ 60493 h 848321"/>
              <a:gd name="connsiteX158" fmla="*/ 653402 w 902614"/>
              <a:gd name="connsiteY158" fmla="*/ 21499 h 848321"/>
              <a:gd name="connsiteX159" fmla="*/ 705343 w 902614"/>
              <a:gd name="connsiteY159" fmla="*/ 2635 h 848321"/>
              <a:gd name="connsiteX160" fmla="*/ 762493 w 902614"/>
              <a:gd name="connsiteY160" fmla="*/ 26299 h 848321"/>
              <a:gd name="connsiteX161" fmla="*/ 786157 w 902614"/>
              <a:gd name="connsiteY161" fmla="*/ 83449 h 848321"/>
              <a:gd name="connsiteX162" fmla="*/ 783664 w 902614"/>
              <a:gd name="connsiteY162" fmla="*/ 103801 h 848321"/>
              <a:gd name="connsiteX163" fmla="*/ 776037 w 902614"/>
              <a:gd name="connsiteY163" fmla="*/ 122740 h 848321"/>
              <a:gd name="connsiteX164" fmla="*/ 780353 w 902614"/>
              <a:gd name="connsiteY164" fmla="*/ 137771 h 848321"/>
              <a:gd name="connsiteX165" fmla="*/ 795384 w 902614"/>
              <a:gd name="connsiteY165" fmla="*/ 133455 h 848321"/>
              <a:gd name="connsiteX166" fmla="*/ 805020 w 902614"/>
              <a:gd name="connsiteY166" fmla="*/ 109307 h 848321"/>
              <a:gd name="connsiteX167" fmla="*/ 807439 w 902614"/>
              <a:gd name="connsiteY167" fmla="*/ 97178 h 848321"/>
              <a:gd name="connsiteX168" fmla="*/ 837911 w 902614"/>
              <a:gd name="connsiteY168" fmla="*/ 110908 h 848321"/>
              <a:gd name="connsiteX169" fmla="*/ 851752 w 902614"/>
              <a:gd name="connsiteY169" fmla="*/ 144282 h 848321"/>
              <a:gd name="connsiteX170" fmla="*/ 851454 w 902614"/>
              <a:gd name="connsiteY170" fmla="*/ 150384 h 848321"/>
              <a:gd name="connsiteX171" fmla="*/ 850264 w 902614"/>
              <a:gd name="connsiteY171" fmla="*/ 156300 h 848321"/>
              <a:gd name="connsiteX172" fmla="*/ 850264 w 902614"/>
              <a:gd name="connsiteY172" fmla="*/ 156784 h 848321"/>
              <a:gd name="connsiteX173" fmla="*/ 849966 w 902614"/>
              <a:gd name="connsiteY173" fmla="*/ 157602 h 848321"/>
              <a:gd name="connsiteX174" fmla="*/ 849371 w 902614"/>
              <a:gd name="connsiteY174" fmla="*/ 159611 h 848321"/>
              <a:gd name="connsiteX175" fmla="*/ 856775 w 902614"/>
              <a:gd name="connsiteY175" fmla="*/ 173452 h 848321"/>
              <a:gd name="connsiteX176" fmla="*/ 859975 w 902614"/>
              <a:gd name="connsiteY176" fmla="*/ 173936 h 848321"/>
              <a:gd name="connsiteX177" fmla="*/ 863100 w 902614"/>
              <a:gd name="connsiteY177" fmla="*/ 173936 h 848321"/>
              <a:gd name="connsiteX178" fmla="*/ 890968 w 902614"/>
              <a:gd name="connsiteY178" fmla="*/ 185582 h 848321"/>
              <a:gd name="connsiteX179" fmla="*/ 902615 w 902614"/>
              <a:gd name="connsiteY179" fmla="*/ 213450 h 848321"/>
              <a:gd name="connsiteX180" fmla="*/ 890968 w 902614"/>
              <a:gd name="connsiteY180" fmla="*/ 241319 h 848321"/>
              <a:gd name="connsiteX181" fmla="*/ 863100 w 902614"/>
              <a:gd name="connsiteY181" fmla="*/ 252965 h 848321"/>
              <a:gd name="connsiteX182" fmla="*/ 804648 w 902614"/>
              <a:gd name="connsiteY182" fmla="*/ 252965 h 848321"/>
              <a:gd name="connsiteX183" fmla="*/ 804648 w 902614"/>
              <a:gd name="connsiteY183" fmla="*/ 229599 h 848321"/>
              <a:gd name="connsiteX184" fmla="*/ 804648 w 902614"/>
              <a:gd name="connsiteY184" fmla="*/ 229487 h 848321"/>
              <a:gd name="connsiteX185" fmla="*/ 592046 w 902614"/>
              <a:gd name="connsiteY185" fmla="*/ 371399 h 848321"/>
              <a:gd name="connsiteX186" fmla="*/ 592046 w 902614"/>
              <a:gd name="connsiteY186" fmla="*/ 393761 h 848321"/>
              <a:gd name="connsiteX187" fmla="*/ 613218 w 902614"/>
              <a:gd name="connsiteY187" fmla="*/ 412401 h 848321"/>
              <a:gd name="connsiteX188" fmla="*/ 687111 w 902614"/>
              <a:gd name="connsiteY188" fmla="*/ 425051 h 848321"/>
              <a:gd name="connsiteX189" fmla="*/ 761004 w 902614"/>
              <a:gd name="connsiteY189" fmla="*/ 412401 h 848321"/>
              <a:gd name="connsiteX190" fmla="*/ 782175 w 902614"/>
              <a:gd name="connsiteY190" fmla="*/ 393761 h 848321"/>
              <a:gd name="connsiteX191" fmla="*/ 782175 w 902614"/>
              <a:gd name="connsiteY191" fmla="*/ 371399 h 848321"/>
              <a:gd name="connsiteX192" fmla="*/ 766250 w 902614"/>
              <a:gd name="connsiteY192" fmla="*/ 379324 h 848321"/>
              <a:gd name="connsiteX193" fmla="*/ 687148 w 902614"/>
              <a:gd name="connsiteY193" fmla="*/ 392569 h 848321"/>
              <a:gd name="connsiteX194" fmla="*/ 608046 w 902614"/>
              <a:gd name="connsiteY194" fmla="*/ 379324 h 848321"/>
              <a:gd name="connsiteX195" fmla="*/ 592121 w 902614"/>
              <a:gd name="connsiteY195" fmla="*/ 371399 h 848321"/>
              <a:gd name="connsiteX196" fmla="*/ 592046 w 902614"/>
              <a:gd name="connsiteY196" fmla="*/ 284483 h 848321"/>
              <a:gd name="connsiteX197" fmla="*/ 616119 w 902614"/>
              <a:gd name="connsiteY197" fmla="*/ 304128 h 848321"/>
              <a:gd name="connsiteX198" fmla="*/ 687110 w 902614"/>
              <a:gd name="connsiteY198" fmla="*/ 315662 h 848321"/>
              <a:gd name="connsiteX199" fmla="*/ 758100 w 902614"/>
              <a:gd name="connsiteY199" fmla="*/ 304128 h 848321"/>
              <a:gd name="connsiteX200" fmla="*/ 782173 w 902614"/>
              <a:gd name="connsiteY200" fmla="*/ 284483 h 848321"/>
              <a:gd name="connsiteX201" fmla="*/ 782173 w 902614"/>
              <a:gd name="connsiteY201" fmla="*/ 262121 h 848321"/>
              <a:gd name="connsiteX202" fmla="*/ 766248 w 902614"/>
              <a:gd name="connsiteY202" fmla="*/ 270046 h 848321"/>
              <a:gd name="connsiteX203" fmla="*/ 687146 w 902614"/>
              <a:gd name="connsiteY203" fmla="*/ 283292 h 848321"/>
              <a:gd name="connsiteX204" fmla="*/ 608044 w 902614"/>
              <a:gd name="connsiteY204" fmla="*/ 270046 h 848321"/>
              <a:gd name="connsiteX205" fmla="*/ 592119 w 902614"/>
              <a:gd name="connsiteY205" fmla="*/ 262121 h 848321"/>
              <a:gd name="connsiteX206" fmla="*/ 592119 w 902614"/>
              <a:gd name="connsiteY206" fmla="*/ 284371 h 848321"/>
              <a:gd name="connsiteX207" fmla="*/ 782137 w 902614"/>
              <a:gd name="connsiteY207" fmla="*/ 316779 h 848321"/>
              <a:gd name="connsiteX208" fmla="*/ 766212 w 902614"/>
              <a:gd name="connsiteY208" fmla="*/ 324704 h 848321"/>
              <a:gd name="connsiteX209" fmla="*/ 687110 w 902614"/>
              <a:gd name="connsiteY209" fmla="*/ 337949 h 848321"/>
              <a:gd name="connsiteX210" fmla="*/ 608007 w 902614"/>
              <a:gd name="connsiteY210" fmla="*/ 324704 h 848321"/>
              <a:gd name="connsiteX211" fmla="*/ 592083 w 902614"/>
              <a:gd name="connsiteY211" fmla="*/ 316779 h 848321"/>
              <a:gd name="connsiteX212" fmla="*/ 592083 w 902614"/>
              <a:gd name="connsiteY212" fmla="*/ 339028 h 848321"/>
              <a:gd name="connsiteX213" fmla="*/ 616155 w 902614"/>
              <a:gd name="connsiteY213" fmla="*/ 358785 h 848321"/>
              <a:gd name="connsiteX214" fmla="*/ 687146 w 902614"/>
              <a:gd name="connsiteY214" fmla="*/ 370319 h 848321"/>
              <a:gd name="connsiteX215" fmla="*/ 758137 w 902614"/>
              <a:gd name="connsiteY215" fmla="*/ 358785 h 848321"/>
              <a:gd name="connsiteX216" fmla="*/ 782209 w 902614"/>
              <a:gd name="connsiteY216" fmla="*/ 339139 h 848321"/>
              <a:gd name="connsiteX217" fmla="*/ 782209 w 902614"/>
              <a:gd name="connsiteY217" fmla="*/ 316666 h 848321"/>
              <a:gd name="connsiteX218" fmla="*/ 430198 w 902614"/>
              <a:gd name="connsiteY218" fmla="*/ 829719 h 848321"/>
              <a:gd name="connsiteX219" fmla="*/ 429602 w 902614"/>
              <a:gd name="connsiteY219" fmla="*/ 845346 h 848321"/>
              <a:gd name="connsiteX220" fmla="*/ 413976 w 902614"/>
              <a:gd name="connsiteY220" fmla="*/ 844750 h 848321"/>
              <a:gd name="connsiteX221" fmla="*/ 373754 w 902614"/>
              <a:gd name="connsiteY221" fmla="*/ 801628 h 848321"/>
              <a:gd name="connsiteX222" fmla="*/ 374350 w 902614"/>
              <a:gd name="connsiteY222" fmla="*/ 786001 h 848321"/>
              <a:gd name="connsiteX223" fmla="*/ 377363 w 902614"/>
              <a:gd name="connsiteY223" fmla="*/ 783992 h 848321"/>
              <a:gd name="connsiteX224" fmla="*/ 430086 w 902614"/>
              <a:gd name="connsiteY224" fmla="*/ 758319 h 848321"/>
              <a:gd name="connsiteX225" fmla="*/ 444820 w 902614"/>
              <a:gd name="connsiteY225" fmla="*/ 763417 h 848321"/>
              <a:gd name="connsiteX226" fmla="*/ 439723 w 902614"/>
              <a:gd name="connsiteY226" fmla="*/ 778151 h 848321"/>
              <a:gd name="connsiteX227" fmla="*/ 419668 w 902614"/>
              <a:gd name="connsiteY227" fmla="*/ 787862 h 848321"/>
              <a:gd name="connsiteX228" fmla="*/ 451034 w 902614"/>
              <a:gd name="connsiteY228" fmla="*/ 789164 h 848321"/>
              <a:gd name="connsiteX229" fmla="*/ 691759 w 902614"/>
              <a:gd name="connsiteY229" fmla="*/ 699420 h 848321"/>
              <a:gd name="connsiteX230" fmla="*/ 814994 w 902614"/>
              <a:gd name="connsiteY230" fmla="*/ 473611 h 848321"/>
              <a:gd name="connsiteX231" fmla="*/ 827421 w 902614"/>
              <a:gd name="connsiteY231" fmla="*/ 464198 h 848321"/>
              <a:gd name="connsiteX232" fmla="*/ 836834 w 902614"/>
              <a:gd name="connsiteY232" fmla="*/ 476625 h 848321"/>
              <a:gd name="connsiteX233" fmla="*/ 706199 w 902614"/>
              <a:gd name="connsiteY233" fmla="*/ 716160 h 848321"/>
              <a:gd name="connsiteX234" fmla="*/ 451034 w 902614"/>
              <a:gd name="connsiteY234" fmla="*/ 811410 h 848321"/>
              <a:gd name="connsiteX235" fmla="*/ 415241 w 902614"/>
              <a:gd name="connsiteY235" fmla="*/ 809698 h 848321"/>
              <a:gd name="connsiteX236" fmla="*/ 411334 w 902614"/>
              <a:gd name="connsiteY236" fmla="*/ 809289 h 848321"/>
              <a:gd name="connsiteX237" fmla="*/ 430198 w 902614"/>
              <a:gd name="connsiteY237" fmla="*/ 829529 h 848321"/>
              <a:gd name="connsiteX238" fmla="*/ 85107 w 902614"/>
              <a:gd name="connsiteY238" fmla="*/ 388483 h 848321"/>
              <a:gd name="connsiteX239" fmla="*/ 73163 w 902614"/>
              <a:gd name="connsiteY239" fmla="*/ 398492 h 848321"/>
              <a:gd name="connsiteX240" fmla="*/ 63155 w 902614"/>
              <a:gd name="connsiteY240" fmla="*/ 386548 h 848321"/>
              <a:gd name="connsiteX241" fmla="*/ 188465 w 902614"/>
              <a:gd name="connsiteY241" fmla="*/ 133688 h 848321"/>
              <a:gd name="connsiteX242" fmla="*/ 451375 w 902614"/>
              <a:gd name="connsiteY242" fmla="*/ 31628 h 848321"/>
              <a:gd name="connsiteX243" fmla="*/ 463095 w 902614"/>
              <a:gd name="connsiteY243" fmla="*/ 31814 h 848321"/>
              <a:gd name="connsiteX244" fmla="*/ 447059 w 902614"/>
              <a:gd name="connsiteY244" fmla="*/ 19982 h 848321"/>
              <a:gd name="connsiteX245" fmla="*/ 444640 w 902614"/>
              <a:gd name="connsiteY245" fmla="*/ 4541 h 848321"/>
              <a:gd name="connsiteX246" fmla="*/ 460081 w 902614"/>
              <a:gd name="connsiteY246" fmla="*/ 2122 h 848321"/>
              <a:gd name="connsiteX247" fmla="*/ 507595 w 902614"/>
              <a:gd name="connsiteY247" fmla="*/ 37023 h 848321"/>
              <a:gd name="connsiteX248" fmla="*/ 509902 w 902614"/>
              <a:gd name="connsiteY248" fmla="*/ 39330 h 848321"/>
              <a:gd name="connsiteX249" fmla="*/ 507595 w 902614"/>
              <a:gd name="connsiteY249" fmla="*/ 54771 h 848321"/>
              <a:gd name="connsiteX250" fmla="*/ 460267 w 902614"/>
              <a:gd name="connsiteY250" fmla="*/ 89968 h 848321"/>
              <a:gd name="connsiteX251" fmla="*/ 444826 w 902614"/>
              <a:gd name="connsiteY251" fmla="*/ 87662 h 848321"/>
              <a:gd name="connsiteX252" fmla="*/ 447133 w 902614"/>
              <a:gd name="connsiteY252" fmla="*/ 72221 h 848321"/>
              <a:gd name="connsiteX253" fmla="*/ 471205 w 902614"/>
              <a:gd name="connsiteY253" fmla="*/ 54287 h 848321"/>
              <a:gd name="connsiteX254" fmla="*/ 451262 w 902614"/>
              <a:gd name="connsiteY254" fmla="*/ 53803 h 848321"/>
              <a:gd name="connsiteX255" fmla="*/ 203317 w 902614"/>
              <a:gd name="connsiteY255" fmla="*/ 149949 h 848321"/>
              <a:gd name="connsiteX256" fmla="*/ 85111 w 902614"/>
              <a:gd name="connsiteY256" fmla="*/ 388369 h 848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902614" h="848321">
                <a:moveTo>
                  <a:pt x="224772" y="526256"/>
                </a:moveTo>
                <a:lnTo>
                  <a:pt x="224772" y="559445"/>
                </a:lnTo>
                <a:lnTo>
                  <a:pt x="258668" y="559445"/>
                </a:lnTo>
                <a:close/>
                <a:moveTo>
                  <a:pt x="274592" y="581695"/>
                </a:moveTo>
                <a:lnTo>
                  <a:pt x="274592" y="840355"/>
                </a:lnTo>
                <a:lnTo>
                  <a:pt x="33267" y="840393"/>
                </a:lnTo>
                <a:lnTo>
                  <a:pt x="33267" y="510923"/>
                </a:lnTo>
                <a:lnTo>
                  <a:pt x="202593" y="510923"/>
                </a:lnTo>
                <a:lnTo>
                  <a:pt x="202593" y="570566"/>
                </a:lnTo>
                <a:cubicBezTo>
                  <a:pt x="202593" y="576668"/>
                  <a:pt x="207616" y="581691"/>
                  <a:pt x="213718" y="581691"/>
                </a:cubicBezTo>
                <a:lnTo>
                  <a:pt x="274663" y="581691"/>
                </a:lnTo>
                <a:close/>
                <a:moveTo>
                  <a:pt x="241404" y="511596"/>
                </a:moveTo>
                <a:lnTo>
                  <a:pt x="221944" y="492546"/>
                </a:lnTo>
                <a:cubicBezTo>
                  <a:pt x="219935" y="490239"/>
                  <a:pt x="216921" y="488751"/>
                  <a:pt x="213610" y="488751"/>
                </a:cubicBezTo>
                <a:lnTo>
                  <a:pt x="22138" y="488751"/>
                </a:lnTo>
                <a:cubicBezTo>
                  <a:pt x="16036" y="488751"/>
                  <a:pt x="11013" y="493774"/>
                  <a:pt x="11013" y="499876"/>
                </a:cubicBezTo>
                <a:lnTo>
                  <a:pt x="11013" y="811706"/>
                </a:lnTo>
                <a:lnTo>
                  <a:pt x="0" y="811706"/>
                </a:lnTo>
                <a:lnTo>
                  <a:pt x="0" y="482236"/>
                </a:lnTo>
                <a:lnTo>
                  <a:pt x="241440" y="482236"/>
                </a:lnTo>
                <a:lnTo>
                  <a:pt x="241440" y="511629"/>
                </a:lnTo>
                <a:close/>
                <a:moveTo>
                  <a:pt x="69134" y="621467"/>
                </a:moveTo>
                <a:lnTo>
                  <a:pt x="160887" y="621467"/>
                </a:lnTo>
                <a:cubicBezTo>
                  <a:pt x="166989" y="621467"/>
                  <a:pt x="172012" y="616444"/>
                  <a:pt x="172012" y="610342"/>
                </a:cubicBezTo>
                <a:cubicBezTo>
                  <a:pt x="172012" y="604240"/>
                  <a:pt x="166989" y="599217"/>
                  <a:pt x="160887" y="599217"/>
                </a:cubicBezTo>
                <a:lnTo>
                  <a:pt x="69134" y="599217"/>
                </a:lnTo>
                <a:cubicBezTo>
                  <a:pt x="63032" y="599217"/>
                  <a:pt x="58009" y="604240"/>
                  <a:pt x="58009" y="610342"/>
                </a:cubicBezTo>
                <a:cubicBezTo>
                  <a:pt x="58009" y="616444"/>
                  <a:pt x="63032" y="621467"/>
                  <a:pt x="69134" y="621467"/>
                </a:cubicBezTo>
                <a:close/>
                <a:moveTo>
                  <a:pt x="69134" y="679324"/>
                </a:moveTo>
                <a:lnTo>
                  <a:pt x="207990" y="679324"/>
                </a:lnTo>
                <a:cubicBezTo>
                  <a:pt x="214092" y="679324"/>
                  <a:pt x="219115" y="674301"/>
                  <a:pt x="219115" y="668199"/>
                </a:cubicBezTo>
                <a:cubicBezTo>
                  <a:pt x="219115" y="662096"/>
                  <a:pt x="214092" y="657074"/>
                  <a:pt x="207990" y="657074"/>
                </a:cubicBezTo>
                <a:lnTo>
                  <a:pt x="69134" y="657074"/>
                </a:lnTo>
                <a:cubicBezTo>
                  <a:pt x="63032" y="657074"/>
                  <a:pt x="58009" y="662096"/>
                  <a:pt x="58009" y="668199"/>
                </a:cubicBezTo>
                <a:cubicBezTo>
                  <a:pt x="58009" y="674301"/>
                  <a:pt x="63032" y="679324"/>
                  <a:pt x="69134" y="679324"/>
                </a:cubicBezTo>
                <a:close/>
                <a:moveTo>
                  <a:pt x="69134" y="737181"/>
                </a:moveTo>
                <a:lnTo>
                  <a:pt x="207990" y="737181"/>
                </a:lnTo>
                <a:cubicBezTo>
                  <a:pt x="214092" y="737181"/>
                  <a:pt x="219115" y="732158"/>
                  <a:pt x="219115" y="726055"/>
                </a:cubicBezTo>
                <a:cubicBezTo>
                  <a:pt x="219115" y="719953"/>
                  <a:pt x="214092" y="714930"/>
                  <a:pt x="207990" y="714930"/>
                </a:cubicBezTo>
                <a:lnTo>
                  <a:pt x="69134" y="714930"/>
                </a:lnTo>
                <a:cubicBezTo>
                  <a:pt x="63032" y="714930"/>
                  <a:pt x="58009" y="719953"/>
                  <a:pt x="58009" y="726055"/>
                </a:cubicBezTo>
                <a:cubicBezTo>
                  <a:pt x="58009" y="732158"/>
                  <a:pt x="63032" y="737181"/>
                  <a:pt x="69134" y="737181"/>
                </a:cubicBezTo>
                <a:close/>
                <a:moveTo>
                  <a:pt x="69134" y="795037"/>
                </a:moveTo>
                <a:lnTo>
                  <a:pt x="207990" y="795037"/>
                </a:lnTo>
                <a:cubicBezTo>
                  <a:pt x="214092" y="795037"/>
                  <a:pt x="219115" y="790015"/>
                  <a:pt x="219115" y="783912"/>
                </a:cubicBezTo>
                <a:cubicBezTo>
                  <a:pt x="219115" y="777810"/>
                  <a:pt x="214092" y="772787"/>
                  <a:pt x="207990" y="772787"/>
                </a:cubicBezTo>
                <a:lnTo>
                  <a:pt x="69134" y="772787"/>
                </a:lnTo>
                <a:cubicBezTo>
                  <a:pt x="63032" y="772787"/>
                  <a:pt x="58009" y="777810"/>
                  <a:pt x="58009" y="783912"/>
                </a:cubicBezTo>
                <a:cubicBezTo>
                  <a:pt x="58009" y="790015"/>
                  <a:pt x="63032" y="795037"/>
                  <a:pt x="69134" y="795037"/>
                </a:cubicBezTo>
                <a:close/>
                <a:moveTo>
                  <a:pt x="429598" y="312387"/>
                </a:moveTo>
                <a:lnTo>
                  <a:pt x="424166" y="287011"/>
                </a:lnTo>
                <a:lnTo>
                  <a:pt x="390977" y="287011"/>
                </a:lnTo>
                <a:lnTo>
                  <a:pt x="385545" y="312387"/>
                </a:lnTo>
                <a:cubicBezTo>
                  <a:pt x="384652" y="316703"/>
                  <a:pt x="381452" y="319791"/>
                  <a:pt x="377434" y="320795"/>
                </a:cubicBezTo>
                <a:cubicBezTo>
                  <a:pt x="374011" y="321800"/>
                  <a:pt x="370625" y="322991"/>
                  <a:pt x="367425" y="324293"/>
                </a:cubicBezTo>
                <a:cubicBezTo>
                  <a:pt x="364002" y="325707"/>
                  <a:pt x="360691" y="327307"/>
                  <a:pt x="357491" y="329018"/>
                </a:cubicBezTo>
                <a:cubicBezTo>
                  <a:pt x="353770" y="331027"/>
                  <a:pt x="349454" y="330730"/>
                  <a:pt x="346143" y="328609"/>
                </a:cubicBezTo>
                <a:lnTo>
                  <a:pt x="324376" y="314470"/>
                </a:lnTo>
                <a:lnTo>
                  <a:pt x="300899" y="337947"/>
                </a:lnTo>
                <a:lnTo>
                  <a:pt x="315038" y="359714"/>
                </a:lnTo>
                <a:cubicBezTo>
                  <a:pt x="317456" y="363323"/>
                  <a:pt x="317345" y="367825"/>
                  <a:pt x="315335" y="371360"/>
                </a:cubicBezTo>
                <a:cubicBezTo>
                  <a:pt x="313624" y="374485"/>
                  <a:pt x="312136" y="377685"/>
                  <a:pt x="310833" y="380996"/>
                </a:cubicBezTo>
                <a:cubicBezTo>
                  <a:pt x="309419" y="384419"/>
                  <a:pt x="308229" y="387917"/>
                  <a:pt x="307113" y="391340"/>
                </a:cubicBezTo>
                <a:cubicBezTo>
                  <a:pt x="305922" y="395358"/>
                  <a:pt x="302611" y="398260"/>
                  <a:pt x="298778" y="399041"/>
                </a:cubicBezTo>
                <a:lnTo>
                  <a:pt x="273403" y="404474"/>
                </a:lnTo>
                <a:lnTo>
                  <a:pt x="273403" y="437662"/>
                </a:lnTo>
                <a:lnTo>
                  <a:pt x="298778" y="443095"/>
                </a:lnTo>
                <a:cubicBezTo>
                  <a:pt x="303094" y="443988"/>
                  <a:pt x="306182" y="447299"/>
                  <a:pt x="307187" y="451206"/>
                </a:cubicBezTo>
                <a:cubicBezTo>
                  <a:pt x="308192" y="454629"/>
                  <a:pt x="309382" y="458015"/>
                  <a:pt x="310684" y="461215"/>
                </a:cubicBezTo>
                <a:cubicBezTo>
                  <a:pt x="312098" y="464638"/>
                  <a:pt x="313698" y="467949"/>
                  <a:pt x="315410" y="471149"/>
                </a:cubicBezTo>
                <a:cubicBezTo>
                  <a:pt x="317419" y="474870"/>
                  <a:pt x="317121" y="479186"/>
                  <a:pt x="315000" y="482497"/>
                </a:cubicBezTo>
                <a:lnTo>
                  <a:pt x="300862" y="504264"/>
                </a:lnTo>
                <a:lnTo>
                  <a:pt x="324339" y="527741"/>
                </a:lnTo>
                <a:lnTo>
                  <a:pt x="346105" y="513602"/>
                </a:lnTo>
                <a:cubicBezTo>
                  <a:pt x="349714" y="511184"/>
                  <a:pt x="354216" y="511295"/>
                  <a:pt x="357752" y="513305"/>
                </a:cubicBezTo>
                <a:cubicBezTo>
                  <a:pt x="360877" y="515016"/>
                  <a:pt x="364077" y="516504"/>
                  <a:pt x="367388" y="517807"/>
                </a:cubicBezTo>
                <a:cubicBezTo>
                  <a:pt x="370699" y="519221"/>
                  <a:pt x="374197" y="520411"/>
                  <a:pt x="377806" y="521527"/>
                </a:cubicBezTo>
                <a:cubicBezTo>
                  <a:pt x="381825" y="522718"/>
                  <a:pt x="384727" y="526029"/>
                  <a:pt x="385508" y="529862"/>
                </a:cubicBezTo>
                <a:lnTo>
                  <a:pt x="390940" y="555237"/>
                </a:lnTo>
                <a:lnTo>
                  <a:pt x="424129" y="555237"/>
                </a:lnTo>
                <a:lnTo>
                  <a:pt x="429562" y="529862"/>
                </a:lnTo>
                <a:cubicBezTo>
                  <a:pt x="430454" y="525546"/>
                  <a:pt x="433654" y="522457"/>
                  <a:pt x="437673" y="521453"/>
                </a:cubicBezTo>
                <a:cubicBezTo>
                  <a:pt x="440984" y="520448"/>
                  <a:pt x="444295" y="519258"/>
                  <a:pt x="447607" y="517955"/>
                </a:cubicBezTo>
                <a:cubicBezTo>
                  <a:pt x="447793" y="517955"/>
                  <a:pt x="448016" y="517844"/>
                  <a:pt x="448091" y="517769"/>
                </a:cubicBezTo>
                <a:cubicBezTo>
                  <a:pt x="451291" y="516355"/>
                  <a:pt x="454416" y="514867"/>
                  <a:pt x="457504" y="513267"/>
                </a:cubicBezTo>
                <a:cubicBezTo>
                  <a:pt x="461225" y="511258"/>
                  <a:pt x="465541" y="511556"/>
                  <a:pt x="468852" y="513677"/>
                </a:cubicBezTo>
                <a:lnTo>
                  <a:pt x="490619" y="527815"/>
                </a:lnTo>
                <a:lnTo>
                  <a:pt x="514096" y="504338"/>
                </a:lnTo>
                <a:lnTo>
                  <a:pt x="499957" y="482572"/>
                </a:lnTo>
                <a:cubicBezTo>
                  <a:pt x="497539" y="478963"/>
                  <a:pt x="497650" y="474461"/>
                  <a:pt x="499660" y="470925"/>
                </a:cubicBezTo>
                <a:cubicBezTo>
                  <a:pt x="501371" y="467800"/>
                  <a:pt x="502859" y="464600"/>
                  <a:pt x="504162" y="461289"/>
                </a:cubicBezTo>
                <a:cubicBezTo>
                  <a:pt x="505576" y="457978"/>
                  <a:pt x="506766" y="454480"/>
                  <a:pt x="507882" y="450871"/>
                </a:cubicBezTo>
                <a:cubicBezTo>
                  <a:pt x="509073" y="446852"/>
                  <a:pt x="512384" y="443950"/>
                  <a:pt x="516217" y="443169"/>
                </a:cubicBezTo>
                <a:lnTo>
                  <a:pt x="541592" y="437737"/>
                </a:lnTo>
                <a:lnTo>
                  <a:pt x="541592" y="404548"/>
                </a:lnTo>
                <a:lnTo>
                  <a:pt x="516217" y="399115"/>
                </a:lnTo>
                <a:cubicBezTo>
                  <a:pt x="511901" y="398222"/>
                  <a:pt x="508812" y="394911"/>
                  <a:pt x="507808" y="391004"/>
                </a:cubicBezTo>
                <a:cubicBezTo>
                  <a:pt x="506803" y="387581"/>
                  <a:pt x="505613" y="384195"/>
                  <a:pt x="504310" y="380995"/>
                </a:cubicBezTo>
                <a:cubicBezTo>
                  <a:pt x="502897" y="377573"/>
                  <a:pt x="501297" y="374261"/>
                  <a:pt x="499585" y="371061"/>
                </a:cubicBezTo>
                <a:cubicBezTo>
                  <a:pt x="497576" y="367340"/>
                  <a:pt x="497874" y="363024"/>
                  <a:pt x="499994" y="359713"/>
                </a:cubicBezTo>
                <a:lnTo>
                  <a:pt x="514133" y="337946"/>
                </a:lnTo>
                <a:lnTo>
                  <a:pt x="490656" y="314469"/>
                </a:lnTo>
                <a:lnTo>
                  <a:pt x="468890" y="328608"/>
                </a:lnTo>
                <a:cubicBezTo>
                  <a:pt x="465280" y="331026"/>
                  <a:pt x="460778" y="330915"/>
                  <a:pt x="457243" y="328906"/>
                </a:cubicBezTo>
                <a:cubicBezTo>
                  <a:pt x="454118" y="327194"/>
                  <a:pt x="450918" y="325706"/>
                  <a:pt x="447607" y="324404"/>
                </a:cubicBezTo>
                <a:cubicBezTo>
                  <a:pt x="444295" y="322990"/>
                  <a:pt x="440798" y="321799"/>
                  <a:pt x="437188" y="320683"/>
                </a:cubicBezTo>
                <a:cubicBezTo>
                  <a:pt x="433170" y="319492"/>
                  <a:pt x="430268" y="316181"/>
                  <a:pt x="429487" y="312349"/>
                </a:cubicBezTo>
                <a:close/>
                <a:moveTo>
                  <a:pt x="454453" y="374336"/>
                </a:moveTo>
                <a:cubicBezTo>
                  <a:pt x="466471" y="386354"/>
                  <a:pt x="473800" y="402911"/>
                  <a:pt x="473800" y="421143"/>
                </a:cubicBezTo>
                <a:cubicBezTo>
                  <a:pt x="473800" y="439375"/>
                  <a:pt x="466396" y="456044"/>
                  <a:pt x="454453" y="467950"/>
                </a:cubicBezTo>
                <a:cubicBezTo>
                  <a:pt x="442435" y="479893"/>
                  <a:pt x="425878" y="487297"/>
                  <a:pt x="407646" y="487297"/>
                </a:cubicBezTo>
                <a:cubicBezTo>
                  <a:pt x="389414" y="487297"/>
                  <a:pt x="372858" y="479893"/>
                  <a:pt x="360839" y="467950"/>
                </a:cubicBezTo>
                <a:cubicBezTo>
                  <a:pt x="348896" y="455932"/>
                  <a:pt x="341492" y="439375"/>
                  <a:pt x="341492" y="421143"/>
                </a:cubicBezTo>
                <a:cubicBezTo>
                  <a:pt x="341492" y="402911"/>
                  <a:pt x="348896" y="386243"/>
                  <a:pt x="360839" y="374336"/>
                </a:cubicBezTo>
                <a:cubicBezTo>
                  <a:pt x="372857" y="362319"/>
                  <a:pt x="389414" y="354989"/>
                  <a:pt x="407646" y="354989"/>
                </a:cubicBezTo>
                <a:cubicBezTo>
                  <a:pt x="425878" y="354989"/>
                  <a:pt x="442547" y="362393"/>
                  <a:pt x="454453" y="374336"/>
                </a:cubicBezTo>
                <a:close/>
                <a:moveTo>
                  <a:pt x="407646" y="332739"/>
                </a:moveTo>
                <a:cubicBezTo>
                  <a:pt x="432017" y="332739"/>
                  <a:pt x="454155" y="342673"/>
                  <a:pt x="470117" y="358597"/>
                </a:cubicBezTo>
                <a:cubicBezTo>
                  <a:pt x="486153" y="374633"/>
                  <a:pt x="495975" y="396697"/>
                  <a:pt x="495975" y="421068"/>
                </a:cubicBezTo>
                <a:cubicBezTo>
                  <a:pt x="495975" y="445438"/>
                  <a:pt x="486041" y="467576"/>
                  <a:pt x="470117" y="483650"/>
                </a:cubicBezTo>
                <a:cubicBezTo>
                  <a:pt x="454081" y="499686"/>
                  <a:pt x="432017" y="509508"/>
                  <a:pt x="407646" y="509508"/>
                </a:cubicBezTo>
                <a:cubicBezTo>
                  <a:pt x="383276" y="509508"/>
                  <a:pt x="361138" y="499574"/>
                  <a:pt x="345176" y="483650"/>
                </a:cubicBezTo>
                <a:cubicBezTo>
                  <a:pt x="329139" y="467614"/>
                  <a:pt x="319317" y="445550"/>
                  <a:pt x="319317" y="421068"/>
                </a:cubicBezTo>
                <a:cubicBezTo>
                  <a:pt x="319317" y="396586"/>
                  <a:pt x="329252" y="374559"/>
                  <a:pt x="345176" y="358597"/>
                </a:cubicBezTo>
                <a:cubicBezTo>
                  <a:pt x="361212" y="342561"/>
                  <a:pt x="383276" y="332739"/>
                  <a:pt x="407646" y="332739"/>
                </a:cubicBezTo>
                <a:close/>
                <a:moveTo>
                  <a:pt x="758176" y="210104"/>
                </a:moveTo>
                <a:cubicBezTo>
                  <a:pt x="740242" y="202998"/>
                  <a:pt x="715165" y="198571"/>
                  <a:pt x="687185" y="198571"/>
                </a:cubicBezTo>
                <a:cubicBezTo>
                  <a:pt x="659205" y="198571"/>
                  <a:pt x="634128" y="202998"/>
                  <a:pt x="616194" y="210104"/>
                </a:cubicBezTo>
                <a:cubicBezTo>
                  <a:pt x="601349" y="216020"/>
                  <a:pt x="592122" y="223053"/>
                  <a:pt x="592122" y="229750"/>
                </a:cubicBezTo>
                <a:cubicBezTo>
                  <a:pt x="592122" y="236484"/>
                  <a:pt x="601349" y="243479"/>
                  <a:pt x="616194" y="249395"/>
                </a:cubicBezTo>
                <a:cubicBezTo>
                  <a:pt x="634128" y="256501"/>
                  <a:pt x="659205" y="260929"/>
                  <a:pt x="687185" y="260929"/>
                </a:cubicBezTo>
                <a:cubicBezTo>
                  <a:pt x="715165" y="260929"/>
                  <a:pt x="740242" y="256501"/>
                  <a:pt x="758176" y="249395"/>
                </a:cubicBezTo>
                <a:cubicBezTo>
                  <a:pt x="773021" y="243479"/>
                  <a:pt x="782248" y="236447"/>
                  <a:pt x="782248" y="229750"/>
                </a:cubicBezTo>
                <a:cubicBezTo>
                  <a:pt x="782248" y="223015"/>
                  <a:pt x="773021" y="216020"/>
                  <a:pt x="758176" y="210104"/>
                </a:cubicBezTo>
                <a:close/>
                <a:moveTo>
                  <a:pt x="804387" y="229638"/>
                </a:moveTo>
                <a:cubicBezTo>
                  <a:pt x="804387" y="213007"/>
                  <a:pt x="789764" y="198942"/>
                  <a:pt x="766287" y="189641"/>
                </a:cubicBezTo>
                <a:cubicBezTo>
                  <a:pt x="745824" y="181530"/>
                  <a:pt x="717769" y="176395"/>
                  <a:pt x="687185" y="176395"/>
                </a:cubicBezTo>
                <a:cubicBezTo>
                  <a:pt x="656601" y="176395"/>
                  <a:pt x="628547" y="181418"/>
                  <a:pt x="608083" y="189641"/>
                </a:cubicBezTo>
                <a:cubicBezTo>
                  <a:pt x="584605" y="198980"/>
                  <a:pt x="570094" y="213118"/>
                  <a:pt x="569983" y="229638"/>
                </a:cubicBezTo>
                <a:lnTo>
                  <a:pt x="569983" y="253115"/>
                </a:lnTo>
                <a:lnTo>
                  <a:pt x="511531" y="253115"/>
                </a:lnTo>
                <a:cubicBezTo>
                  <a:pt x="500704" y="253115"/>
                  <a:pt x="490769" y="248688"/>
                  <a:pt x="483662" y="241469"/>
                </a:cubicBezTo>
                <a:cubicBezTo>
                  <a:pt x="476556" y="234251"/>
                  <a:pt x="472016" y="224428"/>
                  <a:pt x="472016" y="213601"/>
                </a:cubicBezTo>
                <a:cubicBezTo>
                  <a:pt x="472016" y="202774"/>
                  <a:pt x="476444" y="192839"/>
                  <a:pt x="483662" y="185733"/>
                </a:cubicBezTo>
                <a:cubicBezTo>
                  <a:pt x="490881" y="178626"/>
                  <a:pt x="500704" y="174086"/>
                  <a:pt x="511531" y="174086"/>
                </a:cubicBezTo>
                <a:lnTo>
                  <a:pt x="516256" y="174086"/>
                </a:lnTo>
                <a:cubicBezTo>
                  <a:pt x="522358" y="174086"/>
                  <a:pt x="527381" y="169064"/>
                  <a:pt x="527381" y="162961"/>
                </a:cubicBezTo>
                <a:cubicBezTo>
                  <a:pt x="527381" y="161771"/>
                  <a:pt x="527195" y="160654"/>
                  <a:pt x="526897" y="159538"/>
                </a:cubicBezTo>
                <a:cubicBezTo>
                  <a:pt x="526190" y="156822"/>
                  <a:pt x="525707" y="154106"/>
                  <a:pt x="525297" y="151427"/>
                </a:cubicBezTo>
                <a:cubicBezTo>
                  <a:pt x="524888" y="148711"/>
                  <a:pt x="524814" y="145697"/>
                  <a:pt x="524814" y="142497"/>
                </a:cubicBezTo>
                <a:cubicBezTo>
                  <a:pt x="524814" y="123931"/>
                  <a:pt x="532330" y="107114"/>
                  <a:pt x="544459" y="94984"/>
                </a:cubicBezTo>
                <a:cubicBezTo>
                  <a:pt x="556588" y="82855"/>
                  <a:pt x="573444" y="75339"/>
                  <a:pt x="591973" y="75339"/>
                </a:cubicBezTo>
                <a:cubicBezTo>
                  <a:pt x="610539" y="75339"/>
                  <a:pt x="627356" y="82854"/>
                  <a:pt x="639486" y="94984"/>
                </a:cubicBezTo>
                <a:cubicBezTo>
                  <a:pt x="651615" y="107113"/>
                  <a:pt x="659132" y="123968"/>
                  <a:pt x="659132" y="142497"/>
                </a:cubicBezTo>
                <a:cubicBezTo>
                  <a:pt x="659132" y="148599"/>
                  <a:pt x="664154" y="153623"/>
                  <a:pt x="670257" y="153623"/>
                </a:cubicBezTo>
                <a:cubicBezTo>
                  <a:pt x="676359" y="153623"/>
                  <a:pt x="681382" y="148600"/>
                  <a:pt x="681382" y="142497"/>
                </a:cubicBezTo>
                <a:cubicBezTo>
                  <a:pt x="681382" y="117830"/>
                  <a:pt x="671373" y="95468"/>
                  <a:pt x="655225" y="79246"/>
                </a:cubicBezTo>
                <a:cubicBezTo>
                  <a:pt x="647412" y="71432"/>
                  <a:pt x="638184" y="64995"/>
                  <a:pt x="627841" y="60493"/>
                </a:cubicBezTo>
                <a:cubicBezTo>
                  <a:pt x="632455" y="45052"/>
                  <a:pt x="641459" y="31621"/>
                  <a:pt x="653402" y="21499"/>
                </a:cubicBezTo>
                <a:cubicBezTo>
                  <a:pt x="667430" y="9779"/>
                  <a:pt x="685475" y="2635"/>
                  <a:pt x="705343" y="2635"/>
                </a:cubicBezTo>
                <a:cubicBezTo>
                  <a:pt x="727705" y="2635"/>
                  <a:pt x="747870" y="11676"/>
                  <a:pt x="762493" y="26299"/>
                </a:cubicBezTo>
                <a:cubicBezTo>
                  <a:pt x="777116" y="40922"/>
                  <a:pt x="786157" y="61087"/>
                  <a:pt x="786157" y="83449"/>
                </a:cubicBezTo>
                <a:cubicBezTo>
                  <a:pt x="786157" y="90556"/>
                  <a:pt x="785264" y="97401"/>
                  <a:pt x="783664" y="103801"/>
                </a:cubicBezTo>
                <a:cubicBezTo>
                  <a:pt x="781952" y="110536"/>
                  <a:pt x="779348" y="116824"/>
                  <a:pt x="776037" y="122740"/>
                </a:cubicBezTo>
                <a:cubicBezTo>
                  <a:pt x="773023" y="128060"/>
                  <a:pt x="775032" y="134757"/>
                  <a:pt x="780353" y="137771"/>
                </a:cubicBezTo>
                <a:cubicBezTo>
                  <a:pt x="785673" y="140785"/>
                  <a:pt x="792370" y="138776"/>
                  <a:pt x="795384" y="133455"/>
                </a:cubicBezTo>
                <a:cubicBezTo>
                  <a:pt x="799588" y="125939"/>
                  <a:pt x="802788" y="117828"/>
                  <a:pt x="805020" y="109307"/>
                </a:cubicBezTo>
                <a:cubicBezTo>
                  <a:pt x="806025" y="105289"/>
                  <a:pt x="806844" y="101271"/>
                  <a:pt x="807439" y="97178"/>
                </a:cubicBezTo>
                <a:cubicBezTo>
                  <a:pt x="819382" y="97885"/>
                  <a:pt x="830098" y="102982"/>
                  <a:pt x="837911" y="110908"/>
                </a:cubicBezTo>
                <a:cubicBezTo>
                  <a:pt x="846432" y="119428"/>
                  <a:pt x="851752" y="131260"/>
                  <a:pt x="851752" y="144282"/>
                </a:cubicBezTo>
                <a:cubicBezTo>
                  <a:pt x="851752" y="146589"/>
                  <a:pt x="851640" y="148598"/>
                  <a:pt x="851454" y="150384"/>
                </a:cubicBezTo>
                <a:cubicBezTo>
                  <a:pt x="851268" y="152282"/>
                  <a:pt x="850859" y="154291"/>
                  <a:pt x="850264" y="156300"/>
                </a:cubicBezTo>
                <a:lnTo>
                  <a:pt x="850264" y="156784"/>
                </a:lnTo>
                <a:lnTo>
                  <a:pt x="849966" y="157602"/>
                </a:lnTo>
                <a:cubicBezTo>
                  <a:pt x="849668" y="158607"/>
                  <a:pt x="849966" y="157714"/>
                  <a:pt x="849371" y="159611"/>
                </a:cubicBezTo>
                <a:cubicBezTo>
                  <a:pt x="847548" y="165416"/>
                  <a:pt x="850859" y="171629"/>
                  <a:pt x="856775" y="173452"/>
                </a:cubicBezTo>
                <a:cubicBezTo>
                  <a:pt x="857891" y="173750"/>
                  <a:pt x="858896" y="173936"/>
                  <a:pt x="859975" y="173936"/>
                </a:cubicBezTo>
                <a:lnTo>
                  <a:pt x="863100" y="173936"/>
                </a:lnTo>
                <a:cubicBezTo>
                  <a:pt x="873927" y="173936"/>
                  <a:pt x="883862" y="178363"/>
                  <a:pt x="890968" y="185582"/>
                </a:cubicBezTo>
                <a:cubicBezTo>
                  <a:pt x="898075" y="192689"/>
                  <a:pt x="902615" y="202623"/>
                  <a:pt x="902615" y="213450"/>
                </a:cubicBezTo>
                <a:cubicBezTo>
                  <a:pt x="902615" y="224277"/>
                  <a:pt x="898187" y="234212"/>
                  <a:pt x="890968" y="241319"/>
                </a:cubicBezTo>
                <a:cubicBezTo>
                  <a:pt x="883862" y="248425"/>
                  <a:pt x="873927" y="252965"/>
                  <a:pt x="863100" y="252965"/>
                </a:cubicBezTo>
                <a:lnTo>
                  <a:pt x="804648" y="252965"/>
                </a:lnTo>
                <a:lnTo>
                  <a:pt x="804648" y="229599"/>
                </a:lnTo>
                <a:lnTo>
                  <a:pt x="804648" y="229487"/>
                </a:lnTo>
                <a:close/>
                <a:moveTo>
                  <a:pt x="592046" y="371399"/>
                </a:moveTo>
                <a:lnTo>
                  <a:pt x="592046" y="393761"/>
                </a:lnTo>
                <a:cubicBezTo>
                  <a:pt x="592046" y="401388"/>
                  <a:pt x="601088" y="407490"/>
                  <a:pt x="613218" y="412401"/>
                </a:cubicBezTo>
                <a:cubicBezTo>
                  <a:pt x="637998" y="422336"/>
                  <a:pt x="673567" y="425051"/>
                  <a:pt x="687111" y="425051"/>
                </a:cubicBezTo>
                <a:cubicBezTo>
                  <a:pt x="700654" y="425051"/>
                  <a:pt x="736336" y="422261"/>
                  <a:pt x="761004" y="412401"/>
                </a:cubicBezTo>
                <a:cubicBezTo>
                  <a:pt x="773133" y="407601"/>
                  <a:pt x="782175" y="401388"/>
                  <a:pt x="782175" y="393761"/>
                </a:cubicBezTo>
                <a:lnTo>
                  <a:pt x="782175" y="371399"/>
                </a:lnTo>
                <a:cubicBezTo>
                  <a:pt x="777450" y="374301"/>
                  <a:pt x="772166" y="376905"/>
                  <a:pt x="766250" y="379324"/>
                </a:cubicBezTo>
                <a:cubicBezTo>
                  <a:pt x="745787" y="387435"/>
                  <a:pt x="717732" y="392569"/>
                  <a:pt x="687148" y="392569"/>
                </a:cubicBezTo>
                <a:cubicBezTo>
                  <a:pt x="656564" y="392569"/>
                  <a:pt x="628510" y="387546"/>
                  <a:pt x="608046" y="379324"/>
                </a:cubicBezTo>
                <a:cubicBezTo>
                  <a:pt x="602130" y="377017"/>
                  <a:pt x="596809" y="374301"/>
                  <a:pt x="592121" y="371399"/>
                </a:cubicBezTo>
                <a:close/>
                <a:moveTo>
                  <a:pt x="592046" y="284483"/>
                </a:moveTo>
                <a:cubicBezTo>
                  <a:pt x="592046" y="291218"/>
                  <a:pt x="601274" y="298212"/>
                  <a:pt x="616119" y="304128"/>
                </a:cubicBezTo>
                <a:cubicBezTo>
                  <a:pt x="634053" y="311235"/>
                  <a:pt x="659130" y="315662"/>
                  <a:pt x="687110" y="315662"/>
                </a:cubicBezTo>
                <a:cubicBezTo>
                  <a:pt x="715089" y="315662"/>
                  <a:pt x="740167" y="311235"/>
                  <a:pt x="758100" y="304128"/>
                </a:cubicBezTo>
                <a:cubicBezTo>
                  <a:pt x="772946" y="298213"/>
                  <a:pt x="782173" y="291180"/>
                  <a:pt x="782173" y="284483"/>
                </a:cubicBezTo>
                <a:lnTo>
                  <a:pt x="782173" y="262121"/>
                </a:lnTo>
                <a:cubicBezTo>
                  <a:pt x="777448" y="265023"/>
                  <a:pt x="772164" y="267740"/>
                  <a:pt x="766248" y="270046"/>
                </a:cubicBezTo>
                <a:cubicBezTo>
                  <a:pt x="745785" y="278157"/>
                  <a:pt x="717730" y="283292"/>
                  <a:pt x="687146" y="283292"/>
                </a:cubicBezTo>
                <a:cubicBezTo>
                  <a:pt x="656562" y="283292"/>
                  <a:pt x="628508" y="278269"/>
                  <a:pt x="608044" y="270046"/>
                </a:cubicBezTo>
                <a:cubicBezTo>
                  <a:pt x="602128" y="267740"/>
                  <a:pt x="596807" y="265023"/>
                  <a:pt x="592119" y="262121"/>
                </a:cubicBezTo>
                <a:lnTo>
                  <a:pt x="592119" y="284371"/>
                </a:lnTo>
                <a:close/>
                <a:moveTo>
                  <a:pt x="782137" y="316779"/>
                </a:moveTo>
                <a:cubicBezTo>
                  <a:pt x="777412" y="319681"/>
                  <a:pt x="772128" y="322397"/>
                  <a:pt x="766212" y="324704"/>
                </a:cubicBezTo>
                <a:cubicBezTo>
                  <a:pt x="745748" y="332815"/>
                  <a:pt x="717694" y="337949"/>
                  <a:pt x="687110" y="337949"/>
                </a:cubicBezTo>
                <a:cubicBezTo>
                  <a:pt x="656526" y="337949"/>
                  <a:pt x="628472" y="332926"/>
                  <a:pt x="608007" y="324704"/>
                </a:cubicBezTo>
                <a:cubicBezTo>
                  <a:pt x="602092" y="322397"/>
                  <a:pt x="596771" y="319681"/>
                  <a:pt x="592083" y="316779"/>
                </a:cubicBezTo>
                <a:lnTo>
                  <a:pt x="592083" y="339028"/>
                </a:lnTo>
                <a:cubicBezTo>
                  <a:pt x="592083" y="345837"/>
                  <a:pt x="601310" y="352869"/>
                  <a:pt x="616155" y="358785"/>
                </a:cubicBezTo>
                <a:cubicBezTo>
                  <a:pt x="634089" y="365891"/>
                  <a:pt x="659166" y="370319"/>
                  <a:pt x="687146" y="370319"/>
                </a:cubicBezTo>
                <a:cubicBezTo>
                  <a:pt x="715126" y="370319"/>
                  <a:pt x="740203" y="365891"/>
                  <a:pt x="758137" y="358785"/>
                </a:cubicBezTo>
                <a:cubicBezTo>
                  <a:pt x="772982" y="352869"/>
                  <a:pt x="782209" y="345837"/>
                  <a:pt x="782209" y="339139"/>
                </a:cubicBezTo>
                <a:lnTo>
                  <a:pt x="782209" y="316666"/>
                </a:lnTo>
                <a:close/>
                <a:moveTo>
                  <a:pt x="430198" y="829719"/>
                </a:moveTo>
                <a:cubicBezTo>
                  <a:pt x="434402" y="834221"/>
                  <a:pt x="434104" y="841253"/>
                  <a:pt x="429602" y="845346"/>
                </a:cubicBezTo>
                <a:cubicBezTo>
                  <a:pt x="425100" y="849550"/>
                  <a:pt x="418180" y="849252"/>
                  <a:pt x="413976" y="844750"/>
                </a:cubicBezTo>
                <a:lnTo>
                  <a:pt x="373754" y="801628"/>
                </a:lnTo>
                <a:cubicBezTo>
                  <a:pt x="369550" y="797126"/>
                  <a:pt x="369848" y="790205"/>
                  <a:pt x="374350" y="786001"/>
                </a:cubicBezTo>
                <a:cubicBezTo>
                  <a:pt x="375243" y="785183"/>
                  <a:pt x="376247" y="784513"/>
                  <a:pt x="377363" y="783992"/>
                </a:cubicBezTo>
                <a:lnTo>
                  <a:pt x="430086" y="758319"/>
                </a:lnTo>
                <a:cubicBezTo>
                  <a:pt x="435593" y="755715"/>
                  <a:pt x="442215" y="758021"/>
                  <a:pt x="444820" y="763417"/>
                </a:cubicBezTo>
                <a:cubicBezTo>
                  <a:pt x="447537" y="768923"/>
                  <a:pt x="445118" y="775546"/>
                  <a:pt x="439723" y="778151"/>
                </a:cubicBezTo>
                <a:lnTo>
                  <a:pt x="419668" y="787862"/>
                </a:lnTo>
                <a:cubicBezTo>
                  <a:pt x="429789" y="788680"/>
                  <a:pt x="440206" y="789164"/>
                  <a:pt x="451034" y="789164"/>
                </a:cubicBezTo>
                <a:cubicBezTo>
                  <a:pt x="543159" y="789164"/>
                  <a:pt x="627285" y="755268"/>
                  <a:pt x="691759" y="699420"/>
                </a:cubicBezTo>
                <a:cubicBezTo>
                  <a:pt x="757132" y="642754"/>
                  <a:pt x="802268" y="563356"/>
                  <a:pt x="814994" y="473611"/>
                </a:cubicBezTo>
                <a:cubicBezTo>
                  <a:pt x="815812" y="467583"/>
                  <a:pt x="821393" y="463268"/>
                  <a:pt x="827421" y="464198"/>
                </a:cubicBezTo>
                <a:cubicBezTo>
                  <a:pt x="833449" y="465016"/>
                  <a:pt x="837764" y="470597"/>
                  <a:pt x="836834" y="476625"/>
                </a:cubicBezTo>
                <a:cubicBezTo>
                  <a:pt x="823402" y="571875"/>
                  <a:pt x="775480" y="656000"/>
                  <a:pt x="706199" y="716160"/>
                </a:cubicBezTo>
                <a:cubicBezTo>
                  <a:pt x="637812" y="775505"/>
                  <a:pt x="548589" y="811410"/>
                  <a:pt x="451034" y="811410"/>
                </a:cubicBezTo>
                <a:cubicBezTo>
                  <a:pt x="439313" y="811410"/>
                  <a:pt x="427370" y="810814"/>
                  <a:pt x="415241" y="809698"/>
                </a:cubicBezTo>
                <a:cubicBezTo>
                  <a:pt x="413939" y="809586"/>
                  <a:pt x="412636" y="809512"/>
                  <a:pt x="411334" y="809289"/>
                </a:cubicBezTo>
                <a:lnTo>
                  <a:pt x="430198" y="829529"/>
                </a:lnTo>
                <a:close/>
                <a:moveTo>
                  <a:pt x="85107" y="388483"/>
                </a:moveTo>
                <a:cubicBezTo>
                  <a:pt x="84623" y="394585"/>
                  <a:pt x="79191" y="399124"/>
                  <a:pt x="73163" y="398492"/>
                </a:cubicBezTo>
                <a:cubicBezTo>
                  <a:pt x="67061" y="398008"/>
                  <a:pt x="62522" y="392576"/>
                  <a:pt x="63155" y="386548"/>
                </a:cubicBezTo>
                <a:cubicBezTo>
                  <a:pt x="71973" y="286688"/>
                  <a:pt x="118593" y="197534"/>
                  <a:pt x="188465" y="133688"/>
                </a:cubicBezTo>
                <a:cubicBezTo>
                  <a:pt x="257857" y="70325"/>
                  <a:pt x="350095" y="31628"/>
                  <a:pt x="451375" y="31628"/>
                </a:cubicBezTo>
                <a:cubicBezTo>
                  <a:pt x="455281" y="31628"/>
                  <a:pt x="459188" y="31628"/>
                  <a:pt x="463095" y="31814"/>
                </a:cubicBezTo>
                <a:lnTo>
                  <a:pt x="447059" y="19982"/>
                </a:lnTo>
                <a:cubicBezTo>
                  <a:pt x="442147" y="16373"/>
                  <a:pt x="441031" y="9452"/>
                  <a:pt x="444640" y="4541"/>
                </a:cubicBezTo>
                <a:cubicBezTo>
                  <a:pt x="448249" y="-370"/>
                  <a:pt x="455170" y="-1487"/>
                  <a:pt x="460081" y="2122"/>
                </a:cubicBezTo>
                <a:lnTo>
                  <a:pt x="507595" y="37023"/>
                </a:lnTo>
                <a:cubicBezTo>
                  <a:pt x="508488" y="37618"/>
                  <a:pt x="509306" y="38437"/>
                  <a:pt x="509902" y="39330"/>
                </a:cubicBezTo>
                <a:cubicBezTo>
                  <a:pt x="513511" y="44241"/>
                  <a:pt x="512506" y="51162"/>
                  <a:pt x="507595" y="54771"/>
                </a:cubicBezTo>
                <a:lnTo>
                  <a:pt x="460267" y="89968"/>
                </a:lnTo>
                <a:cubicBezTo>
                  <a:pt x="455356" y="93578"/>
                  <a:pt x="448435" y="92573"/>
                  <a:pt x="444826" y="87662"/>
                </a:cubicBezTo>
                <a:cubicBezTo>
                  <a:pt x="441217" y="82750"/>
                  <a:pt x="442221" y="75830"/>
                  <a:pt x="447133" y="72221"/>
                </a:cubicBezTo>
                <a:lnTo>
                  <a:pt x="471205" y="54287"/>
                </a:lnTo>
                <a:cubicBezTo>
                  <a:pt x="464694" y="53989"/>
                  <a:pt x="458071" y="53803"/>
                  <a:pt x="451262" y="53803"/>
                </a:cubicBezTo>
                <a:cubicBezTo>
                  <a:pt x="355717" y="53803"/>
                  <a:pt x="268687" y="90192"/>
                  <a:pt x="203317" y="149949"/>
                </a:cubicBezTo>
                <a:cubicBezTo>
                  <a:pt x="137348" y="210224"/>
                  <a:pt x="93446" y="294233"/>
                  <a:pt x="85111" y="388369"/>
                </a:cubicBezTo>
                <a:close/>
              </a:path>
            </a:pathLst>
          </a:custGeom>
          <a:solidFill>
            <a:srgbClr val="000000"/>
          </a:solidFill>
          <a:ln w="9525" cap="flat">
            <a:noFill/>
            <a:prstDash val="solid"/>
            <a:miter/>
          </a:ln>
        </p:spPr>
        <p:txBody>
          <a:bodyPr rtlCol="0" anchor="ctr"/>
          <a:lstStyle/>
          <a:p>
            <a:endParaRPr lang="en-US"/>
          </a:p>
        </p:txBody>
      </p:sp>
      <p:grpSp>
        <p:nvGrpSpPr>
          <p:cNvPr id="102" name="Graphic 99">
            <a:extLst>
              <a:ext uri="{FF2B5EF4-FFF2-40B4-BE49-F238E27FC236}">
                <a16:creationId xmlns:a16="http://schemas.microsoft.com/office/drawing/2014/main" id="{D9D54591-7D8D-4194-B16F-A1E8E5EA48F8}"/>
              </a:ext>
            </a:extLst>
          </p:cNvPr>
          <p:cNvGrpSpPr/>
          <p:nvPr/>
        </p:nvGrpSpPr>
        <p:grpSpPr>
          <a:xfrm>
            <a:off x="10132998" y="2202363"/>
            <a:ext cx="553716" cy="835467"/>
            <a:chOff x="10390744" y="1505636"/>
            <a:chExt cx="318135" cy="609600"/>
          </a:xfrm>
          <a:solidFill>
            <a:srgbClr val="000000"/>
          </a:solidFill>
        </p:grpSpPr>
        <p:sp>
          <p:nvSpPr>
            <p:cNvPr id="103" name="Freeform: Shape 102">
              <a:extLst>
                <a:ext uri="{FF2B5EF4-FFF2-40B4-BE49-F238E27FC236}">
                  <a16:creationId xmlns:a16="http://schemas.microsoft.com/office/drawing/2014/main" id="{74DCE492-FB10-78AC-4B4D-C859AF7462F9}"/>
                </a:ext>
              </a:extLst>
            </p:cNvPr>
            <p:cNvSpPr/>
            <p:nvPr/>
          </p:nvSpPr>
          <p:spPr>
            <a:xfrm>
              <a:off x="10390744" y="1744237"/>
              <a:ext cx="318135" cy="46386"/>
            </a:xfrm>
            <a:custGeom>
              <a:avLst/>
              <a:gdLst>
                <a:gd name="connsiteX0" fmla="*/ 294894 w 318135"/>
                <a:gd name="connsiteY0" fmla="*/ 0 h 46386"/>
                <a:gd name="connsiteX1" fmla="*/ 23146 w 318135"/>
                <a:gd name="connsiteY1" fmla="*/ 0 h 46386"/>
                <a:gd name="connsiteX2" fmla="*/ 0 w 318135"/>
                <a:gd name="connsiteY2" fmla="*/ 23146 h 46386"/>
                <a:gd name="connsiteX3" fmla="*/ 23146 w 318135"/>
                <a:gd name="connsiteY3" fmla="*/ 46387 h 46386"/>
                <a:gd name="connsiteX4" fmla="*/ 294894 w 318135"/>
                <a:gd name="connsiteY4" fmla="*/ 46387 h 46386"/>
                <a:gd name="connsiteX5" fmla="*/ 318135 w 318135"/>
                <a:gd name="connsiteY5" fmla="*/ 23146 h 46386"/>
                <a:gd name="connsiteX6" fmla="*/ 294894 w 318135"/>
                <a:gd name="connsiteY6" fmla="*/ 0 h 4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8135" h="46386">
                  <a:moveTo>
                    <a:pt x="294894" y="0"/>
                  </a:moveTo>
                  <a:lnTo>
                    <a:pt x="23146" y="0"/>
                  </a:lnTo>
                  <a:cubicBezTo>
                    <a:pt x="10382" y="0"/>
                    <a:pt x="0" y="10382"/>
                    <a:pt x="0" y="23146"/>
                  </a:cubicBezTo>
                  <a:cubicBezTo>
                    <a:pt x="0" y="36005"/>
                    <a:pt x="10382" y="46387"/>
                    <a:pt x="23146" y="46387"/>
                  </a:cubicBezTo>
                  <a:lnTo>
                    <a:pt x="294894" y="46387"/>
                  </a:lnTo>
                  <a:cubicBezTo>
                    <a:pt x="307753" y="46387"/>
                    <a:pt x="318135" y="35909"/>
                    <a:pt x="318135" y="23146"/>
                  </a:cubicBezTo>
                  <a:cubicBezTo>
                    <a:pt x="318230" y="10382"/>
                    <a:pt x="307753" y="0"/>
                    <a:pt x="294894" y="0"/>
                  </a:cubicBezTo>
                  <a:close/>
                </a:path>
              </a:pathLst>
            </a:custGeom>
            <a:solidFill>
              <a:srgbClr val="000000"/>
            </a:solid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021318F-ABF9-E1F5-D308-3DE08EF87AA3}"/>
                </a:ext>
              </a:extLst>
            </p:cNvPr>
            <p:cNvSpPr/>
            <p:nvPr/>
          </p:nvSpPr>
          <p:spPr>
            <a:xfrm>
              <a:off x="10411699" y="1803673"/>
              <a:ext cx="284226" cy="311562"/>
            </a:xfrm>
            <a:custGeom>
              <a:avLst/>
              <a:gdLst>
                <a:gd name="connsiteX0" fmla="*/ 0 w 284226"/>
                <a:gd name="connsiteY0" fmla="*/ 0 h 311562"/>
                <a:gd name="connsiteX1" fmla="*/ 112776 w 284226"/>
                <a:gd name="connsiteY1" fmla="*/ 148399 h 311562"/>
                <a:gd name="connsiteX2" fmla="*/ 112776 w 284226"/>
                <a:gd name="connsiteY2" fmla="*/ 311563 h 311562"/>
                <a:gd name="connsiteX3" fmla="*/ 171736 w 284226"/>
                <a:gd name="connsiteY3" fmla="*/ 262128 h 311562"/>
                <a:gd name="connsiteX4" fmla="*/ 171736 w 284226"/>
                <a:gd name="connsiteY4" fmla="*/ 147161 h 311562"/>
                <a:gd name="connsiteX5" fmla="*/ 284226 w 284226"/>
                <a:gd name="connsiteY5" fmla="*/ 0 h 311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226" h="311562">
                  <a:moveTo>
                    <a:pt x="0" y="0"/>
                  </a:moveTo>
                  <a:lnTo>
                    <a:pt x="112776" y="148399"/>
                  </a:lnTo>
                  <a:lnTo>
                    <a:pt x="112776" y="311563"/>
                  </a:lnTo>
                  <a:lnTo>
                    <a:pt x="171736" y="262128"/>
                  </a:lnTo>
                  <a:lnTo>
                    <a:pt x="171736" y="147161"/>
                  </a:lnTo>
                  <a:lnTo>
                    <a:pt x="284226" y="0"/>
                  </a:lnTo>
                  <a:close/>
                </a:path>
              </a:pathLst>
            </a:custGeom>
            <a:solidFill>
              <a:srgbClr val="000000"/>
            </a:solid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55107267-6972-AEDB-D95F-8C76D5651C18}"/>
                </a:ext>
              </a:extLst>
            </p:cNvPr>
            <p:cNvSpPr/>
            <p:nvPr/>
          </p:nvSpPr>
          <p:spPr>
            <a:xfrm>
              <a:off x="10436369" y="1505636"/>
              <a:ext cx="220027" cy="220027"/>
            </a:xfrm>
            <a:custGeom>
              <a:avLst/>
              <a:gdLst>
                <a:gd name="connsiteX0" fmla="*/ 220027 w 220027"/>
                <a:gd name="connsiteY0" fmla="*/ 136398 h 220027"/>
                <a:gd name="connsiteX1" fmla="*/ 220027 w 220027"/>
                <a:gd name="connsiteY1" fmla="*/ 83630 h 220027"/>
                <a:gd name="connsiteX2" fmla="*/ 197453 w 220027"/>
                <a:gd name="connsiteY2" fmla="*/ 83630 h 220027"/>
                <a:gd name="connsiteX3" fmla="*/ 190500 w 220027"/>
                <a:gd name="connsiteY3" fmla="*/ 66866 h 220027"/>
                <a:gd name="connsiteX4" fmla="*/ 206597 w 220027"/>
                <a:gd name="connsiteY4" fmla="*/ 50959 h 220027"/>
                <a:gd name="connsiteX5" fmla="*/ 168974 w 220027"/>
                <a:gd name="connsiteY5" fmla="*/ 13621 h 220027"/>
                <a:gd name="connsiteX6" fmla="*/ 153162 w 220027"/>
                <a:gd name="connsiteY6" fmla="*/ 29528 h 220027"/>
                <a:gd name="connsiteX7" fmla="*/ 136493 w 220027"/>
                <a:gd name="connsiteY7" fmla="*/ 22574 h 220027"/>
                <a:gd name="connsiteX8" fmla="*/ 136493 w 220027"/>
                <a:gd name="connsiteY8" fmla="*/ 0 h 220027"/>
                <a:gd name="connsiteX9" fmla="*/ 83630 w 220027"/>
                <a:gd name="connsiteY9" fmla="*/ 0 h 220027"/>
                <a:gd name="connsiteX10" fmla="*/ 83630 w 220027"/>
                <a:gd name="connsiteY10" fmla="*/ 22574 h 220027"/>
                <a:gd name="connsiteX11" fmla="*/ 66866 w 220027"/>
                <a:gd name="connsiteY11" fmla="*/ 29528 h 220027"/>
                <a:gd name="connsiteX12" fmla="*/ 50959 w 220027"/>
                <a:gd name="connsiteY12" fmla="*/ 13621 h 220027"/>
                <a:gd name="connsiteX13" fmla="*/ 13335 w 220027"/>
                <a:gd name="connsiteY13" fmla="*/ 50959 h 220027"/>
                <a:gd name="connsiteX14" fmla="*/ 29528 w 220027"/>
                <a:gd name="connsiteY14" fmla="*/ 66961 h 220027"/>
                <a:gd name="connsiteX15" fmla="*/ 22574 w 220027"/>
                <a:gd name="connsiteY15" fmla="*/ 83630 h 220027"/>
                <a:gd name="connsiteX16" fmla="*/ 0 w 220027"/>
                <a:gd name="connsiteY16" fmla="*/ 83630 h 220027"/>
                <a:gd name="connsiteX17" fmla="*/ 0 w 220027"/>
                <a:gd name="connsiteY17" fmla="*/ 136493 h 220027"/>
                <a:gd name="connsiteX18" fmla="*/ 22574 w 220027"/>
                <a:gd name="connsiteY18" fmla="*/ 136493 h 220027"/>
                <a:gd name="connsiteX19" fmla="*/ 29528 w 220027"/>
                <a:gd name="connsiteY19" fmla="*/ 153162 h 220027"/>
                <a:gd name="connsiteX20" fmla="*/ 13430 w 220027"/>
                <a:gd name="connsiteY20" fmla="*/ 169069 h 220027"/>
                <a:gd name="connsiteX21" fmla="*/ 50959 w 220027"/>
                <a:gd name="connsiteY21" fmla="*/ 206597 h 220027"/>
                <a:gd name="connsiteX22" fmla="*/ 66866 w 220027"/>
                <a:gd name="connsiteY22" fmla="*/ 190500 h 220027"/>
                <a:gd name="connsiteX23" fmla="*/ 83630 w 220027"/>
                <a:gd name="connsiteY23" fmla="*/ 197453 h 220027"/>
                <a:gd name="connsiteX24" fmla="*/ 83630 w 220027"/>
                <a:gd name="connsiteY24" fmla="*/ 220028 h 220027"/>
                <a:gd name="connsiteX25" fmla="*/ 136493 w 220027"/>
                <a:gd name="connsiteY25" fmla="*/ 220028 h 220027"/>
                <a:gd name="connsiteX26" fmla="*/ 136493 w 220027"/>
                <a:gd name="connsiteY26" fmla="*/ 197453 h 220027"/>
                <a:gd name="connsiteX27" fmla="*/ 153162 w 220027"/>
                <a:gd name="connsiteY27" fmla="*/ 190500 h 220027"/>
                <a:gd name="connsiteX28" fmla="*/ 169069 w 220027"/>
                <a:gd name="connsiteY28" fmla="*/ 206597 h 220027"/>
                <a:gd name="connsiteX29" fmla="*/ 206597 w 220027"/>
                <a:gd name="connsiteY29" fmla="*/ 169069 h 220027"/>
                <a:gd name="connsiteX30" fmla="*/ 190500 w 220027"/>
                <a:gd name="connsiteY30" fmla="*/ 153162 h 220027"/>
                <a:gd name="connsiteX31" fmla="*/ 197453 w 220027"/>
                <a:gd name="connsiteY31" fmla="*/ 136493 h 220027"/>
                <a:gd name="connsiteX32" fmla="*/ 220027 w 220027"/>
                <a:gd name="connsiteY32" fmla="*/ 136493 h 220027"/>
                <a:gd name="connsiteX33" fmla="*/ 141446 w 220027"/>
                <a:gd name="connsiteY33" fmla="*/ 110014 h 220027"/>
                <a:gd name="connsiteX34" fmla="*/ 110014 w 220027"/>
                <a:gd name="connsiteY34" fmla="*/ 141446 h 220027"/>
                <a:gd name="connsiteX35" fmla="*/ 78581 w 220027"/>
                <a:gd name="connsiteY35" fmla="*/ 110014 h 220027"/>
                <a:gd name="connsiteX36" fmla="*/ 110014 w 220027"/>
                <a:gd name="connsiteY36" fmla="*/ 78581 h 220027"/>
                <a:gd name="connsiteX37" fmla="*/ 141446 w 220027"/>
                <a:gd name="connsiteY37" fmla="*/ 110014 h 22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20027" h="220027">
                  <a:moveTo>
                    <a:pt x="220027" y="136398"/>
                  </a:moveTo>
                  <a:lnTo>
                    <a:pt x="220027" y="83630"/>
                  </a:lnTo>
                  <a:lnTo>
                    <a:pt x="197453" y="83630"/>
                  </a:lnTo>
                  <a:cubicBezTo>
                    <a:pt x="195739" y="77819"/>
                    <a:pt x="193358" y="72200"/>
                    <a:pt x="190500" y="66866"/>
                  </a:cubicBezTo>
                  <a:lnTo>
                    <a:pt x="206597" y="50959"/>
                  </a:lnTo>
                  <a:lnTo>
                    <a:pt x="168974" y="13621"/>
                  </a:lnTo>
                  <a:lnTo>
                    <a:pt x="153162" y="29528"/>
                  </a:lnTo>
                  <a:cubicBezTo>
                    <a:pt x="147733" y="26575"/>
                    <a:pt x="142113" y="24289"/>
                    <a:pt x="136493" y="22574"/>
                  </a:cubicBezTo>
                  <a:lnTo>
                    <a:pt x="136493" y="0"/>
                  </a:lnTo>
                  <a:lnTo>
                    <a:pt x="83630" y="0"/>
                  </a:lnTo>
                  <a:lnTo>
                    <a:pt x="83630" y="22574"/>
                  </a:lnTo>
                  <a:cubicBezTo>
                    <a:pt x="77915" y="24289"/>
                    <a:pt x="72295" y="26670"/>
                    <a:pt x="66866" y="29528"/>
                  </a:cubicBezTo>
                  <a:lnTo>
                    <a:pt x="50959" y="13621"/>
                  </a:lnTo>
                  <a:lnTo>
                    <a:pt x="13335" y="50959"/>
                  </a:lnTo>
                  <a:lnTo>
                    <a:pt x="29528" y="66961"/>
                  </a:lnTo>
                  <a:cubicBezTo>
                    <a:pt x="26575" y="72390"/>
                    <a:pt x="24289" y="78010"/>
                    <a:pt x="22574" y="83630"/>
                  </a:cubicBezTo>
                  <a:lnTo>
                    <a:pt x="0" y="83630"/>
                  </a:lnTo>
                  <a:lnTo>
                    <a:pt x="0" y="136493"/>
                  </a:lnTo>
                  <a:lnTo>
                    <a:pt x="22574" y="136493"/>
                  </a:lnTo>
                  <a:cubicBezTo>
                    <a:pt x="24289" y="142113"/>
                    <a:pt x="26575" y="147733"/>
                    <a:pt x="29528" y="153162"/>
                  </a:cubicBezTo>
                  <a:lnTo>
                    <a:pt x="13430" y="169069"/>
                  </a:lnTo>
                  <a:lnTo>
                    <a:pt x="50959" y="206597"/>
                  </a:lnTo>
                  <a:lnTo>
                    <a:pt x="66866" y="190500"/>
                  </a:lnTo>
                  <a:cubicBezTo>
                    <a:pt x="72295" y="193358"/>
                    <a:pt x="77819" y="195739"/>
                    <a:pt x="83630" y="197453"/>
                  </a:cubicBezTo>
                  <a:lnTo>
                    <a:pt x="83630" y="220028"/>
                  </a:lnTo>
                  <a:lnTo>
                    <a:pt x="136493" y="220028"/>
                  </a:lnTo>
                  <a:lnTo>
                    <a:pt x="136493" y="197453"/>
                  </a:lnTo>
                  <a:cubicBezTo>
                    <a:pt x="142303" y="195739"/>
                    <a:pt x="147828" y="193453"/>
                    <a:pt x="153162" y="190500"/>
                  </a:cubicBezTo>
                  <a:lnTo>
                    <a:pt x="169069" y="206597"/>
                  </a:lnTo>
                  <a:lnTo>
                    <a:pt x="206597" y="169069"/>
                  </a:lnTo>
                  <a:lnTo>
                    <a:pt x="190500" y="153162"/>
                  </a:lnTo>
                  <a:cubicBezTo>
                    <a:pt x="193358" y="147828"/>
                    <a:pt x="195739" y="142208"/>
                    <a:pt x="197453" y="136493"/>
                  </a:cubicBezTo>
                  <a:lnTo>
                    <a:pt x="220027" y="136493"/>
                  </a:lnTo>
                  <a:close/>
                  <a:moveTo>
                    <a:pt x="141446" y="110014"/>
                  </a:moveTo>
                  <a:cubicBezTo>
                    <a:pt x="141446" y="127349"/>
                    <a:pt x="127349" y="141446"/>
                    <a:pt x="110014" y="141446"/>
                  </a:cubicBezTo>
                  <a:cubicBezTo>
                    <a:pt x="92678" y="141446"/>
                    <a:pt x="78581" y="127349"/>
                    <a:pt x="78581" y="110014"/>
                  </a:cubicBezTo>
                  <a:cubicBezTo>
                    <a:pt x="78581" y="92678"/>
                    <a:pt x="92678" y="78581"/>
                    <a:pt x="110014" y="78581"/>
                  </a:cubicBezTo>
                  <a:cubicBezTo>
                    <a:pt x="127349" y="78581"/>
                    <a:pt x="141446" y="92678"/>
                    <a:pt x="141446" y="110014"/>
                  </a:cubicBezTo>
                  <a:close/>
                </a:path>
              </a:pathLst>
            </a:custGeom>
            <a:solidFill>
              <a:srgbClr val="000000"/>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340910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08111B0-5519-A876-8065-A0377A67BD72}"/>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CB4D1172-9F20-F503-2787-C6A61BF8241B}"/>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C5BC6212-7BED-8714-13AD-ABED09E59C55}"/>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ASSESS DATA QUALITY</a:t>
            </a:r>
          </a:p>
        </p:txBody>
      </p:sp>
      <p:sp>
        <p:nvSpPr>
          <p:cNvPr id="6" name="TextBox 5">
            <a:extLst>
              <a:ext uri="{FF2B5EF4-FFF2-40B4-BE49-F238E27FC236}">
                <a16:creationId xmlns:a16="http://schemas.microsoft.com/office/drawing/2014/main" id="{CADC3783-C018-4282-D79E-F98706E5A532}"/>
              </a:ext>
            </a:extLst>
          </p:cNvPr>
          <p:cNvSpPr txBox="1"/>
          <p:nvPr/>
        </p:nvSpPr>
        <p:spPr>
          <a:xfrm>
            <a:off x="509123" y="246742"/>
            <a:ext cx="4230645"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pre-processing</a:t>
            </a:r>
            <a:r>
              <a:rPr lang="fr-FR" sz="2400" dirty="0">
                <a:latin typeface="Montserrat" pitchFamily="2" charset="0"/>
              </a:rPr>
              <a:t> </a:t>
            </a:r>
            <a:r>
              <a:rPr lang="fr-FR" sz="2400" dirty="0" err="1">
                <a:latin typeface="Montserrat" pitchFamily="2" charset="0"/>
              </a:rPr>
              <a:t>steps</a:t>
            </a:r>
            <a:endParaRPr lang="fr-FR" sz="2400" dirty="0">
              <a:latin typeface="Montserrat" pitchFamily="2" charset="0"/>
            </a:endParaRPr>
          </a:p>
        </p:txBody>
      </p:sp>
      <p:sp>
        <p:nvSpPr>
          <p:cNvPr id="2" name="Rectangle 1">
            <a:extLst>
              <a:ext uri="{FF2B5EF4-FFF2-40B4-BE49-F238E27FC236}">
                <a16:creationId xmlns:a16="http://schemas.microsoft.com/office/drawing/2014/main" id="{B2544D1B-9CD8-92EE-20A4-BD7D0E6A4852}"/>
              </a:ext>
            </a:extLst>
          </p:cNvPr>
          <p:cNvSpPr/>
          <p:nvPr/>
        </p:nvSpPr>
        <p:spPr>
          <a:xfrm>
            <a:off x="8229600" y="0"/>
            <a:ext cx="2908300" cy="638175"/>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C6028D01-CA55-16D5-97BD-28F97BF8BF41}"/>
              </a:ext>
            </a:extLst>
          </p:cNvPr>
          <p:cNvGrpSpPr/>
          <p:nvPr/>
        </p:nvGrpSpPr>
        <p:grpSpPr>
          <a:xfrm>
            <a:off x="1459729" y="1991259"/>
            <a:ext cx="3652067" cy="533230"/>
            <a:chOff x="629305" y="1478619"/>
            <a:chExt cx="3652067" cy="533230"/>
          </a:xfrm>
        </p:grpSpPr>
        <p:sp>
          <p:nvSpPr>
            <p:cNvPr id="12" name="Flowchart: Connector 11">
              <a:extLst>
                <a:ext uri="{FF2B5EF4-FFF2-40B4-BE49-F238E27FC236}">
                  <a16:creationId xmlns:a16="http://schemas.microsoft.com/office/drawing/2014/main" id="{D8AB003E-176D-48D4-A5FE-A0D5A8892685}"/>
                </a:ext>
              </a:extLst>
            </p:cNvPr>
            <p:cNvSpPr/>
            <p:nvPr/>
          </p:nvSpPr>
          <p:spPr>
            <a:xfrm>
              <a:off x="629305" y="1478619"/>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4CA0FCA1-A9D9-9038-8D72-E9B5FD11D83D}"/>
                </a:ext>
              </a:extLst>
            </p:cNvPr>
            <p:cNvSpPr txBox="1"/>
            <p:nvPr/>
          </p:nvSpPr>
          <p:spPr>
            <a:xfrm>
              <a:off x="1371601" y="1539465"/>
              <a:ext cx="2909771" cy="369332"/>
            </a:xfrm>
            <a:prstGeom prst="rect">
              <a:avLst/>
            </a:prstGeom>
            <a:noFill/>
          </p:spPr>
          <p:txBody>
            <a:bodyPr wrap="none" rtlCol="0">
              <a:spAutoFit/>
            </a:bodyPr>
            <a:lstStyle/>
            <a:p>
              <a:r>
                <a:rPr lang="en-US" b="1" dirty="0"/>
                <a:t>Miss match data types</a:t>
              </a:r>
              <a:endParaRPr lang="en-US" dirty="0"/>
            </a:p>
          </p:txBody>
        </p:sp>
      </p:grpSp>
      <p:grpSp>
        <p:nvGrpSpPr>
          <p:cNvPr id="14" name="Group 13">
            <a:extLst>
              <a:ext uri="{FF2B5EF4-FFF2-40B4-BE49-F238E27FC236}">
                <a16:creationId xmlns:a16="http://schemas.microsoft.com/office/drawing/2014/main" id="{ABBEA820-710E-7642-C94F-9FF6A8B6BCD6}"/>
              </a:ext>
            </a:extLst>
          </p:cNvPr>
          <p:cNvGrpSpPr/>
          <p:nvPr/>
        </p:nvGrpSpPr>
        <p:grpSpPr>
          <a:xfrm>
            <a:off x="1459729" y="2844225"/>
            <a:ext cx="2693471" cy="533230"/>
            <a:chOff x="629305" y="2444877"/>
            <a:chExt cx="2693471" cy="533230"/>
          </a:xfrm>
        </p:grpSpPr>
        <p:sp>
          <p:nvSpPr>
            <p:cNvPr id="16" name="Flowchart: Connector 15">
              <a:extLst>
                <a:ext uri="{FF2B5EF4-FFF2-40B4-BE49-F238E27FC236}">
                  <a16:creationId xmlns:a16="http://schemas.microsoft.com/office/drawing/2014/main" id="{95B21A70-3633-818A-94FA-9BAFF1DE7B12}"/>
                </a:ext>
              </a:extLst>
            </p:cNvPr>
            <p:cNvSpPr/>
            <p:nvPr/>
          </p:nvSpPr>
          <p:spPr>
            <a:xfrm>
              <a:off x="629305" y="2444877"/>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5AAF166A-80A9-F45E-2B4C-28109C17FC2E}"/>
                </a:ext>
              </a:extLst>
            </p:cNvPr>
            <p:cNvSpPr txBox="1"/>
            <p:nvPr/>
          </p:nvSpPr>
          <p:spPr>
            <a:xfrm>
              <a:off x="1371601" y="2533916"/>
              <a:ext cx="1951175" cy="369332"/>
            </a:xfrm>
            <a:prstGeom prst="rect">
              <a:avLst/>
            </a:prstGeom>
            <a:noFill/>
          </p:spPr>
          <p:txBody>
            <a:bodyPr wrap="none" rtlCol="0">
              <a:spAutoFit/>
            </a:bodyPr>
            <a:lstStyle/>
            <a:p>
              <a:r>
                <a:rPr lang="en-US" b="1" dirty="0"/>
                <a:t>Missing values</a:t>
              </a:r>
              <a:endParaRPr lang="en-US" dirty="0"/>
            </a:p>
          </p:txBody>
        </p:sp>
      </p:grpSp>
      <p:grpSp>
        <p:nvGrpSpPr>
          <p:cNvPr id="18" name="Group 17">
            <a:extLst>
              <a:ext uri="{FF2B5EF4-FFF2-40B4-BE49-F238E27FC236}">
                <a16:creationId xmlns:a16="http://schemas.microsoft.com/office/drawing/2014/main" id="{74BE3DC9-0D15-CEE4-8FFF-A0DD6F9BBACC}"/>
              </a:ext>
            </a:extLst>
          </p:cNvPr>
          <p:cNvGrpSpPr/>
          <p:nvPr/>
        </p:nvGrpSpPr>
        <p:grpSpPr>
          <a:xfrm>
            <a:off x="1459729" y="3719623"/>
            <a:ext cx="1600223" cy="533230"/>
            <a:chOff x="629305" y="3265901"/>
            <a:chExt cx="1600223" cy="533230"/>
          </a:xfrm>
        </p:grpSpPr>
        <p:sp>
          <p:nvSpPr>
            <p:cNvPr id="19" name="Flowchart: Connector 18">
              <a:extLst>
                <a:ext uri="{FF2B5EF4-FFF2-40B4-BE49-F238E27FC236}">
                  <a16:creationId xmlns:a16="http://schemas.microsoft.com/office/drawing/2014/main" id="{6BE79214-35B1-2B39-CC46-166F00DCD68A}"/>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48219D9D-ED4A-194E-D03E-286BC12F2BE0}"/>
                </a:ext>
              </a:extLst>
            </p:cNvPr>
            <p:cNvSpPr txBox="1"/>
            <p:nvPr/>
          </p:nvSpPr>
          <p:spPr>
            <a:xfrm>
              <a:off x="1371601" y="3351369"/>
              <a:ext cx="857927" cy="369332"/>
            </a:xfrm>
            <a:prstGeom prst="rect">
              <a:avLst/>
            </a:prstGeom>
            <a:noFill/>
          </p:spPr>
          <p:txBody>
            <a:bodyPr wrap="none" rtlCol="0">
              <a:spAutoFit/>
            </a:bodyPr>
            <a:lstStyle/>
            <a:p>
              <a:r>
                <a:rPr lang="en-US" b="1" dirty="0"/>
                <a:t>Noise</a:t>
              </a:r>
              <a:endParaRPr lang="en-US" dirty="0"/>
            </a:p>
          </p:txBody>
        </p:sp>
      </p:grpSp>
      <p:sp>
        <p:nvSpPr>
          <p:cNvPr id="21" name="TextBox 20">
            <a:extLst>
              <a:ext uri="{FF2B5EF4-FFF2-40B4-BE49-F238E27FC236}">
                <a16:creationId xmlns:a16="http://schemas.microsoft.com/office/drawing/2014/main" id="{7CD6D639-A66A-93D2-E3D9-D464E50A0291}"/>
              </a:ext>
            </a:extLst>
          </p:cNvPr>
          <p:cNvSpPr txBox="1"/>
          <p:nvPr/>
        </p:nvSpPr>
        <p:spPr>
          <a:xfrm>
            <a:off x="1510580" y="2082883"/>
            <a:ext cx="404278" cy="338554"/>
          </a:xfrm>
          <a:prstGeom prst="rect">
            <a:avLst/>
          </a:prstGeom>
          <a:noFill/>
        </p:spPr>
        <p:txBody>
          <a:bodyPr wrap="none" rtlCol="0">
            <a:spAutoFit/>
          </a:bodyPr>
          <a:lstStyle/>
          <a:p>
            <a:r>
              <a:rPr lang="en-US" sz="1600" b="1" dirty="0"/>
              <a:t>01</a:t>
            </a:r>
          </a:p>
        </p:txBody>
      </p:sp>
      <p:sp>
        <p:nvSpPr>
          <p:cNvPr id="22" name="TextBox 21">
            <a:extLst>
              <a:ext uri="{FF2B5EF4-FFF2-40B4-BE49-F238E27FC236}">
                <a16:creationId xmlns:a16="http://schemas.microsoft.com/office/drawing/2014/main" id="{301701FF-BA8A-5A0E-9FF2-979D644E195B}"/>
              </a:ext>
            </a:extLst>
          </p:cNvPr>
          <p:cNvSpPr txBox="1"/>
          <p:nvPr/>
        </p:nvSpPr>
        <p:spPr>
          <a:xfrm>
            <a:off x="1501054" y="2942894"/>
            <a:ext cx="445956" cy="338554"/>
          </a:xfrm>
          <a:prstGeom prst="rect">
            <a:avLst/>
          </a:prstGeom>
          <a:noFill/>
        </p:spPr>
        <p:txBody>
          <a:bodyPr wrap="none" rtlCol="0">
            <a:spAutoFit/>
          </a:bodyPr>
          <a:lstStyle/>
          <a:p>
            <a:r>
              <a:rPr lang="en-US" sz="1600" b="1" dirty="0"/>
              <a:t>02</a:t>
            </a:r>
          </a:p>
        </p:txBody>
      </p:sp>
      <p:sp>
        <p:nvSpPr>
          <p:cNvPr id="23" name="TextBox 22">
            <a:extLst>
              <a:ext uri="{FF2B5EF4-FFF2-40B4-BE49-F238E27FC236}">
                <a16:creationId xmlns:a16="http://schemas.microsoft.com/office/drawing/2014/main" id="{A4A23574-21E0-C9F4-9AEA-B26256A99DB8}"/>
              </a:ext>
            </a:extLst>
          </p:cNvPr>
          <p:cNvSpPr txBox="1"/>
          <p:nvPr/>
        </p:nvSpPr>
        <p:spPr>
          <a:xfrm>
            <a:off x="1501056" y="3816584"/>
            <a:ext cx="445956" cy="338554"/>
          </a:xfrm>
          <a:prstGeom prst="rect">
            <a:avLst/>
          </a:prstGeom>
          <a:noFill/>
        </p:spPr>
        <p:txBody>
          <a:bodyPr wrap="none" rtlCol="0">
            <a:spAutoFit/>
          </a:bodyPr>
          <a:lstStyle/>
          <a:p>
            <a:r>
              <a:rPr lang="en-US" sz="1600" b="1" dirty="0"/>
              <a:t>03</a:t>
            </a:r>
          </a:p>
        </p:txBody>
      </p:sp>
      <p:grpSp>
        <p:nvGrpSpPr>
          <p:cNvPr id="24" name="Group 23">
            <a:extLst>
              <a:ext uri="{FF2B5EF4-FFF2-40B4-BE49-F238E27FC236}">
                <a16:creationId xmlns:a16="http://schemas.microsoft.com/office/drawing/2014/main" id="{FD1250BF-B22F-D828-72CE-6CAA29275D20}"/>
              </a:ext>
            </a:extLst>
          </p:cNvPr>
          <p:cNvGrpSpPr/>
          <p:nvPr/>
        </p:nvGrpSpPr>
        <p:grpSpPr>
          <a:xfrm>
            <a:off x="1459729" y="4632440"/>
            <a:ext cx="2220586" cy="533230"/>
            <a:chOff x="629305" y="3265901"/>
            <a:chExt cx="2220586" cy="533230"/>
          </a:xfrm>
        </p:grpSpPr>
        <p:sp>
          <p:nvSpPr>
            <p:cNvPr id="25" name="Flowchart: Connector 24">
              <a:extLst>
                <a:ext uri="{FF2B5EF4-FFF2-40B4-BE49-F238E27FC236}">
                  <a16:creationId xmlns:a16="http://schemas.microsoft.com/office/drawing/2014/main" id="{8F46C84A-71E9-D19F-F8F7-6648A4A44F40}"/>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9A921AB8-FFB8-A685-A971-04B9A5836C8A}"/>
                </a:ext>
              </a:extLst>
            </p:cNvPr>
            <p:cNvSpPr txBox="1"/>
            <p:nvPr/>
          </p:nvSpPr>
          <p:spPr>
            <a:xfrm>
              <a:off x="1371601" y="3351369"/>
              <a:ext cx="1478290" cy="369332"/>
            </a:xfrm>
            <a:prstGeom prst="rect">
              <a:avLst/>
            </a:prstGeom>
            <a:noFill/>
          </p:spPr>
          <p:txBody>
            <a:bodyPr wrap="none" rtlCol="0">
              <a:spAutoFit/>
            </a:bodyPr>
            <a:lstStyle/>
            <a:p>
              <a:r>
                <a:rPr lang="en-US" b="1" dirty="0"/>
                <a:t>Duplicates</a:t>
              </a:r>
              <a:endParaRPr lang="en-US" dirty="0"/>
            </a:p>
          </p:txBody>
        </p:sp>
      </p:grpSp>
      <p:sp>
        <p:nvSpPr>
          <p:cNvPr id="27" name="TextBox 26">
            <a:extLst>
              <a:ext uri="{FF2B5EF4-FFF2-40B4-BE49-F238E27FC236}">
                <a16:creationId xmlns:a16="http://schemas.microsoft.com/office/drawing/2014/main" id="{F42A0BC1-7B26-F247-303B-C2F0F4D6CC01}"/>
              </a:ext>
            </a:extLst>
          </p:cNvPr>
          <p:cNvSpPr txBox="1"/>
          <p:nvPr/>
        </p:nvSpPr>
        <p:spPr>
          <a:xfrm>
            <a:off x="1501056" y="4729401"/>
            <a:ext cx="465192" cy="338554"/>
          </a:xfrm>
          <a:prstGeom prst="rect">
            <a:avLst/>
          </a:prstGeom>
          <a:noFill/>
        </p:spPr>
        <p:txBody>
          <a:bodyPr wrap="none" rtlCol="0">
            <a:spAutoFit/>
          </a:bodyPr>
          <a:lstStyle/>
          <a:p>
            <a:r>
              <a:rPr lang="en-US" sz="1600" b="1" dirty="0"/>
              <a:t>04</a:t>
            </a:r>
          </a:p>
        </p:txBody>
      </p:sp>
      <p:sp>
        <p:nvSpPr>
          <p:cNvPr id="28" name="Arrow: Chevron 27">
            <a:extLst>
              <a:ext uri="{FF2B5EF4-FFF2-40B4-BE49-F238E27FC236}">
                <a16:creationId xmlns:a16="http://schemas.microsoft.com/office/drawing/2014/main" id="{94828A7E-A7D8-7A1D-5020-591D1B7B17D5}"/>
              </a:ext>
            </a:extLst>
          </p:cNvPr>
          <p:cNvSpPr/>
          <p:nvPr/>
        </p:nvSpPr>
        <p:spPr>
          <a:xfrm>
            <a:off x="5421804" y="2478743"/>
            <a:ext cx="355007" cy="1973693"/>
          </a:xfrm>
          <a:prstGeom prst="chevron">
            <a:avLst>
              <a:gd name="adj" fmla="val 62905"/>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9" name="Group 28">
            <a:extLst>
              <a:ext uri="{FF2B5EF4-FFF2-40B4-BE49-F238E27FC236}">
                <a16:creationId xmlns:a16="http://schemas.microsoft.com/office/drawing/2014/main" id="{3E344AF8-E7D8-FCDC-9B7B-2F62CD9E845D}"/>
              </a:ext>
            </a:extLst>
          </p:cNvPr>
          <p:cNvGrpSpPr/>
          <p:nvPr/>
        </p:nvGrpSpPr>
        <p:grpSpPr>
          <a:xfrm>
            <a:off x="6313662" y="1984356"/>
            <a:ext cx="2319972" cy="533230"/>
            <a:chOff x="629305" y="1478619"/>
            <a:chExt cx="2319972" cy="533230"/>
          </a:xfrm>
        </p:grpSpPr>
        <p:sp>
          <p:nvSpPr>
            <p:cNvPr id="30" name="Flowchart: Connector 29">
              <a:extLst>
                <a:ext uri="{FF2B5EF4-FFF2-40B4-BE49-F238E27FC236}">
                  <a16:creationId xmlns:a16="http://schemas.microsoft.com/office/drawing/2014/main" id="{5BC1923F-264E-2B45-0D1A-F4E9E1FF0C66}"/>
                </a:ext>
              </a:extLst>
            </p:cNvPr>
            <p:cNvSpPr/>
            <p:nvPr/>
          </p:nvSpPr>
          <p:spPr>
            <a:xfrm>
              <a:off x="629305" y="1478619"/>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C19D33C1-486D-41F1-C235-7053F573B06E}"/>
                </a:ext>
              </a:extLst>
            </p:cNvPr>
            <p:cNvSpPr txBox="1"/>
            <p:nvPr/>
          </p:nvSpPr>
          <p:spPr>
            <a:xfrm>
              <a:off x="1371601" y="1539465"/>
              <a:ext cx="1577676" cy="369332"/>
            </a:xfrm>
            <a:prstGeom prst="rect">
              <a:avLst/>
            </a:prstGeom>
            <a:noFill/>
          </p:spPr>
          <p:txBody>
            <a:bodyPr wrap="none" rtlCol="0">
              <a:spAutoFit/>
            </a:bodyPr>
            <a:lstStyle/>
            <a:p>
              <a:r>
                <a:rPr lang="en-US" b="1" dirty="0"/>
                <a:t>Bias results</a:t>
              </a:r>
              <a:endParaRPr lang="en-US" dirty="0"/>
            </a:p>
          </p:txBody>
        </p:sp>
      </p:grpSp>
      <p:grpSp>
        <p:nvGrpSpPr>
          <p:cNvPr id="32" name="Group 31">
            <a:extLst>
              <a:ext uri="{FF2B5EF4-FFF2-40B4-BE49-F238E27FC236}">
                <a16:creationId xmlns:a16="http://schemas.microsoft.com/office/drawing/2014/main" id="{9147D4DC-5B00-FB65-D32F-54FD327D69C2}"/>
              </a:ext>
            </a:extLst>
          </p:cNvPr>
          <p:cNvGrpSpPr/>
          <p:nvPr/>
        </p:nvGrpSpPr>
        <p:grpSpPr>
          <a:xfrm>
            <a:off x="6313662" y="2837322"/>
            <a:ext cx="3278568" cy="533230"/>
            <a:chOff x="629305" y="2444877"/>
            <a:chExt cx="3278568" cy="533230"/>
          </a:xfrm>
        </p:grpSpPr>
        <p:sp>
          <p:nvSpPr>
            <p:cNvPr id="33" name="Flowchart: Connector 32">
              <a:extLst>
                <a:ext uri="{FF2B5EF4-FFF2-40B4-BE49-F238E27FC236}">
                  <a16:creationId xmlns:a16="http://schemas.microsoft.com/office/drawing/2014/main" id="{5ACE97CC-87B7-666C-1EAF-F9F447DD44D6}"/>
                </a:ext>
              </a:extLst>
            </p:cNvPr>
            <p:cNvSpPr/>
            <p:nvPr/>
          </p:nvSpPr>
          <p:spPr>
            <a:xfrm>
              <a:off x="629305" y="2444877"/>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888C362B-24FB-9EC5-0AF2-3D1F69E4C6EE}"/>
                </a:ext>
              </a:extLst>
            </p:cNvPr>
            <p:cNvSpPr txBox="1"/>
            <p:nvPr/>
          </p:nvSpPr>
          <p:spPr>
            <a:xfrm>
              <a:off x="1371601" y="2533916"/>
              <a:ext cx="2536272" cy="369332"/>
            </a:xfrm>
            <a:prstGeom prst="rect">
              <a:avLst/>
            </a:prstGeom>
            <a:noFill/>
          </p:spPr>
          <p:txBody>
            <a:bodyPr wrap="none" rtlCol="0">
              <a:spAutoFit/>
            </a:bodyPr>
            <a:lstStyle/>
            <a:p>
              <a:r>
                <a:rPr lang="en-US" b="1" dirty="0"/>
                <a:t>Misleading analysis</a:t>
              </a:r>
              <a:endParaRPr lang="en-US" dirty="0"/>
            </a:p>
          </p:txBody>
        </p:sp>
      </p:grpSp>
      <p:grpSp>
        <p:nvGrpSpPr>
          <p:cNvPr id="35" name="Group 34">
            <a:extLst>
              <a:ext uri="{FF2B5EF4-FFF2-40B4-BE49-F238E27FC236}">
                <a16:creationId xmlns:a16="http://schemas.microsoft.com/office/drawing/2014/main" id="{79A2DE62-630E-0C38-91F8-7D0EB1C39BC5}"/>
              </a:ext>
            </a:extLst>
          </p:cNvPr>
          <p:cNvGrpSpPr/>
          <p:nvPr/>
        </p:nvGrpSpPr>
        <p:grpSpPr>
          <a:xfrm>
            <a:off x="6313662" y="3712720"/>
            <a:ext cx="3249714" cy="533230"/>
            <a:chOff x="629305" y="3265901"/>
            <a:chExt cx="3249714" cy="533230"/>
          </a:xfrm>
        </p:grpSpPr>
        <p:sp>
          <p:nvSpPr>
            <p:cNvPr id="36" name="Flowchart: Connector 35">
              <a:extLst>
                <a:ext uri="{FF2B5EF4-FFF2-40B4-BE49-F238E27FC236}">
                  <a16:creationId xmlns:a16="http://schemas.microsoft.com/office/drawing/2014/main" id="{C1E113B1-D0AE-CF5C-504B-934805802447}"/>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DD4E8BE1-4A7C-6FB2-DEF5-9B0F0585C4E6}"/>
                </a:ext>
              </a:extLst>
            </p:cNvPr>
            <p:cNvSpPr txBox="1"/>
            <p:nvPr/>
          </p:nvSpPr>
          <p:spPr>
            <a:xfrm>
              <a:off x="1371601" y="3351369"/>
              <a:ext cx="2507418" cy="369332"/>
            </a:xfrm>
            <a:prstGeom prst="rect">
              <a:avLst/>
            </a:prstGeom>
            <a:noFill/>
          </p:spPr>
          <p:txBody>
            <a:bodyPr wrap="none" rtlCol="0">
              <a:spAutoFit/>
            </a:bodyPr>
            <a:lstStyle/>
            <a:p>
              <a:r>
                <a:rPr lang="en-US" b="1" dirty="0"/>
                <a:t>Reduced efficiency</a:t>
              </a:r>
              <a:endParaRPr lang="en-US" dirty="0"/>
            </a:p>
          </p:txBody>
        </p:sp>
      </p:grpSp>
      <p:sp>
        <p:nvSpPr>
          <p:cNvPr id="38" name="TextBox 37">
            <a:extLst>
              <a:ext uri="{FF2B5EF4-FFF2-40B4-BE49-F238E27FC236}">
                <a16:creationId xmlns:a16="http://schemas.microsoft.com/office/drawing/2014/main" id="{13C10275-C083-839B-61AA-EBE43D596604}"/>
              </a:ext>
            </a:extLst>
          </p:cNvPr>
          <p:cNvSpPr txBox="1"/>
          <p:nvPr/>
        </p:nvSpPr>
        <p:spPr>
          <a:xfrm>
            <a:off x="6364513" y="2075980"/>
            <a:ext cx="404278" cy="338554"/>
          </a:xfrm>
          <a:prstGeom prst="rect">
            <a:avLst/>
          </a:prstGeom>
          <a:noFill/>
        </p:spPr>
        <p:txBody>
          <a:bodyPr wrap="none" rtlCol="0">
            <a:spAutoFit/>
          </a:bodyPr>
          <a:lstStyle/>
          <a:p>
            <a:r>
              <a:rPr lang="en-US" sz="1600" b="1" dirty="0"/>
              <a:t>01</a:t>
            </a:r>
          </a:p>
        </p:txBody>
      </p:sp>
      <p:sp>
        <p:nvSpPr>
          <p:cNvPr id="39" name="TextBox 38">
            <a:extLst>
              <a:ext uri="{FF2B5EF4-FFF2-40B4-BE49-F238E27FC236}">
                <a16:creationId xmlns:a16="http://schemas.microsoft.com/office/drawing/2014/main" id="{12022D12-7C8C-1C9A-E9D9-AC30FC455094}"/>
              </a:ext>
            </a:extLst>
          </p:cNvPr>
          <p:cNvSpPr txBox="1"/>
          <p:nvPr/>
        </p:nvSpPr>
        <p:spPr>
          <a:xfrm>
            <a:off x="6354987" y="2935991"/>
            <a:ext cx="445956" cy="338554"/>
          </a:xfrm>
          <a:prstGeom prst="rect">
            <a:avLst/>
          </a:prstGeom>
          <a:noFill/>
        </p:spPr>
        <p:txBody>
          <a:bodyPr wrap="none" rtlCol="0">
            <a:spAutoFit/>
          </a:bodyPr>
          <a:lstStyle/>
          <a:p>
            <a:r>
              <a:rPr lang="en-US" sz="1600" b="1" dirty="0"/>
              <a:t>02</a:t>
            </a:r>
          </a:p>
        </p:txBody>
      </p:sp>
      <p:sp>
        <p:nvSpPr>
          <p:cNvPr id="40" name="TextBox 39">
            <a:extLst>
              <a:ext uri="{FF2B5EF4-FFF2-40B4-BE49-F238E27FC236}">
                <a16:creationId xmlns:a16="http://schemas.microsoft.com/office/drawing/2014/main" id="{A0E01800-829E-F7F3-6C21-A1751F040455}"/>
              </a:ext>
            </a:extLst>
          </p:cNvPr>
          <p:cNvSpPr txBox="1"/>
          <p:nvPr/>
        </p:nvSpPr>
        <p:spPr>
          <a:xfrm>
            <a:off x="6354989" y="3809681"/>
            <a:ext cx="445956" cy="338554"/>
          </a:xfrm>
          <a:prstGeom prst="rect">
            <a:avLst/>
          </a:prstGeom>
          <a:noFill/>
        </p:spPr>
        <p:txBody>
          <a:bodyPr wrap="none" rtlCol="0">
            <a:spAutoFit/>
          </a:bodyPr>
          <a:lstStyle/>
          <a:p>
            <a:r>
              <a:rPr lang="en-US" sz="1600" b="1" dirty="0"/>
              <a:t>03</a:t>
            </a:r>
          </a:p>
        </p:txBody>
      </p:sp>
      <p:grpSp>
        <p:nvGrpSpPr>
          <p:cNvPr id="41" name="Group 40">
            <a:extLst>
              <a:ext uri="{FF2B5EF4-FFF2-40B4-BE49-F238E27FC236}">
                <a16:creationId xmlns:a16="http://schemas.microsoft.com/office/drawing/2014/main" id="{4C0F0742-7A27-510D-AB73-CA742253A491}"/>
              </a:ext>
            </a:extLst>
          </p:cNvPr>
          <p:cNvGrpSpPr/>
          <p:nvPr/>
        </p:nvGrpSpPr>
        <p:grpSpPr>
          <a:xfrm>
            <a:off x="6313662" y="4625537"/>
            <a:ext cx="3538254" cy="533230"/>
            <a:chOff x="629305" y="3265901"/>
            <a:chExt cx="3538254" cy="533230"/>
          </a:xfrm>
        </p:grpSpPr>
        <p:sp>
          <p:nvSpPr>
            <p:cNvPr id="42" name="Flowchart: Connector 41">
              <a:extLst>
                <a:ext uri="{FF2B5EF4-FFF2-40B4-BE49-F238E27FC236}">
                  <a16:creationId xmlns:a16="http://schemas.microsoft.com/office/drawing/2014/main" id="{8E4F19B5-3D12-EAAC-5A24-7D30B9613F51}"/>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D7422039-12E0-DC02-3BC7-D7E69A4D9EAE}"/>
                </a:ext>
              </a:extLst>
            </p:cNvPr>
            <p:cNvSpPr txBox="1"/>
            <p:nvPr/>
          </p:nvSpPr>
          <p:spPr>
            <a:xfrm>
              <a:off x="1371601" y="3351369"/>
              <a:ext cx="2795958" cy="369332"/>
            </a:xfrm>
            <a:prstGeom prst="rect">
              <a:avLst/>
            </a:prstGeom>
            <a:noFill/>
          </p:spPr>
          <p:txBody>
            <a:bodyPr wrap="none" rtlCol="0">
              <a:spAutoFit/>
            </a:bodyPr>
            <a:lstStyle/>
            <a:p>
              <a:r>
                <a:rPr lang="en-US" b="1" dirty="0"/>
                <a:t>Non-sensical findings</a:t>
              </a:r>
              <a:endParaRPr lang="en-US" dirty="0"/>
            </a:p>
          </p:txBody>
        </p:sp>
      </p:grpSp>
      <p:sp>
        <p:nvSpPr>
          <p:cNvPr id="44" name="TextBox 43">
            <a:extLst>
              <a:ext uri="{FF2B5EF4-FFF2-40B4-BE49-F238E27FC236}">
                <a16:creationId xmlns:a16="http://schemas.microsoft.com/office/drawing/2014/main" id="{4FD65E14-78FC-1C78-EC94-495EB6C0EE1E}"/>
              </a:ext>
            </a:extLst>
          </p:cNvPr>
          <p:cNvSpPr txBox="1"/>
          <p:nvPr/>
        </p:nvSpPr>
        <p:spPr>
          <a:xfrm>
            <a:off x="6354989" y="4722498"/>
            <a:ext cx="465192" cy="338554"/>
          </a:xfrm>
          <a:prstGeom prst="rect">
            <a:avLst/>
          </a:prstGeom>
          <a:noFill/>
        </p:spPr>
        <p:txBody>
          <a:bodyPr wrap="none" rtlCol="0">
            <a:spAutoFit/>
          </a:bodyPr>
          <a:lstStyle/>
          <a:p>
            <a:r>
              <a:rPr lang="en-US" sz="1600" b="1" dirty="0"/>
              <a:t>04</a:t>
            </a:r>
          </a:p>
        </p:txBody>
      </p:sp>
    </p:spTree>
    <p:extLst>
      <p:ext uri="{BB962C8B-B14F-4D97-AF65-F5344CB8AC3E}">
        <p14:creationId xmlns:p14="http://schemas.microsoft.com/office/powerpoint/2010/main" val="148211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8" grpId="0"/>
      <p:bldP spid="39" grpId="0"/>
      <p:bldP spid="40" grpId="0"/>
      <p:bldP spid="4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508B0-EB70-F05B-8F7F-6EBF2DC8DE7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B4B1A54-E035-A78B-D0CA-D1B8EF2D25CD}"/>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BBB76C14-683B-0336-8F80-E25726A3CC5F}"/>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EFA9978A-8F2A-FA5C-EDAC-EFD5CFBD6E0A}"/>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DATA CLEANING</a:t>
            </a:r>
          </a:p>
        </p:txBody>
      </p:sp>
      <p:sp>
        <p:nvSpPr>
          <p:cNvPr id="6" name="TextBox 5">
            <a:extLst>
              <a:ext uri="{FF2B5EF4-FFF2-40B4-BE49-F238E27FC236}">
                <a16:creationId xmlns:a16="http://schemas.microsoft.com/office/drawing/2014/main" id="{21FF6AB7-CF69-EA40-76A8-234208FAE64D}"/>
              </a:ext>
            </a:extLst>
          </p:cNvPr>
          <p:cNvSpPr txBox="1"/>
          <p:nvPr/>
        </p:nvSpPr>
        <p:spPr>
          <a:xfrm>
            <a:off x="509123" y="246742"/>
            <a:ext cx="4230645"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pre-processing</a:t>
            </a:r>
            <a:r>
              <a:rPr lang="fr-FR" sz="2400" dirty="0">
                <a:latin typeface="Montserrat" pitchFamily="2" charset="0"/>
              </a:rPr>
              <a:t> </a:t>
            </a:r>
            <a:r>
              <a:rPr lang="fr-FR" sz="2400" dirty="0" err="1">
                <a:latin typeface="Montserrat" pitchFamily="2" charset="0"/>
              </a:rPr>
              <a:t>steps</a:t>
            </a:r>
            <a:endParaRPr lang="fr-FR" sz="2400" dirty="0">
              <a:latin typeface="Montserrat" pitchFamily="2" charset="0"/>
            </a:endParaRPr>
          </a:p>
        </p:txBody>
      </p:sp>
      <p:sp>
        <p:nvSpPr>
          <p:cNvPr id="2" name="Rectangle 1">
            <a:extLst>
              <a:ext uri="{FF2B5EF4-FFF2-40B4-BE49-F238E27FC236}">
                <a16:creationId xmlns:a16="http://schemas.microsoft.com/office/drawing/2014/main" id="{ECE11204-397E-751D-0D4B-2C4B573A7DE4}"/>
              </a:ext>
            </a:extLst>
          </p:cNvPr>
          <p:cNvSpPr/>
          <p:nvPr/>
        </p:nvSpPr>
        <p:spPr>
          <a:xfrm>
            <a:off x="8229600" y="0"/>
            <a:ext cx="2908300" cy="638175"/>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C8C4CCD2-17A6-1F1C-BE37-74130B0CAF36}"/>
              </a:ext>
            </a:extLst>
          </p:cNvPr>
          <p:cNvGrpSpPr/>
          <p:nvPr/>
        </p:nvGrpSpPr>
        <p:grpSpPr>
          <a:xfrm>
            <a:off x="610644" y="1593716"/>
            <a:ext cx="3554284" cy="533230"/>
            <a:chOff x="629305" y="1478619"/>
            <a:chExt cx="3554284" cy="533230"/>
          </a:xfrm>
        </p:grpSpPr>
        <p:sp>
          <p:nvSpPr>
            <p:cNvPr id="12" name="Flowchart: Connector 11">
              <a:extLst>
                <a:ext uri="{FF2B5EF4-FFF2-40B4-BE49-F238E27FC236}">
                  <a16:creationId xmlns:a16="http://schemas.microsoft.com/office/drawing/2014/main" id="{BD86DD83-9422-1D15-D890-C1647FE2C1DC}"/>
                </a:ext>
              </a:extLst>
            </p:cNvPr>
            <p:cNvSpPr/>
            <p:nvPr/>
          </p:nvSpPr>
          <p:spPr>
            <a:xfrm>
              <a:off x="629305" y="1478619"/>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23F0EFF4-6496-6CC0-4897-A87F12290DE3}"/>
                </a:ext>
              </a:extLst>
            </p:cNvPr>
            <p:cNvSpPr txBox="1"/>
            <p:nvPr/>
          </p:nvSpPr>
          <p:spPr>
            <a:xfrm>
              <a:off x="1371601" y="1539465"/>
              <a:ext cx="2811988" cy="369332"/>
            </a:xfrm>
            <a:prstGeom prst="rect">
              <a:avLst/>
            </a:prstGeom>
            <a:noFill/>
          </p:spPr>
          <p:txBody>
            <a:bodyPr wrap="none" rtlCol="0">
              <a:spAutoFit/>
            </a:bodyPr>
            <a:lstStyle/>
            <a:p>
              <a:r>
                <a:rPr lang="en-US" b="1" dirty="0"/>
                <a:t>Mis-match data types</a:t>
              </a:r>
              <a:endParaRPr lang="en-US" dirty="0"/>
            </a:p>
          </p:txBody>
        </p:sp>
      </p:grpSp>
      <p:grpSp>
        <p:nvGrpSpPr>
          <p:cNvPr id="14" name="Group 13">
            <a:extLst>
              <a:ext uri="{FF2B5EF4-FFF2-40B4-BE49-F238E27FC236}">
                <a16:creationId xmlns:a16="http://schemas.microsoft.com/office/drawing/2014/main" id="{B67D0C72-E1D5-E870-58D2-02EEBDBF9B3E}"/>
              </a:ext>
            </a:extLst>
          </p:cNvPr>
          <p:cNvGrpSpPr/>
          <p:nvPr/>
        </p:nvGrpSpPr>
        <p:grpSpPr>
          <a:xfrm>
            <a:off x="610644" y="2446682"/>
            <a:ext cx="2693471" cy="533230"/>
            <a:chOff x="629305" y="2444877"/>
            <a:chExt cx="2693471" cy="533230"/>
          </a:xfrm>
        </p:grpSpPr>
        <p:sp>
          <p:nvSpPr>
            <p:cNvPr id="16" name="Flowchart: Connector 15">
              <a:extLst>
                <a:ext uri="{FF2B5EF4-FFF2-40B4-BE49-F238E27FC236}">
                  <a16:creationId xmlns:a16="http://schemas.microsoft.com/office/drawing/2014/main" id="{2491D167-5FE2-8E35-1D8B-5A729DB75EFD}"/>
                </a:ext>
              </a:extLst>
            </p:cNvPr>
            <p:cNvSpPr/>
            <p:nvPr/>
          </p:nvSpPr>
          <p:spPr>
            <a:xfrm>
              <a:off x="629305" y="2444877"/>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B4648E85-B83D-3F99-2F92-06D0097460B2}"/>
                </a:ext>
              </a:extLst>
            </p:cNvPr>
            <p:cNvSpPr txBox="1"/>
            <p:nvPr/>
          </p:nvSpPr>
          <p:spPr>
            <a:xfrm>
              <a:off x="1371601" y="2533916"/>
              <a:ext cx="1951175" cy="369332"/>
            </a:xfrm>
            <a:prstGeom prst="rect">
              <a:avLst/>
            </a:prstGeom>
            <a:noFill/>
          </p:spPr>
          <p:txBody>
            <a:bodyPr wrap="none" rtlCol="0">
              <a:spAutoFit/>
            </a:bodyPr>
            <a:lstStyle/>
            <a:p>
              <a:r>
                <a:rPr lang="en-US" b="1" dirty="0"/>
                <a:t>Missing values</a:t>
              </a:r>
              <a:endParaRPr lang="en-US" dirty="0"/>
            </a:p>
          </p:txBody>
        </p:sp>
      </p:grpSp>
      <p:grpSp>
        <p:nvGrpSpPr>
          <p:cNvPr id="18" name="Group 17">
            <a:extLst>
              <a:ext uri="{FF2B5EF4-FFF2-40B4-BE49-F238E27FC236}">
                <a16:creationId xmlns:a16="http://schemas.microsoft.com/office/drawing/2014/main" id="{FDE22E6D-D2CA-542C-A95E-7A013F5044CD}"/>
              </a:ext>
            </a:extLst>
          </p:cNvPr>
          <p:cNvGrpSpPr/>
          <p:nvPr/>
        </p:nvGrpSpPr>
        <p:grpSpPr>
          <a:xfrm>
            <a:off x="610644" y="3322080"/>
            <a:ext cx="1600223" cy="533230"/>
            <a:chOff x="629305" y="3265901"/>
            <a:chExt cx="1600223" cy="533230"/>
          </a:xfrm>
        </p:grpSpPr>
        <p:sp>
          <p:nvSpPr>
            <p:cNvPr id="19" name="Flowchart: Connector 18">
              <a:extLst>
                <a:ext uri="{FF2B5EF4-FFF2-40B4-BE49-F238E27FC236}">
                  <a16:creationId xmlns:a16="http://schemas.microsoft.com/office/drawing/2014/main" id="{73B38B9D-382C-3430-269F-6B1836301021}"/>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02E6877E-AC3C-5D8A-07EF-29A4646A8FE4}"/>
                </a:ext>
              </a:extLst>
            </p:cNvPr>
            <p:cNvSpPr txBox="1"/>
            <p:nvPr/>
          </p:nvSpPr>
          <p:spPr>
            <a:xfrm>
              <a:off x="1371601" y="3351369"/>
              <a:ext cx="857927" cy="369332"/>
            </a:xfrm>
            <a:prstGeom prst="rect">
              <a:avLst/>
            </a:prstGeom>
            <a:noFill/>
          </p:spPr>
          <p:txBody>
            <a:bodyPr wrap="none" rtlCol="0">
              <a:spAutoFit/>
            </a:bodyPr>
            <a:lstStyle/>
            <a:p>
              <a:r>
                <a:rPr lang="en-US" b="1" dirty="0"/>
                <a:t>Noise</a:t>
              </a:r>
              <a:endParaRPr lang="en-US" dirty="0"/>
            </a:p>
          </p:txBody>
        </p:sp>
      </p:grpSp>
      <p:sp>
        <p:nvSpPr>
          <p:cNvPr id="21" name="TextBox 20">
            <a:extLst>
              <a:ext uri="{FF2B5EF4-FFF2-40B4-BE49-F238E27FC236}">
                <a16:creationId xmlns:a16="http://schemas.microsoft.com/office/drawing/2014/main" id="{DCC4164F-ACC5-534B-6C8C-7975D94F1B19}"/>
              </a:ext>
            </a:extLst>
          </p:cNvPr>
          <p:cNvSpPr txBox="1"/>
          <p:nvPr/>
        </p:nvSpPr>
        <p:spPr>
          <a:xfrm>
            <a:off x="661495" y="1685340"/>
            <a:ext cx="404278" cy="338554"/>
          </a:xfrm>
          <a:prstGeom prst="rect">
            <a:avLst/>
          </a:prstGeom>
          <a:noFill/>
        </p:spPr>
        <p:txBody>
          <a:bodyPr wrap="none" rtlCol="0">
            <a:spAutoFit/>
          </a:bodyPr>
          <a:lstStyle/>
          <a:p>
            <a:r>
              <a:rPr lang="en-US" sz="1600" b="1" dirty="0"/>
              <a:t>01</a:t>
            </a:r>
          </a:p>
        </p:txBody>
      </p:sp>
      <p:sp>
        <p:nvSpPr>
          <p:cNvPr id="22" name="TextBox 21">
            <a:extLst>
              <a:ext uri="{FF2B5EF4-FFF2-40B4-BE49-F238E27FC236}">
                <a16:creationId xmlns:a16="http://schemas.microsoft.com/office/drawing/2014/main" id="{45C9DBC0-44FC-DCFA-C31D-425135E987A0}"/>
              </a:ext>
            </a:extLst>
          </p:cNvPr>
          <p:cNvSpPr txBox="1"/>
          <p:nvPr/>
        </p:nvSpPr>
        <p:spPr>
          <a:xfrm>
            <a:off x="651969" y="2545351"/>
            <a:ext cx="445956" cy="338554"/>
          </a:xfrm>
          <a:prstGeom prst="rect">
            <a:avLst/>
          </a:prstGeom>
          <a:noFill/>
        </p:spPr>
        <p:txBody>
          <a:bodyPr wrap="none" rtlCol="0">
            <a:spAutoFit/>
          </a:bodyPr>
          <a:lstStyle/>
          <a:p>
            <a:r>
              <a:rPr lang="en-US" sz="1600" b="1" dirty="0"/>
              <a:t>02</a:t>
            </a:r>
          </a:p>
        </p:txBody>
      </p:sp>
      <p:sp>
        <p:nvSpPr>
          <p:cNvPr id="23" name="TextBox 22">
            <a:extLst>
              <a:ext uri="{FF2B5EF4-FFF2-40B4-BE49-F238E27FC236}">
                <a16:creationId xmlns:a16="http://schemas.microsoft.com/office/drawing/2014/main" id="{C612BFD7-7BA4-CE2B-CEE4-5A93F07A955A}"/>
              </a:ext>
            </a:extLst>
          </p:cNvPr>
          <p:cNvSpPr txBox="1"/>
          <p:nvPr/>
        </p:nvSpPr>
        <p:spPr>
          <a:xfrm>
            <a:off x="651971" y="3419041"/>
            <a:ext cx="445956" cy="338554"/>
          </a:xfrm>
          <a:prstGeom prst="rect">
            <a:avLst/>
          </a:prstGeom>
          <a:noFill/>
        </p:spPr>
        <p:txBody>
          <a:bodyPr wrap="none" rtlCol="0">
            <a:spAutoFit/>
          </a:bodyPr>
          <a:lstStyle/>
          <a:p>
            <a:r>
              <a:rPr lang="en-US" sz="1600" b="1" dirty="0"/>
              <a:t>03</a:t>
            </a:r>
          </a:p>
        </p:txBody>
      </p:sp>
      <p:grpSp>
        <p:nvGrpSpPr>
          <p:cNvPr id="24" name="Group 23">
            <a:extLst>
              <a:ext uri="{FF2B5EF4-FFF2-40B4-BE49-F238E27FC236}">
                <a16:creationId xmlns:a16="http://schemas.microsoft.com/office/drawing/2014/main" id="{E6373580-CF70-37F4-FB12-042AFB099E7C}"/>
              </a:ext>
            </a:extLst>
          </p:cNvPr>
          <p:cNvGrpSpPr/>
          <p:nvPr/>
        </p:nvGrpSpPr>
        <p:grpSpPr>
          <a:xfrm>
            <a:off x="610644" y="4234897"/>
            <a:ext cx="2220586" cy="533230"/>
            <a:chOff x="629305" y="3265901"/>
            <a:chExt cx="2220586" cy="533230"/>
          </a:xfrm>
        </p:grpSpPr>
        <p:sp>
          <p:nvSpPr>
            <p:cNvPr id="25" name="Flowchart: Connector 24">
              <a:extLst>
                <a:ext uri="{FF2B5EF4-FFF2-40B4-BE49-F238E27FC236}">
                  <a16:creationId xmlns:a16="http://schemas.microsoft.com/office/drawing/2014/main" id="{3EFC89B9-BFDE-3989-E7D4-B3DF382206F2}"/>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0FF9071E-99B6-1B52-5B16-4B4A61DF8F57}"/>
                </a:ext>
              </a:extLst>
            </p:cNvPr>
            <p:cNvSpPr txBox="1"/>
            <p:nvPr/>
          </p:nvSpPr>
          <p:spPr>
            <a:xfrm>
              <a:off x="1371601" y="3351369"/>
              <a:ext cx="1478290" cy="369332"/>
            </a:xfrm>
            <a:prstGeom prst="rect">
              <a:avLst/>
            </a:prstGeom>
            <a:noFill/>
          </p:spPr>
          <p:txBody>
            <a:bodyPr wrap="none" rtlCol="0">
              <a:spAutoFit/>
            </a:bodyPr>
            <a:lstStyle/>
            <a:p>
              <a:r>
                <a:rPr lang="en-US" b="1" dirty="0"/>
                <a:t>Duplicates</a:t>
              </a:r>
              <a:endParaRPr lang="en-US" dirty="0"/>
            </a:p>
          </p:txBody>
        </p:sp>
      </p:grpSp>
      <p:sp>
        <p:nvSpPr>
          <p:cNvPr id="27" name="TextBox 26">
            <a:extLst>
              <a:ext uri="{FF2B5EF4-FFF2-40B4-BE49-F238E27FC236}">
                <a16:creationId xmlns:a16="http://schemas.microsoft.com/office/drawing/2014/main" id="{03BEF29C-5663-3A22-3F62-9CECCB8C6649}"/>
              </a:ext>
            </a:extLst>
          </p:cNvPr>
          <p:cNvSpPr txBox="1"/>
          <p:nvPr/>
        </p:nvSpPr>
        <p:spPr>
          <a:xfrm>
            <a:off x="651971" y="4331858"/>
            <a:ext cx="465192" cy="338554"/>
          </a:xfrm>
          <a:prstGeom prst="rect">
            <a:avLst/>
          </a:prstGeom>
          <a:noFill/>
        </p:spPr>
        <p:txBody>
          <a:bodyPr wrap="none" rtlCol="0">
            <a:spAutoFit/>
          </a:bodyPr>
          <a:lstStyle/>
          <a:p>
            <a:r>
              <a:rPr lang="en-US" sz="1600" b="1" dirty="0"/>
              <a:t>04</a:t>
            </a:r>
          </a:p>
        </p:txBody>
      </p:sp>
      <p:pic>
        <p:nvPicPr>
          <p:cNvPr id="6146" name="Picture 2" descr="Data Cleaning: Definition, Techniques &amp; Best Practices">
            <a:extLst>
              <a:ext uri="{FF2B5EF4-FFF2-40B4-BE49-F238E27FC236}">
                <a16:creationId xmlns:a16="http://schemas.microsoft.com/office/drawing/2014/main" id="{54084FE3-1EEF-841A-F7AF-E5CA7B5685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8990" y="1446883"/>
            <a:ext cx="5512193" cy="3806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1035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D100D-568E-8C1A-7741-3846EC14880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D57F852-0A08-41FB-4285-2A0A816395E3}"/>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5098FAD8-0F90-7ABE-7659-A502B37E6852}"/>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F2C6E31D-05AF-EE0E-0DE8-8FB17767F2F1}"/>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Mis-match data </a:t>
            </a:r>
            <a:r>
              <a:rPr lang="it-IT" sz="3200" b="1" dirty="0" err="1">
                <a:latin typeface="Montserrat Black" pitchFamily="2" charset="0"/>
                <a:ea typeface="Open Sans" panose="020B0606030504020204" pitchFamily="34" charset="0"/>
                <a:cs typeface="Poppins" panose="00000500000000000000" pitchFamily="2" charset="0"/>
              </a:rPr>
              <a:t>types</a:t>
            </a:r>
            <a:endParaRPr lang="it-IT" sz="3200" b="1" dirty="0">
              <a:latin typeface="Montserrat Black" pitchFamily="2" charset="0"/>
              <a:ea typeface="Open Sans" panose="020B0606030504020204" pitchFamily="34" charset="0"/>
              <a:cs typeface="Poppins" panose="00000500000000000000" pitchFamily="2" charset="0"/>
            </a:endParaRPr>
          </a:p>
        </p:txBody>
      </p:sp>
      <p:sp>
        <p:nvSpPr>
          <p:cNvPr id="6" name="TextBox 5">
            <a:extLst>
              <a:ext uri="{FF2B5EF4-FFF2-40B4-BE49-F238E27FC236}">
                <a16:creationId xmlns:a16="http://schemas.microsoft.com/office/drawing/2014/main" id="{177A9257-B1BC-4FD3-154E-A470D2C766AB}"/>
              </a:ext>
            </a:extLst>
          </p:cNvPr>
          <p:cNvSpPr txBox="1"/>
          <p:nvPr/>
        </p:nvSpPr>
        <p:spPr>
          <a:xfrm>
            <a:off x="509123" y="246742"/>
            <a:ext cx="2390398"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Cleaning</a:t>
            </a:r>
            <a:endParaRPr lang="fr-FR" sz="2400" dirty="0">
              <a:latin typeface="Montserrat" pitchFamily="2" charset="0"/>
            </a:endParaRPr>
          </a:p>
        </p:txBody>
      </p:sp>
      <p:sp>
        <p:nvSpPr>
          <p:cNvPr id="2" name="Rectangle 1">
            <a:extLst>
              <a:ext uri="{FF2B5EF4-FFF2-40B4-BE49-F238E27FC236}">
                <a16:creationId xmlns:a16="http://schemas.microsoft.com/office/drawing/2014/main" id="{D2A39C6F-0E3A-92E8-4051-9B2754100B94}"/>
              </a:ext>
            </a:extLst>
          </p:cNvPr>
          <p:cNvSpPr/>
          <p:nvPr/>
        </p:nvSpPr>
        <p:spPr>
          <a:xfrm>
            <a:off x="8229600" y="0"/>
            <a:ext cx="2908300" cy="638175"/>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B5F2A42-09A7-509C-9F56-3D2EE12637BD}"/>
              </a:ext>
            </a:extLst>
          </p:cNvPr>
          <p:cNvSpPr txBox="1"/>
          <p:nvPr/>
        </p:nvSpPr>
        <p:spPr>
          <a:xfrm>
            <a:off x="802862" y="1698142"/>
            <a:ext cx="10785757" cy="4247317"/>
          </a:xfrm>
          <a:prstGeom prst="rect">
            <a:avLst/>
          </a:prstGeom>
          <a:noFill/>
        </p:spPr>
        <p:txBody>
          <a:bodyPr wrap="square">
            <a:spAutoFit/>
          </a:bodyPr>
          <a:lstStyle/>
          <a:p>
            <a:r>
              <a:rPr lang="en-US" b="1" dirty="0"/>
              <a:t>January 1, 2024 </a:t>
            </a:r>
            <a:r>
              <a:rPr lang="en-US" dirty="0"/>
              <a:t>(US, informal)</a:t>
            </a:r>
          </a:p>
          <a:p>
            <a:r>
              <a:rPr lang="en-US" b="1" dirty="0"/>
              <a:t>1 January 2024 </a:t>
            </a:r>
            <a:r>
              <a:rPr lang="en-US" dirty="0"/>
              <a:t>(UK, formal)</a:t>
            </a:r>
          </a:p>
          <a:p>
            <a:r>
              <a:rPr lang="en-US" b="1" dirty="0"/>
              <a:t>01/01/2024 </a:t>
            </a:r>
            <a:r>
              <a:rPr lang="en-US" dirty="0"/>
              <a:t>(MM/DD/YYYY, common in the US)</a:t>
            </a:r>
          </a:p>
          <a:p>
            <a:r>
              <a:rPr lang="en-US" b="1" dirty="0"/>
              <a:t>1/1/2024</a:t>
            </a:r>
            <a:r>
              <a:rPr lang="en-US" dirty="0"/>
              <a:t> (M/D/YYYY, US, less formal)</a:t>
            </a:r>
          </a:p>
          <a:p>
            <a:r>
              <a:rPr lang="en-US" b="1" dirty="0"/>
              <a:t>01-01-2024</a:t>
            </a:r>
            <a:r>
              <a:rPr lang="en-US" dirty="0"/>
              <a:t> (DD-MM-YYYY, common in many parts of the world)</a:t>
            </a:r>
          </a:p>
          <a:p>
            <a:r>
              <a:rPr lang="en-US" b="1" dirty="0"/>
              <a:t>2024-01-01</a:t>
            </a:r>
            <a:r>
              <a:rPr lang="en-US" dirty="0"/>
              <a:t> (YYYY-MM-DD, ISO 8601 standard, widely used in international contexts)</a:t>
            </a:r>
          </a:p>
          <a:p>
            <a:r>
              <a:rPr lang="en-US" b="1" dirty="0"/>
              <a:t>20240101 </a:t>
            </a:r>
            <a:r>
              <a:rPr lang="en-US" dirty="0"/>
              <a:t>(YYYYMMDD, compact form, often used in technical fields)</a:t>
            </a:r>
          </a:p>
          <a:p>
            <a:r>
              <a:rPr lang="en-US" b="1" dirty="0"/>
              <a:t>1st January 2024 </a:t>
            </a:r>
            <a:r>
              <a:rPr lang="en-US" dirty="0"/>
              <a:t>(Day Month Year, more formal, UK)</a:t>
            </a:r>
          </a:p>
          <a:p>
            <a:r>
              <a:rPr lang="en-US" b="1" dirty="0"/>
              <a:t>Jan 1, 2024 </a:t>
            </a:r>
            <a:r>
              <a:rPr lang="en-US" dirty="0"/>
              <a:t>(Abbreviated month, US informal)</a:t>
            </a:r>
          </a:p>
          <a:p>
            <a:r>
              <a:rPr lang="en-US" b="1" dirty="0"/>
              <a:t>1 Jan 2024 </a:t>
            </a:r>
            <a:r>
              <a:rPr lang="en-US" dirty="0"/>
              <a:t>(Day Abbreviated Month Year, less formal, international usage)</a:t>
            </a:r>
          </a:p>
          <a:p>
            <a:r>
              <a:rPr lang="en-US" b="1" dirty="0"/>
              <a:t>01 Jan '24 </a:t>
            </a:r>
            <a:r>
              <a:rPr lang="en-US" dirty="0"/>
              <a:t>(DD MMM 'YY, informal, with abbreviated year)</a:t>
            </a:r>
          </a:p>
          <a:p>
            <a:r>
              <a:rPr lang="en-US" b="1" dirty="0"/>
              <a:t>2024年01月01日 </a:t>
            </a:r>
            <a:r>
              <a:rPr lang="en-US" dirty="0"/>
              <a:t>(Year Month Day, East Asian format, particularly in China and Japan)</a:t>
            </a:r>
          </a:p>
          <a:p>
            <a:r>
              <a:rPr lang="en-US" b="1" dirty="0"/>
              <a:t>01.01.2024</a:t>
            </a:r>
            <a:r>
              <a:rPr lang="en-US" dirty="0"/>
              <a:t> (DD.MM.YYYY, common in many European countries)</a:t>
            </a:r>
          </a:p>
          <a:p>
            <a:r>
              <a:rPr lang="en-US" b="1" dirty="0"/>
              <a:t>01/01/24</a:t>
            </a:r>
            <a:r>
              <a:rPr lang="en-US" dirty="0"/>
              <a:t> (MM/DD/YY, less formal, US)</a:t>
            </a:r>
          </a:p>
          <a:p>
            <a:r>
              <a:rPr lang="en-US" b="1" dirty="0"/>
              <a:t>January 1st, 2024 </a:t>
            </a:r>
            <a:r>
              <a:rPr lang="en-US" dirty="0"/>
              <a:t>(Month </a:t>
            </a:r>
            <a:r>
              <a:rPr lang="en-US" dirty="0" err="1"/>
              <a:t>Dayth</a:t>
            </a:r>
            <a:r>
              <a:rPr lang="en-US" dirty="0"/>
              <a:t>, Year, US, more formal)</a:t>
            </a:r>
          </a:p>
        </p:txBody>
      </p:sp>
    </p:spTree>
    <p:extLst>
      <p:ext uri="{BB962C8B-B14F-4D97-AF65-F5344CB8AC3E}">
        <p14:creationId xmlns:p14="http://schemas.microsoft.com/office/powerpoint/2010/main" val="1102081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8">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8">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870F9-B371-FF0A-876C-13FF3DEFE81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3C6A936-F4A5-0D1C-1E4E-FFC716C421ED}"/>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C76AA813-EAD9-9915-D9FE-1E540FB06813}"/>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EB603324-002C-F5C2-D4CA-FB869E4050F5}"/>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Mis-match data </a:t>
            </a:r>
            <a:r>
              <a:rPr lang="it-IT" sz="3200" b="1" dirty="0" err="1">
                <a:latin typeface="Montserrat Black" pitchFamily="2" charset="0"/>
                <a:ea typeface="Open Sans" panose="020B0606030504020204" pitchFamily="34" charset="0"/>
                <a:cs typeface="Poppins" panose="00000500000000000000" pitchFamily="2" charset="0"/>
              </a:rPr>
              <a:t>types</a:t>
            </a:r>
            <a:endParaRPr lang="it-IT" sz="3200" b="1" dirty="0">
              <a:latin typeface="Montserrat Black" pitchFamily="2" charset="0"/>
              <a:ea typeface="Open Sans" panose="020B0606030504020204" pitchFamily="34" charset="0"/>
              <a:cs typeface="Poppins" panose="00000500000000000000" pitchFamily="2" charset="0"/>
            </a:endParaRPr>
          </a:p>
        </p:txBody>
      </p:sp>
      <p:sp>
        <p:nvSpPr>
          <p:cNvPr id="6" name="TextBox 5">
            <a:extLst>
              <a:ext uri="{FF2B5EF4-FFF2-40B4-BE49-F238E27FC236}">
                <a16:creationId xmlns:a16="http://schemas.microsoft.com/office/drawing/2014/main" id="{F193C54D-7B12-61CA-8FA4-F1A45F172997}"/>
              </a:ext>
            </a:extLst>
          </p:cNvPr>
          <p:cNvSpPr txBox="1"/>
          <p:nvPr/>
        </p:nvSpPr>
        <p:spPr>
          <a:xfrm>
            <a:off x="509123" y="246742"/>
            <a:ext cx="2342308"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cleaning</a:t>
            </a:r>
            <a:endParaRPr lang="fr-FR" sz="2400" dirty="0">
              <a:latin typeface="Montserrat" pitchFamily="2" charset="0"/>
            </a:endParaRPr>
          </a:p>
        </p:txBody>
      </p:sp>
      <p:sp>
        <p:nvSpPr>
          <p:cNvPr id="2" name="Rectangle 1">
            <a:extLst>
              <a:ext uri="{FF2B5EF4-FFF2-40B4-BE49-F238E27FC236}">
                <a16:creationId xmlns:a16="http://schemas.microsoft.com/office/drawing/2014/main" id="{FC55FAAA-0172-F145-8FB7-ACB30749D315}"/>
              </a:ext>
            </a:extLst>
          </p:cNvPr>
          <p:cNvSpPr/>
          <p:nvPr/>
        </p:nvSpPr>
        <p:spPr>
          <a:xfrm>
            <a:off x="8229600" y="0"/>
            <a:ext cx="2908300" cy="638175"/>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0AB72CD7-CA89-52C8-2D03-95F79B343053}"/>
              </a:ext>
            </a:extLst>
          </p:cNvPr>
          <p:cNvSpPr txBox="1"/>
          <p:nvPr/>
        </p:nvSpPr>
        <p:spPr>
          <a:xfrm>
            <a:off x="264318" y="1288755"/>
            <a:ext cx="11927682" cy="4801314"/>
          </a:xfrm>
          <a:prstGeom prst="rect">
            <a:avLst/>
          </a:prstGeom>
          <a:noFill/>
        </p:spPr>
        <p:txBody>
          <a:bodyPr wrap="square">
            <a:spAutoFit/>
          </a:bodyPr>
          <a:lstStyle/>
          <a:p>
            <a:r>
              <a:rPr lang="en-US" b="1" dirty="0"/>
              <a:t>$25.23 </a:t>
            </a:r>
            <a:r>
              <a:rPr lang="en-US" dirty="0"/>
              <a:t>(Standard US format)</a:t>
            </a:r>
          </a:p>
          <a:p>
            <a:r>
              <a:rPr lang="en-US" b="1" dirty="0"/>
              <a:t>25.23 USD </a:t>
            </a:r>
            <a:r>
              <a:rPr lang="en-US" dirty="0"/>
              <a:t>(International format, specifying the currency code)</a:t>
            </a:r>
          </a:p>
          <a:p>
            <a:r>
              <a:rPr lang="en-US" b="1" dirty="0"/>
              <a:t>US$25.23 </a:t>
            </a:r>
            <a:r>
              <a:rPr lang="en-US" dirty="0"/>
              <a:t>(International usage, distinguishing US dollars from other dollar currencies)</a:t>
            </a:r>
          </a:p>
          <a:p>
            <a:r>
              <a:rPr lang="en-US" b="1" dirty="0"/>
              <a:t>Twenty-five dollars and twenty-three cents </a:t>
            </a:r>
            <a:r>
              <a:rPr lang="en-US" dirty="0"/>
              <a:t>(US, in words)</a:t>
            </a:r>
          </a:p>
          <a:p>
            <a:r>
              <a:rPr lang="en-US" b="1" dirty="0"/>
              <a:t>$25 and 23 cents </a:t>
            </a:r>
            <a:r>
              <a:rPr lang="en-US" dirty="0"/>
              <a:t>(Less formal, in words)</a:t>
            </a:r>
          </a:p>
          <a:p>
            <a:r>
              <a:rPr lang="en-US" b="1" dirty="0"/>
              <a:t>25 dollars 23 cents </a:t>
            </a:r>
            <a:r>
              <a:rPr lang="en-US" dirty="0"/>
              <a:t>(Informal, without symbols)</a:t>
            </a:r>
          </a:p>
          <a:p>
            <a:r>
              <a:rPr lang="en-US" b="1" dirty="0"/>
              <a:t>$25,23 </a:t>
            </a:r>
            <a:r>
              <a:rPr lang="en-US" dirty="0"/>
              <a:t>(In countries where a comma is used as a decimal separator)</a:t>
            </a:r>
          </a:p>
          <a:p>
            <a:r>
              <a:rPr lang="en-US" b="1" dirty="0"/>
              <a:t>25 USD 23¢ </a:t>
            </a:r>
            <a:r>
              <a:rPr lang="en-US" dirty="0"/>
              <a:t>(Using currency code and cent symbol)</a:t>
            </a:r>
          </a:p>
          <a:p>
            <a:r>
              <a:rPr lang="en-US" b="1" dirty="0"/>
              <a:t>$25 23/100 </a:t>
            </a:r>
            <a:r>
              <a:rPr lang="en-US" dirty="0"/>
              <a:t>(On checks, where cents are written as a fraction)</a:t>
            </a:r>
          </a:p>
          <a:p>
            <a:r>
              <a:rPr lang="en-US" b="1" dirty="0"/>
              <a:t>25.23$ </a:t>
            </a:r>
            <a:r>
              <a:rPr lang="en-US" dirty="0"/>
              <a:t>(Less common, with the dollar sign following the amount)</a:t>
            </a:r>
          </a:p>
          <a:p>
            <a:r>
              <a:rPr lang="en-US" b="1" dirty="0"/>
              <a:t>25,23 dollars </a:t>
            </a:r>
            <a:r>
              <a:rPr lang="en-US" dirty="0"/>
              <a:t>(Informal, especially in non-English speaking countries where comma is used </a:t>
            </a:r>
            <a:r>
              <a:rPr lang="en-US" dirty="0" err="1"/>
              <a:t>asdecimal</a:t>
            </a:r>
            <a:r>
              <a:rPr lang="en-US" dirty="0"/>
              <a:t>)</a:t>
            </a:r>
          </a:p>
          <a:p>
            <a:r>
              <a:rPr lang="en-US" b="1" dirty="0"/>
              <a:t>USD 25.23 </a:t>
            </a:r>
            <a:r>
              <a:rPr lang="en-US" dirty="0"/>
              <a:t>(Formal, currency code leading)</a:t>
            </a:r>
          </a:p>
          <a:p>
            <a:r>
              <a:rPr lang="en-US" b="1" dirty="0"/>
              <a:t>$0025.23 </a:t>
            </a:r>
            <a:r>
              <a:rPr lang="en-US" dirty="0"/>
              <a:t>(Technical or electronic formats where leading zeros might be used)</a:t>
            </a:r>
          </a:p>
          <a:p>
            <a:r>
              <a:rPr lang="en-US" b="1" dirty="0"/>
              <a:t>Twenty-five dollars and twenty-three cents exactly </a:t>
            </a:r>
            <a:r>
              <a:rPr lang="en-US" dirty="0"/>
              <a:t>(For legal or formal documents, spelled out in words)</a:t>
            </a:r>
          </a:p>
          <a:p>
            <a:r>
              <a:rPr lang="en-US" b="1" dirty="0"/>
              <a:t>25.2300 dollars </a:t>
            </a:r>
            <a:r>
              <a:rPr lang="en-US" dirty="0"/>
              <a:t>(With additional decimal places, possibly used in financial or accounting contexts to denote precision)</a:t>
            </a:r>
          </a:p>
        </p:txBody>
      </p:sp>
    </p:spTree>
    <p:extLst>
      <p:ext uri="{BB962C8B-B14F-4D97-AF65-F5344CB8AC3E}">
        <p14:creationId xmlns:p14="http://schemas.microsoft.com/office/powerpoint/2010/main" val="209499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8">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8">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1AFE1-E20C-0E77-F2A1-5656F1234EB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AD04B80-5057-0231-BB0E-E47B60F01F16}"/>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1E748405-83A1-976B-C53A-1064F983DF67}"/>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6EE02966-E7CE-9F8A-A854-50390EAE6479}"/>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MISSING DATA</a:t>
            </a:r>
          </a:p>
        </p:txBody>
      </p:sp>
      <p:sp>
        <p:nvSpPr>
          <p:cNvPr id="6" name="TextBox 5">
            <a:extLst>
              <a:ext uri="{FF2B5EF4-FFF2-40B4-BE49-F238E27FC236}">
                <a16:creationId xmlns:a16="http://schemas.microsoft.com/office/drawing/2014/main" id="{7C5E8A69-12D3-9F6E-CC57-E71720B90196}"/>
              </a:ext>
            </a:extLst>
          </p:cNvPr>
          <p:cNvSpPr txBox="1"/>
          <p:nvPr/>
        </p:nvSpPr>
        <p:spPr>
          <a:xfrm>
            <a:off x="509123" y="246742"/>
            <a:ext cx="2342308"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cleaning</a:t>
            </a:r>
            <a:endParaRPr lang="fr-FR" sz="2400" dirty="0">
              <a:latin typeface="Montserrat" pitchFamily="2" charset="0"/>
            </a:endParaRPr>
          </a:p>
        </p:txBody>
      </p:sp>
      <p:sp>
        <p:nvSpPr>
          <p:cNvPr id="2" name="Rectangle 1">
            <a:extLst>
              <a:ext uri="{FF2B5EF4-FFF2-40B4-BE49-F238E27FC236}">
                <a16:creationId xmlns:a16="http://schemas.microsoft.com/office/drawing/2014/main" id="{DC2C3AD7-AFBB-B5F0-527A-4C071549CA4F}"/>
              </a:ext>
            </a:extLst>
          </p:cNvPr>
          <p:cNvSpPr/>
          <p:nvPr/>
        </p:nvSpPr>
        <p:spPr>
          <a:xfrm>
            <a:off x="8229600" y="0"/>
            <a:ext cx="2908300" cy="638175"/>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D678FF19-AA79-25E6-68CF-7EF0D3F46E8E}"/>
              </a:ext>
            </a:extLst>
          </p:cNvPr>
          <p:cNvGrpSpPr/>
          <p:nvPr/>
        </p:nvGrpSpPr>
        <p:grpSpPr>
          <a:xfrm>
            <a:off x="1459729" y="1991259"/>
            <a:ext cx="2852169" cy="533230"/>
            <a:chOff x="629305" y="1478619"/>
            <a:chExt cx="2852169" cy="533230"/>
          </a:xfrm>
        </p:grpSpPr>
        <p:sp>
          <p:nvSpPr>
            <p:cNvPr id="12" name="Flowchart: Connector 11">
              <a:extLst>
                <a:ext uri="{FF2B5EF4-FFF2-40B4-BE49-F238E27FC236}">
                  <a16:creationId xmlns:a16="http://schemas.microsoft.com/office/drawing/2014/main" id="{0D66287A-C228-8F4A-A906-E4E25CB6B240}"/>
                </a:ext>
              </a:extLst>
            </p:cNvPr>
            <p:cNvSpPr/>
            <p:nvPr/>
          </p:nvSpPr>
          <p:spPr>
            <a:xfrm>
              <a:off x="629305" y="1478619"/>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2D11DB5D-0DF2-751B-C5FB-C9AD123EE3DE}"/>
                </a:ext>
              </a:extLst>
            </p:cNvPr>
            <p:cNvSpPr txBox="1"/>
            <p:nvPr/>
          </p:nvSpPr>
          <p:spPr>
            <a:xfrm>
              <a:off x="1371601" y="1539465"/>
              <a:ext cx="2109873" cy="369332"/>
            </a:xfrm>
            <a:prstGeom prst="rect">
              <a:avLst/>
            </a:prstGeom>
            <a:noFill/>
          </p:spPr>
          <p:txBody>
            <a:bodyPr wrap="none" rtlCol="0">
              <a:spAutoFit/>
            </a:bodyPr>
            <a:lstStyle/>
            <a:p>
              <a:r>
                <a:rPr lang="en-US" b="1" dirty="0"/>
                <a:t>Delete the rows</a:t>
              </a:r>
              <a:endParaRPr lang="en-US" dirty="0"/>
            </a:p>
          </p:txBody>
        </p:sp>
      </p:grpSp>
      <p:grpSp>
        <p:nvGrpSpPr>
          <p:cNvPr id="14" name="Group 13">
            <a:extLst>
              <a:ext uri="{FF2B5EF4-FFF2-40B4-BE49-F238E27FC236}">
                <a16:creationId xmlns:a16="http://schemas.microsoft.com/office/drawing/2014/main" id="{08817087-DC90-C995-2E51-86C3EBDAB5F1}"/>
              </a:ext>
            </a:extLst>
          </p:cNvPr>
          <p:cNvGrpSpPr/>
          <p:nvPr/>
        </p:nvGrpSpPr>
        <p:grpSpPr>
          <a:xfrm>
            <a:off x="1459729" y="2844225"/>
            <a:ext cx="3823589" cy="533230"/>
            <a:chOff x="629305" y="2444877"/>
            <a:chExt cx="3823589" cy="533230"/>
          </a:xfrm>
        </p:grpSpPr>
        <p:sp>
          <p:nvSpPr>
            <p:cNvPr id="15" name="Flowchart: Connector 14">
              <a:extLst>
                <a:ext uri="{FF2B5EF4-FFF2-40B4-BE49-F238E27FC236}">
                  <a16:creationId xmlns:a16="http://schemas.microsoft.com/office/drawing/2014/main" id="{345D7530-D172-C20A-9A3F-1BEC5A757FDD}"/>
                </a:ext>
              </a:extLst>
            </p:cNvPr>
            <p:cNvSpPr/>
            <p:nvPr/>
          </p:nvSpPr>
          <p:spPr>
            <a:xfrm>
              <a:off x="629305" y="2444877"/>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13097515-C19B-A827-E384-B3BB2AC37F87}"/>
                </a:ext>
              </a:extLst>
            </p:cNvPr>
            <p:cNvSpPr txBox="1"/>
            <p:nvPr/>
          </p:nvSpPr>
          <p:spPr>
            <a:xfrm>
              <a:off x="1371601" y="2533916"/>
              <a:ext cx="3081293" cy="369332"/>
            </a:xfrm>
            <a:prstGeom prst="rect">
              <a:avLst/>
            </a:prstGeom>
            <a:noFill/>
          </p:spPr>
          <p:txBody>
            <a:bodyPr wrap="none" rtlCol="0">
              <a:spAutoFit/>
            </a:bodyPr>
            <a:lstStyle/>
            <a:p>
              <a:r>
                <a:rPr lang="en-US" b="1" dirty="0"/>
                <a:t>Enter the average value</a:t>
              </a:r>
              <a:endParaRPr lang="en-US" dirty="0"/>
            </a:p>
          </p:txBody>
        </p:sp>
      </p:grpSp>
      <p:grpSp>
        <p:nvGrpSpPr>
          <p:cNvPr id="17" name="Group 16">
            <a:extLst>
              <a:ext uri="{FF2B5EF4-FFF2-40B4-BE49-F238E27FC236}">
                <a16:creationId xmlns:a16="http://schemas.microsoft.com/office/drawing/2014/main" id="{B157B019-DEC4-0827-A72C-B4008E1F1801}"/>
              </a:ext>
            </a:extLst>
          </p:cNvPr>
          <p:cNvGrpSpPr/>
          <p:nvPr/>
        </p:nvGrpSpPr>
        <p:grpSpPr>
          <a:xfrm>
            <a:off x="1459729" y="3719623"/>
            <a:ext cx="4139380" cy="533230"/>
            <a:chOff x="629305" y="3265901"/>
            <a:chExt cx="4139380" cy="533230"/>
          </a:xfrm>
        </p:grpSpPr>
        <p:sp>
          <p:nvSpPr>
            <p:cNvPr id="18" name="Flowchart: Connector 17">
              <a:extLst>
                <a:ext uri="{FF2B5EF4-FFF2-40B4-BE49-F238E27FC236}">
                  <a16:creationId xmlns:a16="http://schemas.microsoft.com/office/drawing/2014/main" id="{6F4B186A-3608-C94D-5110-0B70277EFAB8}"/>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40769A11-E38C-4BF6-3515-5FC6C1CAFE03}"/>
                </a:ext>
              </a:extLst>
            </p:cNvPr>
            <p:cNvSpPr txBox="1"/>
            <p:nvPr/>
          </p:nvSpPr>
          <p:spPr>
            <a:xfrm>
              <a:off x="1371601" y="3351369"/>
              <a:ext cx="3397084" cy="369332"/>
            </a:xfrm>
            <a:prstGeom prst="rect">
              <a:avLst/>
            </a:prstGeom>
            <a:noFill/>
          </p:spPr>
          <p:txBody>
            <a:bodyPr wrap="none" rtlCol="0">
              <a:spAutoFit/>
            </a:bodyPr>
            <a:lstStyle/>
            <a:p>
              <a:r>
                <a:rPr lang="en-US" b="1" dirty="0"/>
                <a:t>Enter most probable value</a:t>
              </a:r>
              <a:endParaRPr lang="en-US" dirty="0"/>
            </a:p>
          </p:txBody>
        </p:sp>
      </p:grpSp>
      <p:sp>
        <p:nvSpPr>
          <p:cNvPr id="20" name="TextBox 19">
            <a:extLst>
              <a:ext uri="{FF2B5EF4-FFF2-40B4-BE49-F238E27FC236}">
                <a16:creationId xmlns:a16="http://schemas.microsoft.com/office/drawing/2014/main" id="{934696EE-BB9A-67C0-032B-7DA68999A1B8}"/>
              </a:ext>
            </a:extLst>
          </p:cNvPr>
          <p:cNvSpPr txBox="1"/>
          <p:nvPr/>
        </p:nvSpPr>
        <p:spPr>
          <a:xfrm>
            <a:off x="1510580" y="2082883"/>
            <a:ext cx="404278" cy="338554"/>
          </a:xfrm>
          <a:prstGeom prst="rect">
            <a:avLst/>
          </a:prstGeom>
          <a:noFill/>
        </p:spPr>
        <p:txBody>
          <a:bodyPr wrap="none" rtlCol="0">
            <a:spAutoFit/>
          </a:bodyPr>
          <a:lstStyle/>
          <a:p>
            <a:r>
              <a:rPr lang="en-US" sz="1600" b="1" dirty="0"/>
              <a:t>01</a:t>
            </a:r>
          </a:p>
        </p:txBody>
      </p:sp>
      <p:sp>
        <p:nvSpPr>
          <p:cNvPr id="21" name="TextBox 20">
            <a:extLst>
              <a:ext uri="{FF2B5EF4-FFF2-40B4-BE49-F238E27FC236}">
                <a16:creationId xmlns:a16="http://schemas.microsoft.com/office/drawing/2014/main" id="{4C697539-EC1C-CAC6-F342-6068845A62D1}"/>
              </a:ext>
            </a:extLst>
          </p:cNvPr>
          <p:cNvSpPr txBox="1"/>
          <p:nvPr/>
        </p:nvSpPr>
        <p:spPr>
          <a:xfrm>
            <a:off x="1501054" y="2942894"/>
            <a:ext cx="445956" cy="338554"/>
          </a:xfrm>
          <a:prstGeom prst="rect">
            <a:avLst/>
          </a:prstGeom>
          <a:noFill/>
        </p:spPr>
        <p:txBody>
          <a:bodyPr wrap="none" rtlCol="0">
            <a:spAutoFit/>
          </a:bodyPr>
          <a:lstStyle/>
          <a:p>
            <a:r>
              <a:rPr lang="en-US" sz="1600" b="1" dirty="0"/>
              <a:t>02</a:t>
            </a:r>
          </a:p>
        </p:txBody>
      </p:sp>
      <p:sp>
        <p:nvSpPr>
          <p:cNvPr id="22" name="TextBox 21">
            <a:extLst>
              <a:ext uri="{FF2B5EF4-FFF2-40B4-BE49-F238E27FC236}">
                <a16:creationId xmlns:a16="http://schemas.microsoft.com/office/drawing/2014/main" id="{1AE66D7C-2DAE-DDA6-35A2-87D8ECAE561F}"/>
              </a:ext>
            </a:extLst>
          </p:cNvPr>
          <p:cNvSpPr txBox="1"/>
          <p:nvPr/>
        </p:nvSpPr>
        <p:spPr>
          <a:xfrm>
            <a:off x="1501056" y="3816584"/>
            <a:ext cx="445956" cy="338554"/>
          </a:xfrm>
          <a:prstGeom prst="rect">
            <a:avLst/>
          </a:prstGeom>
          <a:noFill/>
        </p:spPr>
        <p:txBody>
          <a:bodyPr wrap="none" rtlCol="0">
            <a:spAutoFit/>
          </a:bodyPr>
          <a:lstStyle/>
          <a:p>
            <a:r>
              <a:rPr lang="en-US" sz="1600" b="1" dirty="0"/>
              <a:t>03</a:t>
            </a:r>
          </a:p>
        </p:txBody>
      </p:sp>
      <p:grpSp>
        <p:nvGrpSpPr>
          <p:cNvPr id="23" name="Group 22">
            <a:extLst>
              <a:ext uri="{FF2B5EF4-FFF2-40B4-BE49-F238E27FC236}">
                <a16:creationId xmlns:a16="http://schemas.microsoft.com/office/drawing/2014/main" id="{41701097-5C53-6F24-4E5B-44ABAD72A9AA}"/>
              </a:ext>
            </a:extLst>
          </p:cNvPr>
          <p:cNvGrpSpPr/>
          <p:nvPr/>
        </p:nvGrpSpPr>
        <p:grpSpPr>
          <a:xfrm>
            <a:off x="1459729" y="4632440"/>
            <a:ext cx="4224339" cy="731799"/>
            <a:chOff x="629305" y="3265901"/>
            <a:chExt cx="4224339" cy="731799"/>
          </a:xfrm>
        </p:grpSpPr>
        <p:sp>
          <p:nvSpPr>
            <p:cNvPr id="24" name="Flowchart: Connector 23">
              <a:extLst>
                <a:ext uri="{FF2B5EF4-FFF2-40B4-BE49-F238E27FC236}">
                  <a16:creationId xmlns:a16="http://schemas.microsoft.com/office/drawing/2014/main" id="{B2C528FA-06E0-E586-765B-E99F6E478E20}"/>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2C68BBF6-537A-96AA-F736-58562BB990FB}"/>
                </a:ext>
              </a:extLst>
            </p:cNvPr>
            <p:cNvSpPr txBox="1"/>
            <p:nvPr/>
          </p:nvSpPr>
          <p:spPr>
            <a:xfrm>
              <a:off x="1371601" y="3351369"/>
              <a:ext cx="3482043" cy="646331"/>
            </a:xfrm>
            <a:prstGeom prst="rect">
              <a:avLst/>
            </a:prstGeom>
            <a:noFill/>
          </p:spPr>
          <p:txBody>
            <a:bodyPr wrap="none" rtlCol="0">
              <a:spAutoFit/>
            </a:bodyPr>
            <a:lstStyle/>
            <a:p>
              <a:r>
                <a:rPr lang="en-US" b="1" dirty="0"/>
                <a:t>Enter code for empty value</a:t>
              </a:r>
            </a:p>
            <a:p>
              <a:r>
                <a:rPr lang="en-US" b="1" dirty="0"/>
                <a:t>to ignore these values</a:t>
              </a:r>
              <a:endParaRPr lang="en-US" dirty="0"/>
            </a:p>
          </p:txBody>
        </p:sp>
      </p:grpSp>
      <p:sp>
        <p:nvSpPr>
          <p:cNvPr id="26" name="TextBox 25">
            <a:extLst>
              <a:ext uri="{FF2B5EF4-FFF2-40B4-BE49-F238E27FC236}">
                <a16:creationId xmlns:a16="http://schemas.microsoft.com/office/drawing/2014/main" id="{BE1D7A0A-7281-F66B-2AAC-081BAD428899}"/>
              </a:ext>
            </a:extLst>
          </p:cNvPr>
          <p:cNvSpPr txBox="1"/>
          <p:nvPr/>
        </p:nvSpPr>
        <p:spPr>
          <a:xfrm>
            <a:off x="1501056" y="4729401"/>
            <a:ext cx="465192" cy="338554"/>
          </a:xfrm>
          <a:prstGeom prst="rect">
            <a:avLst/>
          </a:prstGeom>
          <a:noFill/>
        </p:spPr>
        <p:txBody>
          <a:bodyPr wrap="none" rtlCol="0">
            <a:spAutoFit/>
          </a:bodyPr>
          <a:lstStyle/>
          <a:p>
            <a:r>
              <a:rPr lang="en-US" sz="1600" b="1" dirty="0"/>
              <a:t>04</a:t>
            </a:r>
          </a:p>
        </p:txBody>
      </p:sp>
      <p:sp>
        <p:nvSpPr>
          <p:cNvPr id="27" name="TextBox 26">
            <a:extLst>
              <a:ext uri="{FF2B5EF4-FFF2-40B4-BE49-F238E27FC236}">
                <a16:creationId xmlns:a16="http://schemas.microsoft.com/office/drawing/2014/main" id="{DC027CE7-FC21-AFCE-3BD3-98A4DAA9E2D2}"/>
              </a:ext>
            </a:extLst>
          </p:cNvPr>
          <p:cNvSpPr txBox="1"/>
          <p:nvPr/>
        </p:nvSpPr>
        <p:spPr>
          <a:xfrm>
            <a:off x="6403910" y="2070137"/>
            <a:ext cx="3494867" cy="369332"/>
          </a:xfrm>
          <a:prstGeom prst="rect">
            <a:avLst/>
          </a:prstGeom>
          <a:noFill/>
        </p:spPr>
        <p:txBody>
          <a:bodyPr wrap="none" rtlCol="0">
            <a:spAutoFit/>
          </a:bodyPr>
          <a:lstStyle/>
          <a:p>
            <a:r>
              <a:rPr lang="en-US" b="1" dirty="0"/>
              <a:t>How will this effect things?</a:t>
            </a:r>
            <a:endParaRPr lang="en-US" dirty="0"/>
          </a:p>
        </p:txBody>
      </p:sp>
      <p:sp>
        <p:nvSpPr>
          <p:cNvPr id="29" name="TextBox 28">
            <a:extLst>
              <a:ext uri="{FF2B5EF4-FFF2-40B4-BE49-F238E27FC236}">
                <a16:creationId xmlns:a16="http://schemas.microsoft.com/office/drawing/2014/main" id="{2642D303-EA4C-607E-DE33-44636E42E367}"/>
              </a:ext>
            </a:extLst>
          </p:cNvPr>
          <p:cNvSpPr txBox="1"/>
          <p:nvPr/>
        </p:nvSpPr>
        <p:spPr>
          <a:xfrm>
            <a:off x="6403909" y="2914759"/>
            <a:ext cx="3494867" cy="369332"/>
          </a:xfrm>
          <a:prstGeom prst="rect">
            <a:avLst/>
          </a:prstGeom>
          <a:noFill/>
        </p:spPr>
        <p:txBody>
          <a:bodyPr wrap="none" rtlCol="0">
            <a:spAutoFit/>
          </a:bodyPr>
          <a:lstStyle/>
          <a:p>
            <a:r>
              <a:rPr lang="en-US" b="1" dirty="0"/>
              <a:t>How will this effect things?</a:t>
            </a:r>
            <a:endParaRPr lang="en-US" dirty="0"/>
          </a:p>
        </p:txBody>
      </p:sp>
      <p:sp>
        <p:nvSpPr>
          <p:cNvPr id="30" name="TextBox 29">
            <a:extLst>
              <a:ext uri="{FF2B5EF4-FFF2-40B4-BE49-F238E27FC236}">
                <a16:creationId xmlns:a16="http://schemas.microsoft.com/office/drawing/2014/main" id="{EACF9BB1-D666-F81D-1620-CECEE8F3BE2C}"/>
              </a:ext>
            </a:extLst>
          </p:cNvPr>
          <p:cNvSpPr txBox="1"/>
          <p:nvPr/>
        </p:nvSpPr>
        <p:spPr>
          <a:xfrm>
            <a:off x="6403909" y="3819227"/>
            <a:ext cx="3494867" cy="369332"/>
          </a:xfrm>
          <a:prstGeom prst="rect">
            <a:avLst/>
          </a:prstGeom>
          <a:noFill/>
        </p:spPr>
        <p:txBody>
          <a:bodyPr wrap="none" rtlCol="0">
            <a:spAutoFit/>
          </a:bodyPr>
          <a:lstStyle/>
          <a:p>
            <a:r>
              <a:rPr lang="en-US" b="1" dirty="0"/>
              <a:t>How will this effect things?</a:t>
            </a:r>
            <a:endParaRPr lang="en-US" dirty="0"/>
          </a:p>
        </p:txBody>
      </p:sp>
      <p:sp>
        <p:nvSpPr>
          <p:cNvPr id="31" name="TextBox 30">
            <a:extLst>
              <a:ext uri="{FF2B5EF4-FFF2-40B4-BE49-F238E27FC236}">
                <a16:creationId xmlns:a16="http://schemas.microsoft.com/office/drawing/2014/main" id="{6AC0583A-832F-EDE9-C8FC-C91780DE8E64}"/>
              </a:ext>
            </a:extLst>
          </p:cNvPr>
          <p:cNvSpPr txBox="1"/>
          <p:nvPr/>
        </p:nvSpPr>
        <p:spPr>
          <a:xfrm>
            <a:off x="6403908" y="4699023"/>
            <a:ext cx="3494867" cy="369332"/>
          </a:xfrm>
          <a:prstGeom prst="rect">
            <a:avLst/>
          </a:prstGeom>
          <a:noFill/>
        </p:spPr>
        <p:txBody>
          <a:bodyPr wrap="none" rtlCol="0">
            <a:spAutoFit/>
          </a:bodyPr>
          <a:lstStyle/>
          <a:p>
            <a:r>
              <a:rPr lang="en-US" b="1" dirty="0"/>
              <a:t>How will this effect things?</a:t>
            </a:r>
            <a:endParaRPr lang="en-US" dirty="0"/>
          </a:p>
        </p:txBody>
      </p:sp>
      <p:grpSp>
        <p:nvGrpSpPr>
          <p:cNvPr id="28" name="Group 27">
            <a:extLst>
              <a:ext uri="{FF2B5EF4-FFF2-40B4-BE49-F238E27FC236}">
                <a16:creationId xmlns:a16="http://schemas.microsoft.com/office/drawing/2014/main" id="{42DAB441-6FDB-DCCF-F2AC-2EF8F9319A90}"/>
              </a:ext>
            </a:extLst>
          </p:cNvPr>
          <p:cNvGrpSpPr/>
          <p:nvPr/>
        </p:nvGrpSpPr>
        <p:grpSpPr>
          <a:xfrm>
            <a:off x="1459729" y="5603491"/>
            <a:ext cx="2853771" cy="533230"/>
            <a:chOff x="629305" y="3265901"/>
            <a:chExt cx="2853771" cy="533230"/>
          </a:xfrm>
        </p:grpSpPr>
        <p:sp>
          <p:nvSpPr>
            <p:cNvPr id="32" name="Flowchart: Connector 31">
              <a:extLst>
                <a:ext uri="{FF2B5EF4-FFF2-40B4-BE49-F238E27FC236}">
                  <a16:creationId xmlns:a16="http://schemas.microsoft.com/office/drawing/2014/main" id="{09D06E98-93B2-B4A2-CBBC-952A686AF13D}"/>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42B5BD99-9A01-85B5-B1D5-C661ADEF628F}"/>
                </a:ext>
              </a:extLst>
            </p:cNvPr>
            <p:cNvSpPr txBox="1"/>
            <p:nvPr/>
          </p:nvSpPr>
          <p:spPr>
            <a:xfrm>
              <a:off x="1371601" y="3351369"/>
              <a:ext cx="2111475" cy="369332"/>
            </a:xfrm>
            <a:prstGeom prst="rect">
              <a:avLst/>
            </a:prstGeom>
            <a:noFill/>
          </p:spPr>
          <p:txBody>
            <a:bodyPr wrap="none" rtlCol="0">
              <a:spAutoFit/>
            </a:bodyPr>
            <a:lstStyle/>
            <a:p>
              <a:r>
                <a:rPr lang="en-US" b="1" dirty="0"/>
                <a:t>Data simulation</a:t>
              </a:r>
              <a:endParaRPr lang="en-US" dirty="0"/>
            </a:p>
          </p:txBody>
        </p:sp>
      </p:grpSp>
      <p:sp>
        <p:nvSpPr>
          <p:cNvPr id="34" name="TextBox 33">
            <a:extLst>
              <a:ext uri="{FF2B5EF4-FFF2-40B4-BE49-F238E27FC236}">
                <a16:creationId xmlns:a16="http://schemas.microsoft.com/office/drawing/2014/main" id="{5FD252B1-74EE-6E6D-142B-43BD34FDF715}"/>
              </a:ext>
            </a:extLst>
          </p:cNvPr>
          <p:cNvSpPr txBox="1"/>
          <p:nvPr/>
        </p:nvSpPr>
        <p:spPr>
          <a:xfrm>
            <a:off x="1501056" y="5700452"/>
            <a:ext cx="445956" cy="338554"/>
          </a:xfrm>
          <a:prstGeom prst="rect">
            <a:avLst/>
          </a:prstGeom>
          <a:noFill/>
        </p:spPr>
        <p:txBody>
          <a:bodyPr wrap="none" rtlCol="0">
            <a:spAutoFit/>
          </a:bodyPr>
          <a:lstStyle/>
          <a:p>
            <a:r>
              <a:rPr lang="en-US" sz="1600" b="1" dirty="0"/>
              <a:t>05</a:t>
            </a:r>
          </a:p>
        </p:txBody>
      </p:sp>
      <p:sp>
        <p:nvSpPr>
          <p:cNvPr id="35" name="TextBox 34">
            <a:extLst>
              <a:ext uri="{FF2B5EF4-FFF2-40B4-BE49-F238E27FC236}">
                <a16:creationId xmlns:a16="http://schemas.microsoft.com/office/drawing/2014/main" id="{A42B9832-A81E-E13C-7A41-810E63EE9F06}"/>
              </a:ext>
            </a:extLst>
          </p:cNvPr>
          <p:cNvSpPr txBox="1"/>
          <p:nvPr/>
        </p:nvSpPr>
        <p:spPr>
          <a:xfrm>
            <a:off x="6403908" y="5670074"/>
            <a:ext cx="3494867" cy="369332"/>
          </a:xfrm>
          <a:prstGeom prst="rect">
            <a:avLst/>
          </a:prstGeom>
          <a:noFill/>
        </p:spPr>
        <p:txBody>
          <a:bodyPr wrap="none" rtlCol="0">
            <a:spAutoFit/>
          </a:bodyPr>
          <a:lstStyle/>
          <a:p>
            <a:r>
              <a:rPr lang="en-US" b="1" dirty="0"/>
              <a:t>How will this effect things?</a:t>
            </a:r>
            <a:endParaRPr lang="en-US" dirty="0"/>
          </a:p>
        </p:txBody>
      </p:sp>
    </p:spTree>
    <p:extLst>
      <p:ext uri="{BB962C8B-B14F-4D97-AF65-F5344CB8AC3E}">
        <p14:creationId xmlns:p14="http://schemas.microsoft.com/office/powerpoint/2010/main" val="1062580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P spid="30" grpId="0"/>
      <p:bldP spid="31" grpId="0"/>
      <p:bldP spid="3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C8087-C2DD-20AA-81E3-CEE25552E77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478FDE9-31DB-8023-15C7-A84FBAEC4A4F}"/>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8439AE6D-DB71-B664-4DEB-9B7FA04D7181}"/>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02772AFD-83DA-EEC3-76D0-8415113F6821}"/>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MISSING VALUES</a:t>
            </a:r>
          </a:p>
        </p:txBody>
      </p:sp>
      <p:sp>
        <p:nvSpPr>
          <p:cNvPr id="6" name="TextBox 5">
            <a:extLst>
              <a:ext uri="{FF2B5EF4-FFF2-40B4-BE49-F238E27FC236}">
                <a16:creationId xmlns:a16="http://schemas.microsoft.com/office/drawing/2014/main" id="{5B9D3884-B654-AB3C-EA94-9177F71C0DB6}"/>
              </a:ext>
            </a:extLst>
          </p:cNvPr>
          <p:cNvSpPr txBox="1"/>
          <p:nvPr/>
        </p:nvSpPr>
        <p:spPr>
          <a:xfrm>
            <a:off x="509123" y="246742"/>
            <a:ext cx="4230645"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pre-processing</a:t>
            </a:r>
            <a:r>
              <a:rPr lang="fr-FR" sz="2400" dirty="0">
                <a:latin typeface="Montserrat" pitchFamily="2" charset="0"/>
              </a:rPr>
              <a:t> </a:t>
            </a:r>
            <a:r>
              <a:rPr lang="fr-FR" sz="2400" dirty="0" err="1">
                <a:latin typeface="Montserrat" pitchFamily="2" charset="0"/>
              </a:rPr>
              <a:t>steps</a:t>
            </a:r>
            <a:endParaRPr lang="fr-FR" sz="2400" dirty="0">
              <a:latin typeface="Montserrat" pitchFamily="2" charset="0"/>
            </a:endParaRPr>
          </a:p>
        </p:txBody>
      </p:sp>
      <p:sp>
        <p:nvSpPr>
          <p:cNvPr id="32" name="TextBox 31">
            <a:extLst>
              <a:ext uri="{FF2B5EF4-FFF2-40B4-BE49-F238E27FC236}">
                <a16:creationId xmlns:a16="http://schemas.microsoft.com/office/drawing/2014/main" id="{63CF7DD7-E977-27D5-4B53-F58BA21D7D08}"/>
              </a:ext>
            </a:extLst>
          </p:cNvPr>
          <p:cNvSpPr txBox="1"/>
          <p:nvPr/>
        </p:nvSpPr>
        <p:spPr>
          <a:xfrm>
            <a:off x="1637222" y="1875500"/>
            <a:ext cx="8917556" cy="3877087"/>
          </a:xfrm>
          <a:prstGeom prst="rect">
            <a:avLst/>
          </a:prstGeom>
          <a:solidFill>
            <a:schemeClr val="tx1"/>
          </a:solidFill>
        </p:spPr>
        <p:txBody>
          <a:bodyPr wrap="square">
            <a:spAutoFit/>
          </a:bodyPr>
          <a:lstStyle/>
          <a:p>
            <a:pPr>
              <a:lnSpc>
                <a:spcPts val="1425"/>
              </a:lnSpc>
            </a:pPr>
            <a:r>
              <a:rPr lang="en-US" b="0" i="1" dirty="0">
                <a:solidFill>
                  <a:srgbClr val="83D6C5"/>
                </a:solidFill>
                <a:effectLst/>
                <a:latin typeface="Consolas" panose="020B0609020204030204" pitchFamily="49" charset="0"/>
              </a:rPr>
              <a:t>import</a:t>
            </a:r>
            <a:r>
              <a:rPr lang="en-US" b="0" dirty="0">
                <a:solidFill>
                  <a:srgbClr val="D8DEE9"/>
                </a:solidFill>
                <a:effectLst/>
                <a:latin typeface="Consolas" panose="020B0609020204030204" pitchFamily="49" charset="0"/>
              </a:rPr>
              <a:t> </a:t>
            </a:r>
            <a:r>
              <a:rPr lang="en-US" b="0" dirty="0" err="1">
                <a:solidFill>
                  <a:srgbClr val="D1D1D1"/>
                </a:solidFill>
                <a:effectLst/>
                <a:latin typeface="Consolas" panose="020B0609020204030204" pitchFamily="49" charset="0"/>
              </a:rPr>
              <a:t>numpy</a:t>
            </a:r>
            <a:r>
              <a:rPr lang="en-US" b="0" dirty="0">
                <a:solidFill>
                  <a:srgbClr val="D8DEE9"/>
                </a:solidFill>
                <a:effectLst/>
                <a:latin typeface="Consolas" panose="020B0609020204030204" pitchFamily="49" charset="0"/>
              </a:rPr>
              <a:t> </a:t>
            </a:r>
            <a:r>
              <a:rPr lang="en-US" b="0" i="1" dirty="0">
                <a:solidFill>
                  <a:srgbClr val="83D6C5"/>
                </a:solidFill>
                <a:effectLst/>
                <a:latin typeface="Consolas" panose="020B0609020204030204" pitchFamily="49" charset="0"/>
              </a:rPr>
              <a:t>as</a:t>
            </a:r>
            <a:r>
              <a:rPr lang="en-US" b="0" dirty="0">
                <a:solidFill>
                  <a:srgbClr val="D8DEE9"/>
                </a:solidFill>
                <a:effectLst/>
                <a:latin typeface="Consolas" panose="020B0609020204030204" pitchFamily="49" charset="0"/>
              </a:rPr>
              <a:t> </a:t>
            </a:r>
            <a:r>
              <a:rPr lang="en-US" b="0" dirty="0">
                <a:solidFill>
                  <a:srgbClr val="D1D1D1"/>
                </a:solidFill>
                <a:effectLst/>
                <a:latin typeface="Consolas" panose="020B0609020204030204" pitchFamily="49" charset="0"/>
              </a:rPr>
              <a:t>np</a:t>
            </a:r>
            <a:endParaRPr lang="en-US" b="0" dirty="0">
              <a:solidFill>
                <a:srgbClr val="D8DEE9"/>
              </a:solidFill>
              <a:effectLst/>
              <a:latin typeface="Consolas" panose="020B0609020204030204" pitchFamily="49" charset="0"/>
            </a:endParaRPr>
          </a:p>
          <a:p>
            <a:pPr>
              <a:lnSpc>
                <a:spcPts val="1425"/>
              </a:lnSpc>
            </a:pPr>
            <a:r>
              <a:rPr lang="en-US" b="0" i="1" dirty="0">
                <a:solidFill>
                  <a:srgbClr val="83D6C5"/>
                </a:solidFill>
                <a:effectLst/>
                <a:latin typeface="Consolas" panose="020B0609020204030204" pitchFamily="49" charset="0"/>
              </a:rPr>
              <a:t>import</a:t>
            </a:r>
            <a:r>
              <a:rPr lang="en-US" b="0" dirty="0">
                <a:solidFill>
                  <a:srgbClr val="D8DEE9"/>
                </a:solidFill>
                <a:effectLst/>
                <a:latin typeface="Consolas" panose="020B0609020204030204" pitchFamily="49" charset="0"/>
              </a:rPr>
              <a:t> </a:t>
            </a:r>
            <a:r>
              <a:rPr lang="en-US" b="0" dirty="0">
                <a:solidFill>
                  <a:srgbClr val="D1D1D1"/>
                </a:solidFill>
                <a:effectLst/>
                <a:latin typeface="Consolas" panose="020B0609020204030204" pitchFamily="49" charset="0"/>
              </a:rPr>
              <a:t>pandas</a:t>
            </a:r>
            <a:r>
              <a:rPr lang="en-US" b="0" dirty="0">
                <a:solidFill>
                  <a:srgbClr val="D8DEE9"/>
                </a:solidFill>
                <a:effectLst/>
                <a:latin typeface="Consolas" panose="020B0609020204030204" pitchFamily="49" charset="0"/>
              </a:rPr>
              <a:t> </a:t>
            </a:r>
            <a:r>
              <a:rPr lang="en-US" b="0" i="1" dirty="0">
                <a:solidFill>
                  <a:srgbClr val="83D6C5"/>
                </a:solidFill>
                <a:effectLst/>
                <a:latin typeface="Consolas" panose="020B0609020204030204" pitchFamily="49" charset="0"/>
              </a:rPr>
              <a:t>as</a:t>
            </a:r>
            <a:r>
              <a:rPr lang="en-US" b="0" dirty="0">
                <a:solidFill>
                  <a:srgbClr val="D8DEE9"/>
                </a:solidFill>
                <a:effectLst/>
                <a:latin typeface="Consolas" panose="020B0609020204030204" pitchFamily="49" charset="0"/>
              </a:rPr>
              <a:t> </a:t>
            </a:r>
            <a:r>
              <a:rPr lang="en-US" b="0" dirty="0">
                <a:solidFill>
                  <a:srgbClr val="D1D1D1"/>
                </a:solidFill>
                <a:effectLst/>
                <a:latin typeface="Consolas" panose="020B0609020204030204" pitchFamily="49" charset="0"/>
              </a:rPr>
              <a:t>pd</a:t>
            </a:r>
            <a:br>
              <a:rPr lang="en-US" b="0" dirty="0">
                <a:solidFill>
                  <a:srgbClr val="D8DEE9"/>
                </a:solidFill>
                <a:effectLst/>
                <a:latin typeface="Consolas" panose="020B0609020204030204" pitchFamily="49" charset="0"/>
              </a:rPr>
            </a:br>
            <a:r>
              <a:rPr lang="en-US" b="0" i="1" dirty="0">
                <a:solidFill>
                  <a:srgbClr val="6D6D6D"/>
                </a:solidFill>
                <a:effectLst/>
                <a:latin typeface="Consolas" panose="020B0609020204030204" pitchFamily="49" charset="0"/>
              </a:rPr>
              <a:t># Set seed for reproducibility</a:t>
            </a:r>
            <a:endParaRPr lang="en-US" b="0" dirty="0">
              <a:solidFill>
                <a:srgbClr val="D8DEE9"/>
              </a:solidFill>
              <a:effectLst/>
              <a:latin typeface="Consolas" panose="020B0609020204030204" pitchFamily="49" charset="0"/>
            </a:endParaRPr>
          </a:p>
          <a:p>
            <a:pPr>
              <a:lnSpc>
                <a:spcPts val="1425"/>
              </a:lnSpc>
            </a:pPr>
            <a:r>
              <a:rPr lang="en-US" b="0" dirty="0" err="1">
                <a:solidFill>
                  <a:srgbClr val="D1D1D1"/>
                </a:solidFill>
                <a:effectLst/>
                <a:latin typeface="Consolas" panose="020B0609020204030204" pitchFamily="49" charset="0"/>
              </a:rPr>
              <a:t>np</a:t>
            </a:r>
            <a:r>
              <a:rPr lang="en-US" b="0" dirty="0" err="1">
                <a:solidFill>
                  <a:srgbClr val="D6D6DD"/>
                </a:solidFill>
                <a:effectLst/>
                <a:latin typeface="Consolas" panose="020B0609020204030204" pitchFamily="49" charset="0"/>
              </a:rPr>
              <a:t>.</a:t>
            </a:r>
            <a:r>
              <a:rPr lang="en-US" b="0" dirty="0" err="1">
                <a:solidFill>
                  <a:srgbClr val="D1D1D1"/>
                </a:solidFill>
                <a:effectLst/>
                <a:latin typeface="Consolas" panose="020B0609020204030204" pitchFamily="49" charset="0"/>
              </a:rPr>
              <a:t>random</a:t>
            </a:r>
            <a:r>
              <a:rPr lang="en-US" b="0" dirty="0" err="1">
                <a:solidFill>
                  <a:srgbClr val="D6D6DD"/>
                </a:solidFill>
                <a:effectLst/>
                <a:latin typeface="Consolas" panose="020B0609020204030204" pitchFamily="49" charset="0"/>
              </a:rPr>
              <a:t>.</a:t>
            </a:r>
            <a:r>
              <a:rPr lang="en-US" b="0" dirty="0" err="1">
                <a:solidFill>
                  <a:srgbClr val="AA9BF5"/>
                </a:solidFill>
                <a:effectLst/>
                <a:latin typeface="Consolas" panose="020B0609020204030204" pitchFamily="49" charset="0"/>
              </a:rPr>
              <a:t>seed</a:t>
            </a:r>
            <a:r>
              <a:rPr lang="en-US" b="0" dirty="0">
                <a:solidFill>
                  <a:srgbClr val="D6D6DD"/>
                </a:solidFill>
                <a:effectLst/>
                <a:latin typeface="Consolas" panose="020B0609020204030204" pitchFamily="49" charset="0"/>
              </a:rPr>
              <a:t>(</a:t>
            </a:r>
            <a:r>
              <a:rPr lang="en-US" b="0" dirty="0">
                <a:solidFill>
                  <a:srgbClr val="EBC88D"/>
                </a:solidFill>
                <a:effectLst/>
                <a:latin typeface="Consolas" panose="020B0609020204030204" pitchFamily="49" charset="0"/>
              </a:rPr>
              <a:t>42</a:t>
            </a:r>
            <a:r>
              <a:rPr lang="en-US" b="0" dirty="0">
                <a:solidFill>
                  <a:srgbClr val="D6D6DD"/>
                </a:solidFill>
                <a:effectLst/>
                <a:latin typeface="Consolas" panose="020B0609020204030204" pitchFamily="49" charset="0"/>
              </a:rPr>
              <a:t>)</a:t>
            </a:r>
            <a:endParaRPr lang="en-US" b="0" dirty="0">
              <a:solidFill>
                <a:srgbClr val="D8DEE9"/>
              </a:solidFill>
              <a:effectLst/>
              <a:latin typeface="Consolas" panose="020B0609020204030204" pitchFamily="49" charset="0"/>
            </a:endParaRPr>
          </a:p>
          <a:p>
            <a:pPr>
              <a:lnSpc>
                <a:spcPts val="1425"/>
              </a:lnSpc>
            </a:pPr>
            <a:br>
              <a:rPr lang="en-US" b="0" dirty="0">
                <a:solidFill>
                  <a:srgbClr val="D8DEE9"/>
                </a:solidFill>
                <a:effectLst/>
                <a:latin typeface="Consolas" panose="020B0609020204030204" pitchFamily="49" charset="0"/>
              </a:rPr>
            </a:br>
            <a:r>
              <a:rPr lang="en-US" b="0" i="1" dirty="0">
                <a:solidFill>
                  <a:srgbClr val="6D6D6D"/>
                </a:solidFill>
                <a:effectLst/>
                <a:latin typeface="Consolas" panose="020B0609020204030204" pitchFamily="49" charset="0"/>
              </a:rPr>
              <a:t># Generate a normal distribution</a:t>
            </a:r>
            <a:endParaRPr lang="en-US" b="0" dirty="0">
              <a:solidFill>
                <a:srgbClr val="D8DEE9"/>
              </a:solidFill>
              <a:effectLst/>
              <a:latin typeface="Consolas" panose="020B0609020204030204" pitchFamily="49" charset="0"/>
            </a:endParaRPr>
          </a:p>
          <a:p>
            <a:pPr>
              <a:lnSpc>
                <a:spcPts val="1425"/>
              </a:lnSpc>
            </a:pPr>
            <a:r>
              <a:rPr lang="en-US" b="0" dirty="0" err="1">
                <a:solidFill>
                  <a:srgbClr val="94C1FA"/>
                </a:solidFill>
                <a:effectLst/>
                <a:latin typeface="Consolas" panose="020B0609020204030204" pitchFamily="49" charset="0"/>
              </a:rPr>
              <a:t>full_data</a:t>
            </a:r>
            <a:r>
              <a:rPr lang="en-US" b="0" dirty="0">
                <a:solidFill>
                  <a:srgbClr val="D8DEE9"/>
                </a:solidFill>
                <a:effectLst/>
                <a:latin typeface="Consolas" panose="020B0609020204030204" pitchFamily="49" charset="0"/>
              </a:rPr>
              <a:t> </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dirty="0" err="1">
                <a:solidFill>
                  <a:srgbClr val="D1D1D1"/>
                </a:solidFill>
                <a:effectLst/>
                <a:latin typeface="Consolas" panose="020B0609020204030204" pitchFamily="49" charset="0"/>
              </a:rPr>
              <a:t>np</a:t>
            </a:r>
            <a:r>
              <a:rPr lang="en-US" b="0" dirty="0" err="1">
                <a:solidFill>
                  <a:srgbClr val="D6D6DD"/>
                </a:solidFill>
                <a:effectLst/>
                <a:latin typeface="Consolas" panose="020B0609020204030204" pitchFamily="49" charset="0"/>
              </a:rPr>
              <a:t>.</a:t>
            </a:r>
            <a:r>
              <a:rPr lang="en-US" b="0" dirty="0" err="1">
                <a:solidFill>
                  <a:srgbClr val="D1D1D1"/>
                </a:solidFill>
                <a:effectLst/>
                <a:latin typeface="Consolas" panose="020B0609020204030204" pitchFamily="49" charset="0"/>
              </a:rPr>
              <a:t>random</a:t>
            </a:r>
            <a:r>
              <a:rPr lang="en-US" b="0" dirty="0" err="1">
                <a:solidFill>
                  <a:srgbClr val="D6D6DD"/>
                </a:solidFill>
                <a:effectLst/>
                <a:latin typeface="Consolas" panose="020B0609020204030204" pitchFamily="49" charset="0"/>
              </a:rPr>
              <a:t>.</a:t>
            </a:r>
            <a:r>
              <a:rPr lang="en-US" b="0" dirty="0" err="1">
                <a:solidFill>
                  <a:srgbClr val="AA9BF5"/>
                </a:solidFill>
                <a:effectLst/>
                <a:latin typeface="Consolas" panose="020B0609020204030204" pitchFamily="49" charset="0"/>
              </a:rPr>
              <a:t>normal</a:t>
            </a:r>
            <a:r>
              <a:rPr lang="en-US" b="0" dirty="0">
                <a:solidFill>
                  <a:srgbClr val="D6D6DD"/>
                </a:solidFill>
                <a:effectLst/>
                <a:latin typeface="Consolas" panose="020B0609020204030204" pitchFamily="49" charset="0"/>
              </a:rPr>
              <a:t>(</a:t>
            </a:r>
            <a:r>
              <a:rPr lang="en-US" b="0" i="1" dirty="0">
                <a:solidFill>
                  <a:srgbClr val="D6D6DD"/>
                </a:solidFill>
                <a:effectLst/>
                <a:latin typeface="Consolas" panose="020B0609020204030204" pitchFamily="49" charset="0"/>
              </a:rPr>
              <a:t>loc</a:t>
            </a:r>
            <a:r>
              <a:rPr lang="en-US" b="0" dirty="0">
                <a:solidFill>
                  <a:srgbClr val="D6D6DD"/>
                </a:solidFill>
                <a:effectLst/>
                <a:latin typeface="Consolas" panose="020B0609020204030204" pitchFamily="49" charset="0"/>
              </a:rPr>
              <a:t>=</a:t>
            </a:r>
            <a:r>
              <a:rPr lang="en-US" b="0" dirty="0">
                <a:solidFill>
                  <a:srgbClr val="EBC88D"/>
                </a:solidFill>
                <a:effectLst/>
                <a:latin typeface="Consolas" panose="020B0609020204030204" pitchFamily="49" charset="0"/>
              </a:rPr>
              <a:t>50</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i="1" dirty="0">
                <a:solidFill>
                  <a:srgbClr val="D6D6DD"/>
                </a:solidFill>
                <a:effectLst/>
                <a:latin typeface="Consolas" panose="020B0609020204030204" pitchFamily="49" charset="0"/>
              </a:rPr>
              <a:t>scale</a:t>
            </a:r>
            <a:r>
              <a:rPr lang="en-US" b="0" dirty="0">
                <a:solidFill>
                  <a:srgbClr val="D6D6DD"/>
                </a:solidFill>
                <a:effectLst/>
                <a:latin typeface="Consolas" panose="020B0609020204030204" pitchFamily="49" charset="0"/>
              </a:rPr>
              <a:t>=</a:t>
            </a:r>
            <a:r>
              <a:rPr lang="en-US" b="0" dirty="0">
                <a:solidFill>
                  <a:srgbClr val="EBC88D"/>
                </a:solidFill>
                <a:effectLst/>
                <a:latin typeface="Consolas" panose="020B0609020204030204" pitchFamily="49" charset="0"/>
              </a:rPr>
              <a:t>10</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i="1" dirty="0">
                <a:solidFill>
                  <a:srgbClr val="D6D6DD"/>
                </a:solidFill>
                <a:effectLst/>
                <a:latin typeface="Consolas" panose="020B0609020204030204" pitchFamily="49" charset="0"/>
              </a:rPr>
              <a:t>size</a:t>
            </a:r>
            <a:r>
              <a:rPr lang="en-US" b="0" dirty="0">
                <a:solidFill>
                  <a:srgbClr val="D6D6DD"/>
                </a:solidFill>
                <a:effectLst/>
                <a:latin typeface="Consolas" panose="020B0609020204030204" pitchFamily="49" charset="0"/>
              </a:rPr>
              <a:t>=</a:t>
            </a:r>
            <a:r>
              <a:rPr lang="en-US" b="0" dirty="0">
                <a:solidFill>
                  <a:srgbClr val="EBC88D"/>
                </a:solidFill>
                <a:effectLst/>
                <a:latin typeface="Consolas" panose="020B0609020204030204" pitchFamily="49" charset="0"/>
              </a:rPr>
              <a:t>1000</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i="1" dirty="0">
                <a:solidFill>
                  <a:srgbClr val="6D6D6D"/>
                </a:solidFill>
                <a:effectLst/>
                <a:latin typeface="Consolas" panose="020B0609020204030204" pitchFamily="49" charset="0"/>
              </a:rPr>
              <a:t># Mean=50, Std=10, Sample size=1000</a:t>
            </a:r>
            <a:endParaRPr lang="en-US" b="0" dirty="0">
              <a:solidFill>
                <a:srgbClr val="D8DEE9"/>
              </a:solidFill>
              <a:effectLst/>
              <a:latin typeface="Consolas" panose="020B0609020204030204" pitchFamily="49" charset="0"/>
            </a:endParaRPr>
          </a:p>
          <a:p>
            <a:pPr>
              <a:lnSpc>
                <a:spcPts val="1425"/>
              </a:lnSpc>
            </a:pPr>
            <a:br>
              <a:rPr lang="en-US" b="0" dirty="0">
                <a:solidFill>
                  <a:srgbClr val="D8DEE9"/>
                </a:solidFill>
                <a:effectLst/>
                <a:latin typeface="Consolas" panose="020B0609020204030204" pitchFamily="49" charset="0"/>
              </a:rPr>
            </a:br>
            <a:r>
              <a:rPr lang="en-US" b="0" i="1" dirty="0">
                <a:solidFill>
                  <a:srgbClr val="6D6D6D"/>
                </a:solidFill>
                <a:effectLst/>
                <a:latin typeface="Consolas" panose="020B0609020204030204" pitchFamily="49" charset="0"/>
              </a:rPr>
              <a:t># Introduce missing values (e.g., 40% missing data)</a:t>
            </a:r>
            <a:endParaRPr lang="en-US" b="0" dirty="0">
              <a:solidFill>
                <a:srgbClr val="D8DEE9"/>
              </a:solidFill>
              <a:effectLst/>
              <a:latin typeface="Consolas" panose="020B0609020204030204" pitchFamily="49" charset="0"/>
            </a:endParaRPr>
          </a:p>
          <a:p>
            <a:pPr>
              <a:lnSpc>
                <a:spcPts val="1425"/>
              </a:lnSpc>
            </a:pPr>
            <a:r>
              <a:rPr lang="en-US" b="0" dirty="0" err="1">
                <a:solidFill>
                  <a:srgbClr val="94C1FA"/>
                </a:solidFill>
                <a:effectLst/>
                <a:latin typeface="Consolas" panose="020B0609020204030204" pitchFamily="49" charset="0"/>
              </a:rPr>
              <a:t>missing_mask</a:t>
            </a:r>
            <a:r>
              <a:rPr lang="en-US" b="0" dirty="0">
                <a:solidFill>
                  <a:srgbClr val="D8DEE9"/>
                </a:solidFill>
                <a:effectLst/>
                <a:latin typeface="Consolas" panose="020B0609020204030204" pitchFamily="49" charset="0"/>
              </a:rPr>
              <a:t> </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dirty="0" err="1">
                <a:solidFill>
                  <a:srgbClr val="D1D1D1"/>
                </a:solidFill>
                <a:effectLst/>
                <a:latin typeface="Consolas" panose="020B0609020204030204" pitchFamily="49" charset="0"/>
              </a:rPr>
              <a:t>np</a:t>
            </a:r>
            <a:r>
              <a:rPr lang="en-US" b="0" dirty="0" err="1">
                <a:solidFill>
                  <a:srgbClr val="D6D6DD"/>
                </a:solidFill>
                <a:effectLst/>
                <a:latin typeface="Consolas" panose="020B0609020204030204" pitchFamily="49" charset="0"/>
              </a:rPr>
              <a:t>.</a:t>
            </a:r>
            <a:r>
              <a:rPr lang="en-US" b="0" dirty="0" err="1">
                <a:solidFill>
                  <a:srgbClr val="D1D1D1"/>
                </a:solidFill>
                <a:effectLst/>
                <a:latin typeface="Consolas" panose="020B0609020204030204" pitchFamily="49" charset="0"/>
              </a:rPr>
              <a:t>random</a:t>
            </a:r>
            <a:r>
              <a:rPr lang="en-US" b="0" dirty="0" err="1">
                <a:solidFill>
                  <a:srgbClr val="D6D6DD"/>
                </a:solidFill>
                <a:effectLst/>
                <a:latin typeface="Consolas" panose="020B0609020204030204" pitchFamily="49" charset="0"/>
              </a:rPr>
              <a:t>.</a:t>
            </a:r>
            <a:r>
              <a:rPr lang="en-US" b="0" dirty="0" err="1">
                <a:solidFill>
                  <a:srgbClr val="AA9BF5"/>
                </a:solidFill>
                <a:effectLst/>
                <a:latin typeface="Consolas" panose="020B0609020204030204" pitchFamily="49" charset="0"/>
              </a:rPr>
              <a:t>choice</a:t>
            </a:r>
            <a:r>
              <a:rPr lang="en-US" b="0" dirty="0">
                <a:solidFill>
                  <a:srgbClr val="D6D6DD"/>
                </a:solidFill>
                <a:effectLst/>
                <a:latin typeface="Consolas" panose="020B0609020204030204" pitchFamily="49" charset="0"/>
              </a:rPr>
              <a:t>([</a:t>
            </a:r>
            <a:r>
              <a:rPr lang="en-US" b="0" dirty="0">
                <a:solidFill>
                  <a:srgbClr val="82D2CE"/>
                </a:solidFill>
                <a:effectLst/>
                <a:latin typeface="Consolas" panose="020B0609020204030204" pitchFamily="49" charset="0"/>
              </a:rPr>
              <a:t>True</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dirty="0">
                <a:solidFill>
                  <a:srgbClr val="82D2CE"/>
                </a:solidFill>
                <a:effectLst/>
                <a:latin typeface="Consolas" panose="020B0609020204030204" pitchFamily="49" charset="0"/>
              </a:rPr>
              <a:t>False</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i="1" dirty="0">
                <a:solidFill>
                  <a:srgbClr val="D6D6DD"/>
                </a:solidFill>
                <a:effectLst/>
                <a:latin typeface="Consolas" panose="020B0609020204030204" pitchFamily="49" charset="0"/>
              </a:rPr>
              <a:t>size</a:t>
            </a:r>
            <a:r>
              <a:rPr lang="en-US" b="0" dirty="0">
                <a:solidFill>
                  <a:srgbClr val="D6D6DD"/>
                </a:solidFill>
                <a:effectLst/>
                <a:latin typeface="Consolas" panose="020B0609020204030204" pitchFamily="49" charset="0"/>
              </a:rPr>
              <a:t>=</a:t>
            </a:r>
            <a:r>
              <a:rPr lang="en-US" b="0" dirty="0" err="1">
                <a:solidFill>
                  <a:srgbClr val="94C1FA"/>
                </a:solidFill>
                <a:effectLst/>
                <a:latin typeface="Consolas" panose="020B0609020204030204" pitchFamily="49" charset="0"/>
              </a:rPr>
              <a:t>full_data</a:t>
            </a:r>
            <a:r>
              <a:rPr lang="en-US" b="0" dirty="0" err="1">
                <a:solidFill>
                  <a:srgbClr val="D6D6DD"/>
                </a:solidFill>
                <a:effectLst/>
                <a:latin typeface="Consolas" panose="020B0609020204030204" pitchFamily="49" charset="0"/>
              </a:rPr>
              <a:t>.</a:t>
            </a:r>
            <a:r>
              <a:rPr lang="en-US" b="0" dirty="0" err="1">
                <a:solidFill>
                  <a:srgbClr val="AA9BF5"/>
                </a:solidFill>
                <a:effectLst/>
                <a:latin typeface="Consolas" panose="020B0609020204030204" pitchFamily="49" charset="0"/>
              </a:rPr>
              <a:t>shape</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i="1" dirty="0">
                <a:solidFill>
                  <a:srgbClr val="D6D6DD"/>
                </a:solidFill>
                <a:effectLst/>
                <a:latin typeface="Consolas" panose="020B0609020204030204" pitchFamily="49" charset="0"/>
              </a:rPr>
              <a:t>p</a:t>
            </a:r>
            <a:r>
              <a:rPr lang="en-US" b="0" dirty="0">
                <a:solidFill>
                  <a:srgbClr val="D6D6DD"/>
                </a:solidFill>
                <a:effectLst/>
                <a:latin typeface="Consolas" panose="020B0609020204030204" pitchFamily="49" charset="0"/>
              </a:rPr>
              <a:t>=[</a:t>
            </a:r>
            <a:r>
              <a:rPr lang="en-US" b="0" dirty="0">
                <a:solidFill>
                  <a:srgbClr val="EBC88D"/>
                </a:solidFill>
                <a:effectLst/>
                <a:latin typeface="Consolas" panose="020B0609020204030204" pitchFamily="49" charset="0"/>
              </a:rPr>
              <a:t>0.4</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dirty="0">
                <a:solidFill>
                  <a:srgbClr val="EBC88D"/>
                </a:solidFill>
                <a:effectLst/>
                <a:latin typeface="Consolas" panose="020B0609020204030204" pitchFamily="49" charset="0"/>
              </a:rPr>
              <a:t>0.6</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i="1" dirty="0">
                <a:solidFill>
                  <a:srgbClr val="6D6D6D"/>
                </a:solidFill>
                <a:effectLst/>
                <a:latin typeface="Consolas" panose="020B0609020204030204" pitchFamily="49" charset="0"/>
              </a:rPr>
              <a:t># 40% missing</a:t>
            </a:r>
            <a:endParaRPr lang="en-US" b="0" dirty="0">
              <a:solidFill>
                <a:srgbClr val="D8DEE9"/>
              </a:solidFill>
              <a:effectLst/>
              <a:latin typeface="Consolas" panose="020B0609020204030204" pitchFamily="49" charset="0"/>
            </a:endParaRPr>
          </a:p>
          <a:p>
            <a:pPr>
              <a:lnSpc>
                <a:spcPts val="1425"/>
              </a:lnSpc>
            </a:pPr>
            <a:r>
              <a:rPr lang="en-US" b="0" dirty="0" err="1">
                <a:solidFill>
                  <a:srgbClr val="94C1FA"/>
                </a:solidFill>
                <a:effectLst/>
                <a:latin typeface="Consolas" panose="020B0609020204030204" pitchFamily="49" charset="0"/>
              </a:rPr>
              <a:t>data_with_missing</a:t>
            </a:r>
            <a:r>
              <a:rPr lang="en-US" b="0" dirty="0">
                <a:solidFill>
                  <a:srgbClr val="D8DEE9"/>
                </a:solidFill>
                <a:effectLst/>
                <a:latin typeface="Consolas" panose="020B0609020204030204" pitchFamily="49" charset="0"/>
              </a:rPr>
              <a:t> </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dirty="0" err="1">
                <a:solidFill>
                  <a:srgbClr val="94C1FA"/>
                </a:solidFill>
                <a:effectLst/>
                <a:latin typeface="Consolas" panose="020B0609020204030204" pitchFamily="49" charset="0"/>
              </a:rPr>
              <a:t>full_data</a:t>
            </a:r>
            <a:r>
              <a:rPr lang="en-US" b="0" dirty="0" err="1">
                <a:solidFill>
                  <a:srgbClr val="D6D6DD"/>
                </a:solidFill>
                <a:effectLst/>
                <a:latin typeface="Consolas" panose="020B0609020204030204" pitchFamily="49" charset="0"/>
              </a:rPr>
              <a:t>.</a:t>
            </a:r>
            <a:r>
              <a:rPr lang="en-US" b="0" dirty="0" err="1">
                <a:solidFill>
                  <a:srgbClr val="EBC88D"/>
                </a:solidFill>
                <a:effectLst/>
                <a:latin typeface="Consolas" panose="020B0609020204030204" pitchFamily="49" charset="0"/>
              </a:rPr>
              <a:t>copy</a:t>
            </a:r>
            <a:r>
              <a:rPr lang="en-US" b="0" dirty="0">
                <a:solidFill>
                  <a:srgbClr val="D6D6DD"/>
                </a:solidFill>
                <a:effectLst/>
                <a:latin typeface="Consolas" panose="020B0609020204030204" pitchFamily="49" charset="0"/>
              </a:rPr>
              <a:t>()</a:t>
            </a:r>
            <a:endParaRPr lang="en-US" b="0" dirty="0">
              <a:solidFill>
                <a:srgbClr val="D8DEE9"/>
              </a:solidFill>
              <a:effectLst/>
              <a:latin typeface="Consolas" panose="020B0609020204030204" pitchFamily="49" charset="0"/>
            </a:endParaRPr>
          </a:p>
          <a:p>
            <a:pPr>
              <a:lnSpc>
                <a:spcPts val="1425"/>
              </a:lnSpc>
            </a:pPr>
            <a:r>
              <a:rPr lang="en-US" b="0" dirty="0" err="1">
                <a:solidFill>
                  <a:srgbClr val="94C1FA"/>
                </a:solidFill>
                <a:effectLst/>
                <a:latin typeface="Consolas" panose="020B0609020204030204" pitchFamily="49" charset="0"/>
              </a:rPr>
              <a:t>data_with_missing</a:t>
            </a:r>
            <a:r>
              <a:rPr lang="en-US" b="0" dirty="0">
                <a:solidFill>
                  <a:srgbClr val="D6D6DD"/>
                </a:solidFill>
                <a:effectLst/>
                <a:latin typeface="Consolas" panose="020B0609020204030204" pitchFamily="49" charset="0"/>
              </a:rPr>
              <a:t>[</a:t>
            </a:r>
            <a:r>
              <a:rPr lang="en-US" b="0" dirty="0" err="1">
                <a:solidFill>
                  <a:srgbClr val="94C1FA"/>
                </a:solidFill>
                <a:effectLst/>
                <a:latin typeface="Consolas" panose="020B0609020204030204" pitchFamily="49" charset="0"/>
              </a:rPr>
              <a:t>missing_mask</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dirty="0" err="1">
                <a:solidFill>
                  <a:srgbClr val="D1D1D1"/>
                </a:solidFill>
                <a:effectLst/>
                <a:latin typeface="Consolas" panose="020B0609020204030204" pitchFamily="49" charset="0"/>
              </a:rPr>
              <a:t>np</a:t>
            </a:r>
            <a:r>
              <a:rPr lang="en-US" b="0" dirty="0" err="1">
                <a:solidFill>
                  <a:srgbClr val="D6D6DD"/>
                </a:solidFill>
                <a:effectLst/>
                <a:latin typeface="Consolas" panose="020B0609020204030204" pitchFamily="49" charset="0"/>
              </a:rPr>
              <a:t>.</a:t>
            </a:r>
            <a:r>
              <a:rPr lang="en-US" b="0" dirty="0" err="1">
                <a:solidFill>
                  <a:srgbClr val="AA9BF5"/>
                </a:solidFill>
                <a:effectLst/>
                <a:latin typeface="Consolas" panose="020B0609020204030204" pitchFamily="49" charset="0"/>
              </a:rPr>
              <a:t>nan</a:t>
            </a:r>
            <a:r>
              <a:rPr lang="en-US" b="0" dirty="0">
                <a:solidFill>
                  <a:srgbClr val="D8DEE9"/>
                </a:solidFill>
                <a:effectLst/>
                <a:latin typeface="Consolas" panose="020B0609020204030204" pitchFamily="49" charset="0"/>
              </a:rPr>
              <a:t>  </a:t>
            </a:r>
            <a:r>
              <a:rPr lang="en-US" b="0" i="1" dirty="0">
                <a:solidFill>
                  <a:srgbClr val="6D6D6D"/>
                </a:solidFill>
                <a:effectLst/>
                <a:latin typeface="Consolas" panose="020B0609020204030204" pitchFamily="49" charset="0"/>
              </a:rPr>
              <a:t># Assign </a:t>
            </a:r>
            <a:r>
              <a:rPr lang="en-US" b="0" i="1" dirty="0" err="1">
                <a:solidFill>
                  <a:srgbClr val="6D6D6D"/>
                </a:solidFill>
                <a:effectLst/>
                <a:latin typeface="Consolas" panose="020B0609020204030204" pitchFamily="49" charset="0"/>
              </a:rPr>
              <a:t>NaN</a:t>
            </a:r>
            <a:r>
              <a:rPr lang="en-US" b="0" i="1" dirty="0">
                <a:solidFill>
                  <a:srgbClr val="6D6D6D"/>
                </a:solidFill>
                <a:effectLst/>
                <a:latin typeface="Consolas" panose="020B0609020204030204" pitchFamily="49" charset="0"/>
              </a:rPr>
              <a:t> to missing values</a:t>
            </a:r>
            <a:endParaRPr lang="en-US" b="0" dirty="0">
              <a:solidFill>
                <a:srgbClr val="D8DEE9"/>
              </a:solidFill>
              <a:effectLst/>
              <a:latin typeface="Consolas" panose="020B0609020204030204" pitchFamily="49" charset="0"/>
            </a:endParaRPr>
          </a:p>
          <a:p>
            <a:pPr>
              <a:lnSpc>
                <a:spcPts val="1425"/>
              </a:lnSpc>
            </a:pPr>
            <a:br>
              <a:rPr lang="en-US" b="0" dirty="0">
                <a:solidFill>
                  <a:srgbClr val="D8DEE9"/>
                </a:solidFill>
                <a:effectLst/>
                <a:latin typeface="Consolas" panose="020B0609020204030204" pitchFamily="49" charset="0"/>
              </a:rPr>
            </a:br>
            <a:r>
              <a:rPr lang="en-US" b="0" i="1" dirty="0">
                <a:solidFill>
                  <a:srgbClr val="6D6D6D"/>
                </a:solidFill>
                <a:effectLst/>
                <a:latin typeface="Consolas" panose="020B0609020204030204" pitchFamily="49" charset="0"/>
              </a:rPr>
              <a:t># Convert to </a:t>
            </a:r>
            <a:r>
              <a:rPr lang="en-US" b="0" i="1" dirty="0" err="1">
                <a:solidFill>
                  <a:srgbClr val="6D6D6D"/>
                </a:solidFill>
                <a:effectLst/>
                <a:latin typeface="Consolas" panose="020B0609020204030204" pitchFamily="49" charset="0"/>
              </a:rPr>
              <a:t>DataFrame</a:t>
            </a:r>
            <a:endParaRPr lang="en-US" b="0" dirty="0">
              <a:solidFill>
                <a:srgbClr val="D8DEE9"/>
              </a:solidFill>
              <a:effectLst/>
              <a:latin typeface="Consolas" panose="020B0609020204030204" pitchFamily="49" charset="0"/>
            </a:endParaRPr>
          </a:p>
          <a:p>
            <a:pPr>
              <a:lnSpc>
                <a:spcPts val="1425"/>
              </a:lnSpc>
            </a:pPr>
            <a:r>
              <a:rPr lang="en-US" b="0" dirty="0" err="1">
                <a:solidFill>
                  <a:srgbClr val="94C1FA"/>
                </a:solidFill>
                <a:effectLst/>
                <a:latin typeface="Consolas" panose="020B0609020204030204" pitchFamily="49" charset="0"/>
              </a:rPr>
              <a:t>df_missing</a:t>
            </a:r>
            <a:r>
              <a:rPr lang="en-US" b="0" dirty="0">
                <a:solidFill>
                  <a:srgbClr val="D8DEE9"/>
                </a:solidFill>
                <a:effectLst/>
                <a:latin typeface="Consolas" panose="020B0609020204030204" pitchFamily="49" charset="0"/>
              </a:rPr>
              <a:t> </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dirty="0" err="1">
                <a:solidFill>
                  <a:srgbClr val="D1D1D1"/>
                </a:solidFill>
                <a:effectLst/>
                <a:latin typeface="Consolas" panose="020B0609020204030204" pitchFamily="49" charset="0"/>
              </a:rPr>
              <a:t>pd</a:t>
            </a:r>
            <a:r>
              <a:rPr lang="en-US" b="0" dirty="0" err="1">
                <a:solidFill>
                  <a:srgbClr val="D6D6DD"/>
                </a:solidFill>
                <a:effectLst/>
                <a:latin typeface="Consolas" panose="020B0609020204030204" pitchFamily="49" charset="0"/>
              </a:rPr>
              <a:t>.</a:t>
            </a:r>
            <a:r>
              <a:rPr lang="en-US" b="0" dirty="0" err="1">
                <a:solidFill>
                  <a:srgbClr val="EBC88D"/>
                </a:solidFill>
                <a:effectLst/>
                <a:latin typeface="Consolas" panose="020B0609020204030204" pitchFamily="49" charset="0"/>
              </a:rPr>
              <a:t>DataFrame</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a:t>
            </a:r>
            <a:r>
              <a:rPr lang="en-US" b="0" dirty="0">
                <a:solidFill>
                  <a:srgbClr val="E394DC"/>
                </a:solidFill>
                <a:effectLst/>
                <a:latin typeface="Consolas" panose="020B0609020204030204" pitchFamily="49" charset="0"/>
              </a:rPr>
              <a:t>"Values"</a:t>
            </a:r>
            <a:r>
              <a:rPr lang="en-US" b="0" dirty="0">
                <a:solidFill>
                  <a:srgbClr val="D8DEE9"/>
                </a:solidFill>
                <a:effectLst/>
                <a:latin typeface="Consolas" panose="020B0609020204030204" pitchFamily="49" charset="0"/>
              </a:rPr>
              <a:t>: </a:t>
            </a:r>
            <a:r>
              <a:rPr lang="en-US" b="0" dirty="0" err="1">
                <a:solidFill>
                  <a:srgbClr val="94C1FA"/>
                </a:solidFill>
                <a:effectLst/>
                <a:latin typeface="Consolas" panose="020B0609020204030204" pitchFamily="49" charset="0"/>
              </a:rPr>
              <a:t>data_with_missing</a:t>
            </a:r>
            <a:r>
              <a:rPr lang="en-US" b="0" dirty="0">
                <a:solidFill>
                  <a:srgbClr val="D8DEE9"/>
                </a:solidFill>
                <a:effectLst/>
                <a:latin typeface="Consolas" panose="020B0609020204030204" pitchFamily="49" charset="0"/>
              </a:rPr>
              <a:t>}</a:t>
            </a:r>
            <a:r>
              <a:rPr lang="en-US" b="0" dirty="0">
                <a:solidFill>
                  <a:srgbClr val="D6D6DD"/>
                </a:solidFill>
                <a:effectLst/>
                <a:latin typeface="Consolas" panose="020B0609020204030204" pitchFamily="49" charset="0"/>
              </a:rPr>
              <a:t>)</a:t>
            </a:r>
            <a:endParaRPr lang="en-US" b="0" dirty="0">
              <a:solidFill>
                <a:srgbClr val="D8DEE9"/>
              </a:solidFill>
              <a:effectLst/>
              <a:latin typeface="Consolas" panose="020B0609020204030204" pitchFamily="49" charset="0"/>
            </a:endParaRPr>
          </a:p>
          <a:p>
            <a:pPr>
              <a:lnSpc>
                <a:spcPts val="1425"/>
              </a:lnSpc>
            </a:pPr>
            <a:br>
              <a:rPr lang="en-US" b="0" dirty="0">
                <a:solidFill>
                  <a:srgbClr val="D8DEE9"/>
                </a:solidFill>
                <a:effectLst/>
                <a:latin typeface="Consolas" panose="020B0609020204030204" pitchFamily="49" charset="0"/>
              </a:rPr>
            </a:br>
            <a:r>
              <a:rPr lang="en-US" b="0" i="1" dirty="0">
                <a:solidFill>
                  <a:srgbClr val="6D6D6D"/>
                </a:solidFill>
                <a:effectLst/>
                <a:latin typeface="Consolas" panose="020B0609020204030204" pitchFamily="49" charset="0"/>
              </a:rPr>
              <a:t># save into excel file</a:t>
            </a:r>
            <a:endParaRPr lang="en-US" b="0" dirty="0">
              <a:solidFill>
                <a:srgbClr val="D8DEE9"/>
              </a:solidFill>
              <a:effectLst/>
              <a:latin typeface="Consolas" panose="020B0609020204030204" pitchFamily="49" charset="0"/>
            </a:endParaRPr>
          </a:p>
          <a:p>
            <a:pPr>
              <a:lnSpc>
                <a:spcPts val="1425"/>
              </a:lnSpc>
            </a:pPr>
            <a:r>
              <a:rPr lang="en-US" b="0" dirty="0" err="1">
                <a:solidFill>
                  <a:srgbClr val="94C1FA"/>
                </a:solidFill>
                <a:effectLst/>
                <a:latin typeface="Consolas" panose="020B0609020204030204" pitchFamily="49" charset="0"/>
              </a:rPr>
              <a:t>df_missing</a:t>
            </a:r>
            <a:r>
              <a:rPr lang="en-US" b="0" dirty="0" err="1">
                <a:solidFill>
                  <a:srgbClr val="D6D6DD"/>
                </a:solidFill>
                <a:effectLst/>
                <a:latin typeface="Consolas" panose="020B0609020204030204" pitchFamily="49" charset="0"/>
              </a:rPr>
              <a:t>.</a:t>
            </a:r>
            <a:r>
              <a:rPr lang="en-US" b="0" dirty="0" err="1">
                <a:solidFill>
                  <a:srgbClr val="EBC88D"/>
                </a:solidFill>
                <a:effectLst/>
                <a:latin typeface="Consolas" panose="020B0609020204030204" pitchFamily="49" charset="0"/>
              </a:rPr>
              <a:t>to_excel</a:t>
            </a:r>
            <a:r>
              <a:rPr lang="en-US" b="0" dirty="0">
                <a:solidFill>
                  <a:srgbClr val="D6D6DD"/>
                </a:solidFill>
                <a:effectLst/>
                <a:latin typeface="Consolas" panose="020B0609020204030204" pitchFamily="49" charset="0"/>
              </a:rPr>
              <a:t>(</a:t>
            </a:r>
            <a:r>
              <a:rPr lang="en-US" b="0" dirty="0">
                <a:solidFill>
                  <a:srgbClr val="E394DC"/>
                </a:solidFill>
                <a:effectLst/>
                <a:latin typeface="Consolas" panose="020B0609020204030204" pitchFamily="49" charset="0"/>
              </a:rPr>
              <a:t>"missing_data.xlsx"</a:t>
            </a:r>
            <a:r>
              <a:rPr lang="en-US" b="0" dirty="0">
                <a:solidFill>
                  <a:srgbClr val="D6D6DD"/>
                </a:solidFill>
                <a:effectLst/>
                <a:latin typeface="Consolas" panose="020B0609020204030204" pitchFamily="49" charset="0"/>
              </a:rPr>
              <a:t>,</a:t>
            </a:r>
            <a:r>
              <a:rPr lang="en-US" b="0" dirty="0">
                <a:solidFill>
                  <a:srgbClr val="D8DEE9"/>
                </a:solidFill>
                <a:effectLst/>
                <a:latin typeface="Consolas" panose="020B0609020204030204" pitchFamily="49" charset="0"/>
              </a:rPr>
              <a:t> </a:t>
            </a:r>
            <a:r>
              <a:rPr lang="en-US" b="0" i="1" dirty="0">
                <a:solidFill>
                  <a:srgbClr val="D6D6DD"/>
                </a:solidFill>
                <a:effectLst/>
                <a:latin typeface="Consolas" panose="020B0609020204030204" pitchFamily="49" charset="0"/>
              </a:rPr>
              <a:t>index</a:t>
            </a:r>
            <a:r>
              <a:rPr lang="en-US" b="0" dirty="0">
                <a:solidFill>
                  <a:srgbClr val="D6D6DD"/>
                </a:solidFill>
                <a:effectLst/>
                <a:latin typeface="Consolas" panose="020B0609020204030204" pitchFamily="49" charset="0"/>
              </a:rPr>
              <a:t>=</a:t>
            </a:r>
            <a:r>
              <a:rPr lang="en-US" b="0" dirty="0">
                <a:solidFill>
                  <a:srgbClr val="82D2CE"/>
                </a:solidFill>
                <a:effectLst/>
                <a:latin typeface="Consolas" panose="020B0609020204030204" pitchFamily="49" charset="0"/>
              </a:rPr>
              <a:t>False</a:t>
            </a:r>
            <a:r>
              <a:rPr lang="en-US" b="0" dirty="0">
                <a:solidFill>
                  <a:srgbClr val="D6D6DD"/>
                </a:solidFill>
                <a:effectLst/>
                <a:latin typeface="Consolas" panose="020B0609020204030204" pitchFamily="49" charset="0"/>
              </a:rPr>
              <a:t>)</a:t>
            </a:r>
            <a:endParaRPr lang="en-US" b="0" dirty="0">
              <a:solidFill>
                <a:srgbClr val="D8DEE9"/>
              </a:solidFill>
              <a:effectLst/>
              <a:latin typeface="Consolas" panose="020B0609020204030204" pitchFamily="49" charset="0"/>
            </a:endParaRPr>
          </a:p>
        </p:txBody>
      </p:sp>
    </p:spTree>
    <p:extLst>
      <p:ext uri="{BB962C8B-B14F-4D97-AF65-F5344CB8AC3E}">
        <p14:creationId xmlns:p14="http://schemas.microsoft.com/office/powerpoint/2010/main" val="2347197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1158A-54F5-5605-87D2-431E7C750A8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6D88595-77BE-D713-6AB9-474833CE6B0E}"/>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77960B0B-D8C4-28E1-D677-1B68925ACE46}"/>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54F17881-6D42-5834-9662-0F6E63E1D40F}"/>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MISSING VALUES</a:t>
            </a:r>
          </a:p>
        </p:txBody>
      </p:sp>
      <p:sp>
        <p:nvSpPr>
          <p:cNvPr id="6" name="TextBox 5">
            <a:extLst>
              <a:ext uri="{FF2B5EF4-FFF2-40B4-BE49-F238E27FC236}">
                <a16:creationId xmlns:a16="http://schemas.microsoft.com/office/drawing/2014/main" id="{691A5575-352B-EFDA-DFE3-3EA9599190B3}"/>
              </a:ext>
            </a:extLst>
          </p:cNvPr>
          <p:cNvSpPr txBox="1"/>
          <p:nvPr/>
        </p:nvSpPr>
        <p:spPr>
          <a:xfrm>
            <a:off x="509123" y="246742"/>
            <a:ext cx="4230645"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pre-processing</a:t>
            </a:r>
            <a:r>
              <a:rPr lang="fr-FR" sz="2400" dirty="0">
                <a:latin typeface="Montserrat" pitchFamily="2" charset="0"/>
              </a:rPr>
              <a:t> </a:t>
            </a:r>
            <a:r>
              <a:rPr lang="fr-FR" sz="2400" dirty="0" err="1">
                <a:latin typeface="Montserrat" pitchFamily="2" charset="0"/>
              </a:rPr>
              <a:t>steps</a:t>
            </a:r>
            <a:endParaRPr lang="fr-FR" sz="2400" dirty="0">
              <a:latin typeface="Montserrat" pitchFamily="2" charset="0"/>
            </a:endParaRPr>
          </a:p>
        </p:txBody>
      </p:sp>
      <p:pic>
        <p:nvPicPr>
          <p:cNvPr id="28" name="Picture 27" descr="A graph of a full data distribution&#10;&#10;AI-generated content may be incorrect.">
            <a:extLst>
              <a:ext uri="{FF2B5EF4-FFF2-40B4-BE49-F238E27FC236}">
                <a16:creationId xmlns:a16="http://schemas.microsoft.com/office/drawing/2014/main" id="{E8A0EDB1-D0B1-75FA-9013-4AEFE86F15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1692" y="1379890"/>
            <a:ext cx="6834743" cy="4936203"/>
          </a:xfrm>
          <a:prstGeom prst="rect">
            <a:avLst/>
          </a:prstGeom>
        </p:spPr>
      </p:pic>
    </p:spTree>
    <p:extLst>
      <p:ext uri="{BB962C8B-B14F-4D97-AF65-F5344CB8AC3E}">
        <p14:creationId xmlns:p14="http://schemas.microsoft.com/office/powerpoint/2010/main" val="3924569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CFBC6-4BE6-A257-9388-8BA0A219D4A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1176949-3589-9B02-4239-358F7D314F27}"/>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EA9C3E6D-771E-6579-2911-7F15BB5CC498}"/>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C41055DB-515F-46BE-F3CE-934E1E081F97}"/>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MISSING VALUES</a:t>
            </a:r>
          </a:p>
        </p:txBody>
      </p:sp>
      <p:sp>
        <p:nvSpPr>
          <p:cNvPr id="6" name="TextBox 5">
            <a:extLst>
              <a:ext uri="{FF2B5EF4-FFF2-40B4-BE49-F238E27FC236}">
                <a16:creationId xmlns:a16="http://schemas.microsoft.com/office/drawing/2014/main" id="{691E729A-10DC-A847-9EAA-6D47B0E23C06}"/>
              </a:ext>
            </a:extLst>
          </p:cNvPr>
          <p:cNvSpPr txBox="1"/>
          <p:nvPr/>
        </p:nvSpPr>
        <p:spPr>
          <a:xfrm>
            <a:off x="509123" y="246742"/>
            <a:ext cx="4230645"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pre-processing</a:t>
            </a:r>
            <a:r>
              <a:rPr lang="fr-FR" sz="2400" dirty="0">
                <a:latin typeface="Montserrat" pitchFamily="2" charset="0"/>
              </a:rPr>
              <a:t> </a:t>
            </a:r>
            <a:r>
              <a:rPr lang="fr-FR" sz="2400" dirty="0" err="1">
                <a:latin typeface="Montserrat" pitchFamily="2" charset="0"/>
              </a:rPr>
              <a:t>steps</a:t>
            </a:r>
            <a:endParaRPr lang="fr-FR" sz="2400" dirty="0">
              <a:latin typeface="Montserrat" pitchFamily="2" charset="0"/>
            </a:endParaRPr>
          </a:p>
        </p:txBody>
      </p:sp>
      <p:pic>
        <p:nvPicPr>
          <p:cNvPr id="11" name="Picture 10">
            <a:extLst>
              <a:ext uri="{FF2B5EF4-FFF2-40B4-BE49-F238E27FC236}">
                <a16:creationId xmlns:a16="http://schemas.microsoft.com/office/drawing/2014/main" id="{AE8FA828-B0D0-A607-3AD7-2976A4E18B98}"/>
              </a:ext>
            </a:extLst>
          </p:cNvPr>
          <p:cNvPicPr>
            <a:picLocks noChangeAspect="1"/>
          </p:cNvPicPr>
          <p:nvPr/>
        </p:nvPicPr>
        <p:blipFill>
          <a:blip r:embed="rId2"/>
          <a:stretch>
            <a:fillRect/>
          </a:stretch>
        </p:blipFill>
        <p:spPr>
          <a:xfrm>
            <a:off x="1308101" y="1265725"/>
            <a:ext cx="9672320" cy="5308262"/>
          </a:xfrm>
          <a:prstGeom prst="rect">
            <a:avLst/>
          </a:prstGeom>
        </p:spPr>
      </p:pic>
    </p:spTree>
    <p:extLst>
      <p:ext uri="{BB962C8B-B14F-4D97-AF65-F5344CB8AC3E}">
        <p14:creationId xmlns:p14="http://schemas.microsoft.com/office/powerpoint/2010/main" val="3131498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D6DB9-D7A4-E97A-FA3A-3BE3CE16010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21D5F78-50CE-6818-FBCF-1B3959C2915D}"/>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5B613FD1-9B18-E972-8B76-32594E9AB07F}"/>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AFBE1C66-A0BD-58D0-5981-1559CA42966E}"/>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MISSING VALUES</a:t>
            </a:r>
          </a:p>
        </p:txBody>
      </p:sp>
      <p:sp>
        <p:nvSpPr>
          <p:cNvPr id="6" name="TextBox 5">
            <a:extLst>
              <a:ext uri="{FF2B5EF4-FFF2-40B4-BE49-F238E27FC236}">
                <a16:creationId xmlns:a16="http://schemas.microsoft.com/office/drawing/2014/main" id="{36509252-EACC-E68A-B28A-B98DF5720571}"/>
              </a:ext>
            </a:extLst>
          </p:cNvPr>
          <p:cNvSpPr txBox="1"/>
          <p:nvPr/>
        </p:nvSpPr>
        <p:spPr>
          <a:xfrm>
            <a:off x="509123" y="246742"/>
            <a:ext cx="4230645"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pre-processing</a:t>
            </a:r>
            <a:r>
              <a:rPr lang="fr-FR" sz="2400" dirty="0">
                <a:latin typeface="Montserrat" pitchFamily="2" charset="0"/>
              </a:rPr>
              <a:t> </a:t>
            </a:r>
            <a:r>
              <a:rPr lang="fr-FR" sz="2400" dirty="0" err="1">
                <a:latin typeface="Montserrat" pitchFamily="2" charset="0"/>
              </a:rPr>
              <a:t>steps</a:t>
            </a:r>
            <a:endParaRPr lang="fr-FR" sz="2400" dirty="0">
              <a:latin typeface="Montserrat" pitchFamily="2" charset="0"/>
            </a:endParaRPr>
          </a:p>
        </p:txBody>
      </p:sp>
      <p:pic>
        <p:nvPicPr>
          <p:cNvPr id="11" name="Picture 10" descr="A graph with red lines&#10;&#10;AI-generated content may be incorrect.">
            <a:extLst>
              <a:ext uri="{FF2B5EF4-FFF2-40B4-BE49-F238E27FC236}">
                <a16:creationId xmlns:a16="http://schemas.microsoft.com/office/drawing/2014/main" id="{E1985E57-C110-6CF2-F552-02DA98398A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7170" y="1301895"/>
            <a:ext cx="7477660" cy="5147384"/>
          </a:xfrm>
          <a:prstGeom prst="rect">
            <a:avLst/>
          </a:prstGeom>
        </p:spPr>
      </p:pic>
    </p:spTree>
    <p:extLst>
      <p:ext uri="{BB962C8B-B14F-4D97-AF65-F5344CB8AC3E}">
        <p14:creationId xmlns:p14="http://schemas.microsoft.com/office/powerpoint/2010/main" val="3759379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ECB14-6032-C222-0527-AF9D454FB51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246BCC7-648B-29F0-8E3F-F849D8502AC1}"/>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9CAAFC02-340F-29F8-A34A-8C81C38ECFDE}"/>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265AF932-D329-89C5-AFDE-DE5EE864610D}"/>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MISSING VALUES</a:t>
            </a:r>
          </a:p>
        </p:txBody>
      </p:sp>
      <p:sp>
        <p:nvSpPr>
          <p:cNvPr id="6" name="TextBox 5">
            <a:extLst>
              <a:ext uri="{FF2B5EF4-FFF2-40B4-BE49-F238E27FC236}">
                <a16:creationId xmlns:a16="http://schemas.microsoft.com/office/drawing/2014/main" id="{15798FB1-562E-FB00-648B-783059FEB078}"/>
              </a:ext>
            </a:extLst>
          </p:cNvPr>
          <p:cNvSpPr txBox="1"/>
          <p:nvPr/>
        </p:nvSpPr>
        <p:spPr>
          <a:xfrm>
            <a:off x="509123" y="246742"/>
            <a:ext cx="4230645"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pre-processing</a:t>
            </a:r>
            <a:r>
              <a:rPr lang="fr-FR" sz="2400" dirty="0">
                <a:latin typeface="Montserrat" pitchFamily="2" charset="0"/>
              </a:rPr>
              <a:t> </a:t>
            </a:r>
            <a:r>
              <a:rPr lang="fr-FR" sz="2400" dirty="0" err="1">
                <a:latin typeface="Montserrat" pitchFamily="2" charset="0"/>
              </a:rPr>
              <a:t>steps</a:t>
            </a:r>
            <a:endParaRPr lang="fr-FR" sz="2400" dirty="0">
              <a:latin typeface="Montserrat" pitchFamily="2" charset="0"/>
            </a:endParaRPr>
          </a:p>
        </p:txBody>
      </p:sp>
      <p:pic>
        <p:nvPicPr>
          <p:cNvPr id="12" name="Picture 11" descr="A green and black graph&#10;&#10;AI-generated content may be incorrect.">
            <a:extLst>
              <a:ext uri="{FF2B5EF4-FFF2-40B4-BE49-F238E27FC236}">
                <a16:creationId xmlns:a16="http://schemas.microsoft.com/office/drawing/2014/main" id="{7E182AF1-BF28-9B7C-D252-D7B90ECD5D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8327" y="1133040"/>
            <a:ext cx="7555346" cy="5335166"/>
          </a:xfrm>
          <a:prstGeom prst="rect">
            <a:avLst/>
          </a:prstGeom>
        </p:spPr>
      </p:pic>
    </p:spTree>
    <p:extLst>
      <p:ext uri="{BB962C8B-B14F-4D97-AF65-F5344CB8AC3E}">
        <p14:creationId xmlns:p14="http://schemas.microsoft.com/office/powerpoint/2010/main" val="2591703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6FF6E-62B6-B50F-4201-1DDEA479977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995EBF4-6D3C-0BF9-500B-B5CB89843496}"/>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20E20796-A36E-9B05-1622-55CC3D9C1474}"/>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E13CBB6B-E737-BF8A-6956-F0B531699EB2}"/>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MISSING VALUES</a:t>
            </a:r>
          </a:p>
        </p:txBody>
      </p:sp>
      <p:sp>
        <p:nvSpPr>
          <p:cNvPr id="6" name="TextBox 5">
            <a:extLst>
              <a:ext uri="{FF2B5EF4-FFF2-40B4-BE49-F238E27FC236}">
                <a16:creationId xmlns:a16="http://schemas.microsoft.com/office/drawing/2014/main" id="{09CA1D5E-0008-654D-39FB-3B093E799E35}"/>
              </a:ext>
            </a:extLst>
          </p:cNvPr>
          <p:cNvSpPr txBox="1"/>
          <p:nvPr/>
        </p:nvSpPr>
        <p:spPr>
          <a:xfrm>
            <a:off x="509123" y="246742"/>
            <a:ext cx="4230645"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pre-processing</a:t>
            </a:r>
            <a:r>
              <a:rPr lang="fr-FR" sz="2400" dirty="0">
                <a:latin typeface="Montserrat" pitchFamily="2" charset="0"/>
              </a:rPr>
              <a:t> </a:t>
            </a:r>
            <a:r>
              <a:rPr lang="fr-FR" sz="2400" dirty="0" err="1">
                <a:latin typeface="Montserrat" pitchFamily="2" charset="0"/>
              </a:rPr>
              <a:t>steps</a:t>
            </a:r>
            <a:endParaRPr lang="fr-FR" sz="2400" dirty="0">
              <a:latin typeface="Montserrat" pitchFamily="2" charset="0"/>
            </a:endParaRPr>
          </a:p>
        </p:txBody>
      </p:sp>
      <p:pic>
        <p:nvPicPr>
          <p:cNvPr id="11" name="Picture 10" descr="A graph of a normal distribution&#10;&#10;AI-generated content may be incorrect.">
            <a:extLst>
              <a:ext uri="{FF2B5EF4-FFF2-40B4-BE49-F238E27FC236}">
                <a16:creationId xmlns:a16="http://schemas.microsoft.com/office/drawing/2014/main" id="{C91DBBB7-74B8-3B56-EE7F-1187DD5C88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5496" y="1231127"/>
            <a:ext cx="8161008" cy="5465946"/>
          </a:xfrm>
          <a:prstGeom prst="rect">
            <a:avLst/>
          </a:prstGeom>
        </p:spPr>
      </p:pic>
      <p:sp>
        <p:nvSpPr>
          <p:cNvPr id="12" name="TextBox 11">
            <a:extLst>
              <a:ext uri="{FF2B5EF4-FFF2-40B4-BE49-F238E27FC236}">
                <a16:creationId xmlns:a16="http://schemas.microsoft.com/office/drawing/2014/main" id="{1C6A13BA-0A1E-9C3F-5260-961549C95424}"/>
              </a:ext>
            </a:extLst>
          </p:cNvPr>
          <p:cNvSpPr txBox="1"/>
          <p:nvPr/>
        </p:nvSpPr>
        <p:spPr>
          <a:xfrm>
            <a:off x="44909" y="4955383"/>
            <a:ext cx="2097980" cy="1200329"/>
          </a:xfrm>
          <a:prstGeom prst="rect">
            <a:avLst/>
          </a:prstGeom>
          <a:noFill/>
        </p:spPr>
        <p:txBody>
          <a:bodyPr wrap="square">
            <a:spAutoFit/>
          </a:bodyPr>
          <a:lstStyle/>
          <a:p>
            <a:r>
              <a:rPr lang="en-US" dirty="0"/>
              <a:t>predicted values often fall close to the expected average pattern</a:t>
            </a:r>
            <a:endParaRPr lang="en-AT" dirty="0"/>
          </a:p>
        </p:txBody>
      </p:sp>
    </p:spTree>
    <p:extLst>
      <p:ext uri="{BB962C8B-B14F-4D97-AF65-F5344CB8AC3E}">
        <p14:creationId xmlns:p14="http://schemas.microsoft.com/office/powerpoint/2010/main" val="2163040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A7EDE-7E02-08EA-9E40-2C7C2D269DC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4D0E263-4D48-5DA9-9772-F9997C3CA07A}"/>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AACD57D5-4654-434E-CFE1-FCED8D4AE80D}"/>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64FDD1E9-291B-85F7-69F2-68A33EB370E1}"/>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MISSING VALUES</a:t>
            </a:r>
          </a:p>
        </p:txBody>
      </p:sp>
      <p:sp>
        <p:nvSpPr>
          <p:cNvPr id="6" name="TextBox 5">
            <a:extLst>
              <a:ext uri="{FF2B5EF4-FFF2-40B4-BE49-F238E27FC236}">
                <a16:creationId xmlns:a16="http://schemas.microsoft.com/office/drawing/2014/main" id="{14431B3D-938B-83D2-FA29-90F6B712EAF6}"/>
              </a:ext>
            </a:extLst>
          </p:cNvPr>
          <p:cNvSpPr txBox="1"/>
          <p:nvPr/>
        </p:nvSpPr>
        <p:spPr>
          <a:xfrm>
            <a:off x="509123" y="246742"/>
            <a:ext cx="4230645"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pre-processing</a:t>
            </a:r>
            <a:r>
              <a:rPr lang="fr-FR" sz="2400" dirty="0">
                <a:latin typeface="Montserrat" pitchFamily="2" charset="0"/>
              </a:rPr>
              <a:t> </a:t>
            </a:r>
            <a:r>
              <a:rPr lang="fr-FR" sz="2400" dirty="0" err="1">
                <a:latin typeface="Montserrat" pitchFamily="2" charset="0"/>
              </a:rPr>
              <a:t>steps</a:t>
            </a:r>
            <a:endParaRPr lang="fr-FR" sz="2400" dirty="0">
              <a:latin typeface="Montserrat" pitchFamily="2" charset="0"/>
            </a:endParaRPr>
          </a:p>
        </p:txBody>
      </p:sp>
      <p:pic>
        <p:nvPicPr>
          <p:cNvPr id="12" name="Picture 11" descr="A graph of a normal distribution&#10;&#10;AI-generated content may be incorrect.">
            <a:extLst>
              <a:ext uri="{FF2B5EF4-FFF2-40B4-BE49-F238E27FC236}">
                <a16:creationId xmlns:a16="http://schemas.microsoft.com/office/drawing/2014/main" id="{06BA2D11-A641-AEE2-16A8-0962CF2DA3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3673" y="1126682"/>
            <a:ext cx="7684654" cy="5490028"/>
          </a:xfrm>
          <a:prstGeom prst="rect">
            <a:avLst/>
          </a:prstGeom>
        </p:spPr>
      </p:pic>
      <p:sp>
        <p:nvSpPr>
          <p:cNvPr id="11" name="TextBox 10">
            <a:extLst>
              <a:ext uri="{FF2B5EF4-FFF2-40B4-BE49-F238E27FC236}">
                <a16:creationId xmlns:a16="http://schemas.microsoft.com/office/drawing/2014/main" id="{241093EC-3E96-3649-D126-2FE35ADBFA50}"/>
              </a:ext>
            </a:extLst>
          </p:cNvPr>
          <p:cNvSpPr txBox="1"/>
          <p:nvPr/>
        </p:nvSpPr>
        <p:spPr>
          <a:xfrm>
            <a:off x="284748" y="4970848"/>
            <a:ext cx="2166221" cy="1477328"/>
          </a:xfrm>
          <a:prstGeom prst="rect">
            <a:avLst/>
          </a:prstGeom>
          <a:noFill/>
        </p:spPr>
        <p:txBody>
          <a:bodyPr wrap="square">
            <a:spAutoFit/>
          </a:bodyPr>
          <a:lstStyle/>
          <a:p>
            <a:r>
              <a:rPr lang="en-US" dirty="0"/>
              <a:t>each missing value is estimated from similar nearby observations</a:t>
            </a:r>
            <a:endParaRPr lang="en-AT" dirty="0"/>
          </a:p>
        </p:txBody>
      </p:sp>
    </p:spTree>
    <p:extLst>
      <p:ext uri="{BB962C8B-B14F-4D97-AF65-F5344CB8AC3E}">
        <p14:creationId xmlns:p14="http://schemas.microsoft.com/office/powerpoint/2010/main" val="2211916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72E5D-140A-9BAC-9E5B-23A6C600BA3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5DD2BBF-43EA-2A6A-EC1F-9CF82ED8D20E}"/>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7C75A8F8-5FEF-0694-13F1-5E4558BDC363}"/>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D9FB55AC-F0F5-9C46-D67A-CE56B9064BF4}"/>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NOISY DATA</a:t>
            </a:r>
          </a:p>
        </p:txBody>
      </p:sp>
      <p:sp>
        <p:nvSpPr>
          <p:cNvPr id="6" name="TextBox 5">
            <a:extLst>
              <a:ext uri="{FF2B5EF4-FFF2-40B4-BE49-F238E27FC236}">
                <a16:creationId xmlns:a16="http://schemas.microsoft.com/office/drawing/2014/main" id="{6D7771E5-9C70-EEAE-AFCD-52568F16F836}"/>
              </a:ext>
            </a:extLst>
          </p:cNvPr>
          <p:cNvSpPr txBox="1"/>
          <p:nvPr/>
        </p:nvSpPr>
        <p:spPr>
          <a:xfrm>
            <a:off x="509123" y="246742"/>
            <a:ext cx="2342308"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cleaning</a:t>
            </a:r>
            <a:endParaRPr lang="fr-FR" sz="2400" dirty="0">
              <a:latin typeface="Montserrat" pitchFamily="2" charset="0"/>
            </a:endParaRPr>
          </a:p>
        </p:txBody>
      </p:sp>
      <p:sp>
        <p:nvSpPr>
          <p:cNvPr id="2" name="Rectangle 1">
            <a:extLst>
              <a:ext uri="{FF2B5EF4-FFF2-40B4-BE49-F238E27FC236}">
                <a16:creationId xmlns:a16="http://schemas.microsoft.com/office/drawing/2014/main" id="{770F6AE7-5338-2D81-526F-56C0C9432C1F}"/>
              </a:ext>
            </a:extLst>
          </p:cNvPr>
          <p:cNvSpPr/>
          <p:nvPr/>
        </p:nvSpPr>
        <p:spPr>
          <a:xfrm>
            <a:off x="8229600" y="0"/>
            <a:ext cx="2908300" cy="638175"/>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D5DCCC8-D711-F431-D1A2-5388BCE1EC67}"/>
              </a:ext>
            </a:extLst>
          </p:cNvPr>
          <p:cNvGrpSpPr/>
          <p:nvPr/>
        </p:nvGrpSpPr>
        <p:grpSpPr>
          <a:xfrm>
            <a:off x="1467917" y="1465353"/>
            <a:ext cx="9256165" cy="533230"/>
            <a:chOff x="629305" y="1478619"/>
            <a:chExt cx="9256165" cy="533230"/>
          </a:xfrm>
        </p:grpSpPr>
        <p:sp>
          <p:nvSpPr>
            <p:cNvPr id="12" name="Flowchart: Connector 11">
              <a:extLst>
                <a:ext uri="{FF2B5EF4-FFF2-40B4-BE49-F238E27FC236}">
                  <a16:creationId xmlns:a16="http://schemas.microsoft.com/office/drawing/2014/main" id="{DC1F419C-4921-3441-0816-42A40986A126}"/>
                </a:ext>
              </a:extLst>
            </p:cNvPr>
            <p:cNvSpPr/>
            <p:nvPr/>
          </p:nvSpPr>
          <p:spPr>
            <a:xfrm>
              <a:off x="629305" y="1478619"/>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5AF5F820-844D-6114-125E-D1912793255D}"/>
                </a:ext>
              </a:extLst>
            </p:cNvPr>
            <p:cNvSpPr txBox="1"/>
            <p:nvPr/>
          </p:nvSpPr>
          <p:spPr>
            <a:xfrm>
              <a:off x="1371601" y="1539465"/>
              <a:ext cx="8513869" cy="369332"/>
            </a:xfrm>
            <a:prstGeom prst="rect">
              <a:avLst/>
            </a:prstGeom>
            <a:noFill/>
          </p:spPr>
          <p:txBody>
            <a:bodyPr wrap="none" rtlCol="0">
              <a:spAutoFit/>
            </a:bodyPr>
            <a:lstStyle/>
            <a:p>
              <a:pPr>
                <a:buFont typeface="Arial" panose="020B0604020202020204" pitchFamily="34" charset="0"/>
                <a:buChar char="•"/>
              </a:pPr>
              <a:r>
                <a:rPr lang="en-US" dirty="0"/>
                <a:t> Remove URLs, symbols, emojis, etc., that aren’t relevant to your analysis</a:t>
              </a:r>
            </a:p>
          </p:txBody>
        </p:sp>
      </p:grpSp>
      <p:grpSp>
        <p:nvGrpSpPr>
          <p:cNvPr id="14" name="Group 13">
            <a:extLst>
              <a:ext uri="{FF2B5EF4-FFF2-40B4-BE49-F238E27FC236}">
                <a16:creationId xmlns:a16="http://schemas.microsoft.com/office/drawing/2014/main" id="{65D0F827-669F-DC81-5BA5-4E0BB1848AA7}"/>
              </a:ext>
            </a:extLst>
          </p:cNvPr>
          <p:cNvGrpSpPr/>
          <p:nvPr/>
        </p:nvGrpSpPr>
        <p:grpSpPr>
          <a:xfrm>
            <a:off x="1467917" y="2318319"/>
            <a:ext cx="7343783" cy="533230"/>
            <a:chOff x="629305" y="2444877"/>
            <a:chExt cx="7343783" cy="533230"/>
          </a:xfrm>
        </p:grpSpPr>
        <p:sp>
          <p:nvSpPr>
            <p:cNvPr id="15" name="Flowchart: Connector 14">
              <a:extLst>
                <a:ext uri="{FF2B5EF4-FFF2-40B4-BE49-F238E27FC236}">
                  <a16:creationId xmlns:a16="http://schemas.microsoft.com/office/drawing/2014/main" id="{05027802-3EA7-3E78-7B5F-5E508418AEF8}"/>
                </a:ext>
              </a:extLst>
            </p:cNvPr>
            <p:cNvSpPr/>
            <p:nvPr/>
          </p:nvSpPr>
          <p:spPr>
            <a:xfrm>
              <a:off x="629305" y="2444877"/>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B6DCC607-7759-20F5-15CA-2191C499FAF2}"/>
                </a:ext>
              </a:extLst>
            </p:cNvPr>
            <p:cNvSpPr txBox="1"/>
            <p:nvPr/>
          </p:nvSpPr>
          <p:spPr>
            <a:xfrm>
              <a:off x="1371601" y="2533916"/>
              <a:ext cx="6601487" cy="369332"/>
            </a:xfrm>
            <a:prstGeom prst="rect">
              <a:avLst/>
            </a:prstGeom>
            <a:noFill/>
          </p:spPr>
          <p:txBody>
            <a:bodyPr wrap="none" rtlCol="0">
              <a:spAutoFit/>
            </a:bodyPr>
            <a:lstStyle/>
            <a:p>
              <a:pPr>
                <a:buFont typeface="Arial" panose="020B0604020202020204" pitchFamily="34" charset="0"/>
                <a:buChar char="•"/>
              </a:pPr>
              <a:r>
                <a:rPr lang="en-US" dirty="0"/>
                <a:t> Translate all text into the language you’ll be working in</a:t>
              </a:r>
            </a:p>
          </p:txBody>
        </p:sp>
      </p:grpSp>
      <p:grpSp>
        <p:nvGrpSpPr>
          <p:cNvPr id="17" name="Group 16">
            <a:extLst>
              <a:ext uri="{FF2B5EF4-FFF2-40B4-BE49-F238E27FC236}">
                <a16:creationId xmlns:a16="http://schemas.microsoft.com/office/drawing/2014/main" id="{63EADEED-28CD-3C81-687F-55972CDEF070}"/>
              </a:ext>
            </a:extLst>
          </p:cNvPr>
          <p:cNvGrpSpPr/>
          <p:nvPr/>
        </p:nvGrpSpPr>
        <p:grpSpPr>
          <a:xfrm>
            <a:off x="1467917" y="3193717"/>
            <a:ext cx="3328260" cy="533230"/>
            <a:chOff x="629305" y="3265901"/>
            <a:chExt cx="3328260" cy="533230"/>
          </a:xfrm>
        </p:grpSpPr>
        <p:sp>
          <p:nvSpPr>
            <p:cNvPr id="18" name="Flowchart: Connector 17">
              <a:extLst>
                <a:ext uri="{FF2B5EF4-FFF2-40B4-BE49-F238E27FC236}">
                  <a16:creationId xmlns:a16="http://schemas.microsoft.com/office/drawing/2014/main" id="{10E3C0BF-1462-7897-2BBA-B71C94CBAF84}"/>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227FBD9E-0A09-2674-9161-C6EEE17C8B70}"/>
                </a:ext>
              </a:extLst>
            </p:cNvPr>
            <p:cNvSpPr txBox="1"/>
            <p:nvPr/>
          </p:nvSpPr>
          <p:spPr>
            <a:xfrm>
              <a:off x="1371601" y="3351369"/>
              <a:ext cx="2585964" cy="369332"/>
            </a:xfrm>
            <a:prstGeom prst="rect">
              <a:avLst/>
            </a:prstGeom>
            <a:noFill/>
          </p:spPr>
          <p:txBody>
            <a:bodyPr wrap="none" rtlCol="0">
              <a:spAutoFit/>
            </a:bodyPr>
            <a:lstStyle/>
            <a:p>
              <a:pPr>
                <a:buFont typeface="Arial" panose="020B0604020202020204" pitchFamily="34" charset="0"/>
                <a:buChar char="•"/>
              </a:pPr>
              <a:r>
                <a:rPr lang="en-US" dirty="0"/>
                <a:t> Remove HTML tags</a:t>
              </a:r>
            </a:p>
          </p:txBody>
        </p:sp>
      </p:grpSp>
      <p:sp>
        <p:nvSpPr>
          <p:cNvPr id="20" name="TextBox 19">
            <a:extLst>
              <a:ext uri="{FF2B5EF4-FFF2-40B4-BE49-F238E27FC236}">
                <a16:creationId xmlns:a16="http://schemas.microsoft.com/office/drawing/2014/main" id="{703792D1-E0EF-68C1-1F1B-211C34D60AD5}"/>
              </a:ext>
            </a:extLst>
          </p:cNvPr>
          <p:cNvSpPr txBox="1"/>
          <p:nvPr/>
        </p:nvSpPr>
        <p:spPr>
          <a:xfrm>
            <a:off x="1518768" y="1556977"/>
            <a:ext cx="404278" cy="338554"/>
          </a:xfrm>
          <a:prstGeom prst="rect">
            <a:avLst/>
          </a:prstGeom>
          <a:noFill/>
        </p:spPr>
        <p:txBody>
          <a:bodyPr wrap="none" rtlCol="0">
            <a:spAutoFit/>
          </a:bodyPr>
          <a:lstStyle/>
          <a:p>
            <a:r>
              <a:rPr lang="en-US" sz="1600" b="1" dirty="0"/>
              <a:t>01</a:t>
            </a:r>
          </a:p>
        </p:txBody>
      </p:sp>
      <p:sp>
        <p:nvSpPr>
          <p:cNvPr id="21" name="TextBox 20">
            <a:extLst>
              <a:ext uri="{FF2B5EF4-FFF2-40B4-BE49-F238E27FC236}">
                <a16:creationId xmlns:a16="http://schemas.microsoft.com/office/drawing/2014/main" id="{EA5D7916-9C18-82F2-C750-0B9C28EA6C59}"/>
              </a:ext>
            </a:extLst>
          </p:cNvPr>
          <p:cNvSpPr txBox="1"/>
          <p:nvPr/>
        </p:nvSpPr>
        <p:spPr>
          <a:xfrm>
            <a:off x="1509242" y="2416988"/>
            <a:ext cx="445956" cy="338554"/>
          </a:xfrm>
          <a:prstGeom prst="rect">
            <a:avLst/>
          </a:prstGeom>
          <a:noFill/>
        </p:spPr>
        <p:txBody>
          <a:bodyPr wrap="none" rtlCol="0">
            <a:spAutoFit/>
          </a:bodyPr>
          <a:lstStyle/>
          <a:p>
            <a:r>
              <a:rPr lang="en-US" sz="1600" b="1" dirty="0"/>
              <a:t>02</a:t>
            </a:r>
          </a:p>
        </p:txBody>
      </p:sp>
      <p:sp>
        <p:nvSpPr>
          <p:cNvPr id="22" name="TextBox 21">
            <a:extLst>
              <a:ext uri="{FF2B5EF4-FFF2-40B4-BE49-F238E27FC236}">
                <a16:creationId xmlns:a16="http://schemas.microsoft.com/office/drawing/2014/main" id="{BAD2955F-F286-10E0-B704-5D546E483257}"/>
              </a:ext>
            </a:extLst>
          </p:cNvPr>
          <p:cNvSpPr txBox="1"/>
          <p:nvPr/>
        </p:nvSpPr>
        <p:spPr>
          <a:xfrm>
            <a:off x="1509244" y="3290678"/>
            <a:ext cx="445956" cy="338554"/>
          </a:xfrm>
          <a:prstGeom prst="rect">
            <a:avLst/>
          </a:prstGeom>
          <a:noFill/>
        </p:spPr>
        <p:txBody>
          <a:bodyPr wrap="none" rtlCol="0">
            <a:spAutoFit/>
          </a:bodyPr>
          <a:lstStyle/>
          <a:p>
            <a:r>
              <a:rPr lang="en-US" sz="1600" b="1" dirty="0"/>
              <a:t>03</a:t>
            </a:r>
          </a:p>
        </p:txBody>
      </p:sp>
      <p:grpSp>
        <p:nvGrpSpPr>
          <p:cNvPr id="23" name="Group 22">
            <a:extLst>
              <a:ext uri="{FF2B5EF4-FFF2-40B4-BE49-F238E27FC236}">
                <a16:creationId xmlns:a16="http://schemas.microsoft.com/office/drawing/2014/main" id="{05731001-6D6E-9003-663D-DD65DC02184F}"/>
              </a:ext>
            </a:extLst>
          </p:cNvPr>
          <p:cNvGrpSpPr/>
          <p:nvPr/>
        </p:nvGrpSpPr>
        <p:grpSpPr>
          <a:xfrm>
            <a:off x="1467917" y="4106534"/>
            <a:ext cx="4552955" cy="533230"/>
            <a:chOff x="629305" y="3265901"/>
            <a:chExt cx="4552955" cy="533230"/>
          </a:xfrm>
        </p:grpSpPr>
        <p:sp>
          <p:nvSpPr>
            <p:cNvPr id="24" name="Flowchart: Connector 23">
              <a:extLst>
                <a:ext uri="{FF2B5EF4-FFF2-40B4-BE49-F238E27FC236}">
                  <a16:creationId xmlns:a16="http://schemas.microsoft.com/office/drawing/2014/main" id="{F859DD40-5203-CBF7-5487-3EB586405BA6}"/>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4D008176-B981-94E9-DE5E-6F301349FE9F}"/>
                </a:ext>
              </a:extLst>
            </p:cNvPr>
            <p:cNvSpPr txBox="1"/>
            <p:nvPr/>
          </p:nvSpPr>
          <p:spPr>
            <a:xfrm>
              <a:off x="1371601" y="3351369"/>
              <a:ext cx="3810659" cy="369332"/>
            </a:xfrm>
            <a:prstGeom prst="rect">
              <a:avLst/>
            </a:prstGeom>
            <a:noFill/>
          </p:spPr>
          <p:txBody>
            <a:bodyPr wrap="none" rtlCol="0">
              <a:spAutoFit/>
            </a:bodyPr>
            <a:lstStyle/>
            <a:p>
              <a:pPr>
                <a:buFont typeface="Arial" panose="020B0604020202020204" pitchFamily="34" charset="0"/>
                <a:buChar char="•"/>
              </a:pPr>
              <a:r>
                <a:rPr lang="en-US" dirty="0"/>
                <a:t> Remove boilerplate email text</a:t>
              </a:r>
            </a:p>
          </p:txBody>
        </p:sp>
      </p:grpSp>
      <p:sp>
        <p:nvSpPr>
          <p:cNvPr id="26" name="TextBox 25">
            <a:extLst>
              <a:ext uri="{FF2B5EF4-FFF2-40B4-BE49-F238E27FC236}">
                <a16:creationId xmlns:a16="http://schemas.microsoft.com/office/drawing/2014/main" id="{8768AB69-621F-CF97-7EDF-F5F860A10C18}"/>
              </a:ext>
            </a:extLst>
          </p:cNvPr>
          <p:cNvSpPr txBox="1"/>
          <p:nvPr/>
        </p:nvSpPr>
        <p:spPr>
          <a:xfrm>
            <a:off x="1509244" y="4203495"/>
            <a:ext cx="465192" cy="338554"/>
          </a:xfrm>
          <a:prstGeom prst="rect">
            <a:avLst/>
          </a:prstGeom>
          <a:noFill/>
        </p:spPr>
        <p:txBody>
          <a:bodyPr wrap="none" rtlCol="0">
            <a:spAutoFit/>
          </a:bodyPr>
          <a:lstStyle/>
          <a:p>
            <a:r>
              <a:rPr lang="en-US" sz="1600" b="1" dirty="0"/>
              <a:t>04</a:t>
            </a:r>
          </a:p>
        </p:txBody>
      </p:sp>
      <p:grpSp>
        <p:nvGrpSpPr>
          <p:cNvPr id="33" name="Group 32">
            <a:extLst>
              <a:ext uri="{FF2B5EF4-FFF2-40B4-BE49-F238E27FC236}">
                <a16:creationId xmlns:a16="http://schemas.microsoft.com/office/drawing/2014/main" id="{3EA743E7-D99B-6925-01D6-BAE9593678F1}"/>
              </a:ext>
            </a:extLst>
          </p:cNvPr>
          <p:cNvGrpSpPr/>
          <p:nvPr/>
        </p:nvGrpSpPr>
        <p:grpSpPr>
          <a:xfrm>
            <a:off x="1467917" y="4933147"/>
            <a:ext cx="6624034" cy="533230"/>
            <a:chOff x="629305" y="3265901"/>
            <a:chExt cx="6624034" cy="533230"/>
          </a:xfrm>
        </p:grpSpPr>
        <p:sp>
          <p:nvSpPr>
            <p:cNvPr id="34" name="Flowchart: Connector 33">
              <a:extLst>
                <a:ext uri="{FF2B5EF4-FFF2-40B4-BE49-F238E27FC236}">
                  <a16:creationId xmlns:a16="http://schemas.microsoft.com/office/drawing/2014/main" id="{D2A0486B-66F1-AEA6-2E6D-F7A33A4CC020}"/>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1B2387A4-60E7-8D35-B7BC-DCF590636B20}"/>
                </a:ext>
              </a:extLst>
            </p:cNvPr>
            <p:cNvSpPr txBox="1"/>
            <p:nvPr/>
          </p:nvSpPr>
          <p:spPr>
            <a:xfrm>
              <a:off x="1371601" y="3351369"/>
              <a:ext cx="5881738" cy="369332"/>
            </a:xfrm>
            <a:prstGeom prst="rect">
              <a:avLst/>
            </a:prstGeom>
            <a:noFill/>
          </p:spPr>
          <p:txBody>
            <a:bodyPr wrap="none" rtlCol="0">
              <a:spAutoFit/>
            </a:bodyPr>
            <a:lstStyle/>
            <a:p>
              <a:pPr>
                <a:buFont typeface="Arial" panose="020B0604020202020204" pitchFamily="34" charset="0"/>
                <a:buChar char="•"/>
              </a:pPr>
              <a:r>
                <a:rPr lang="en-US" dirty="0"/>
                <a:t> Remove unnecessary blank text between words</a:t>
              </a:r>
            </a:p>
          </p:txBody>
        </p:sp>
      </p:grpSp>
      <p:sp>
        <p:nvSpPr>
          <p:cNvPr id="36" name="TextBox 35">
            <a:extLst>
              <a:ext uri="{FF2B5EF4-FFF2-40B4-BE49-F238E27FC236}">
                <a16:creationId xmlns:a16="http://schemas.microsoft.com/office/drawing/2014/main" id="{A261B973-ACB6-8274-872A-7C15D36F097C}"/>
              </a:ext>
            </a:extLst>
          </p:cNvPr>
          <p:cNvSpPr txBox="1"/>
          <p:nvPr/>
        </p:nvSpPr>
        <p:spPr>
          <a:xfrm>
            <a:off x="1509244" y="5030108"/>
            <a:ext cx="445956" cy="338554"/>
          </a:xfrm>
          <a:prstGeom prst="rect">
            <a:avLst/>
          </a:prstGeom>
          <a:noFill/>
        </p:spPr>
        <p:txBody>
          <a:bodyPr wrap="none" rtlCol="0">
            <a:spAutoFit/>
          </a:bodyPr>
          <a:lstStyle/>
          <a:p>
            <a:r>
              <a:rPr lang="en-US" sz="1600" b="1" dirty="0"/>
              <a:t>05</a:t>
            </a:r>
          </a:p>
        </p:txBody>
      </p:sp>
      <p:grpSp>
        <p:nvGrpSpPr>
          <p:cNvPr id="41" name="Group 40">
            <a:extLst>
              <a:ext uri="{FF2B5EF4-FFF2-40B4-BE49-F238E27FC236}">
                <a16:creationId xmlns:a16="http://schemas.microsoft.com/office/drawing/2014/main" id="{C8A74F33-5189-878E-1F0F-ADD77B435957}"/>
              </a:ext>
            </a:extLst>
          </p:cNvPr>
          <p:cNvGrpSpPr/>
          <p:nvPr/>
        </p:nvGrpSpPr>
        <p:grpSpPr>
          <a:xfrm>
            <a:off x="1467917" y="5745568"/>
            <a:ext cx="3765881" cy="533230"/>
            <a:chOff x="629305" y="3265901"/>
            <a:chExt cx="3765881" cy="533230"/>
          </a:xfrm>
        </p:grpSpPr>
        <p:sp>
          <p:nvSpPr>
            <p:cNvPr id="42" name="Flowchart: Connector 41">
              <a:extLst>
                <a:ext uri="{FF2B5EF4-FFF2-40B4-BE49-F238E27FC236}">
                  <a16:creationId xmlns:a16="http://schemas.microsoft.com/office/drawing/2014/main" id="{67513BC7-68DF-24FE-4263-196FD526EB8B}"/>
                </a:ext>
              </a:extLst>
            </p:cNvPr>
            <p:cNvSpPr/>
            <p:nvPr/>
          </p:nvSpPr>
          <p:spPr>
            <a:xfrm>
              <a:off x="629305" y="3265901"/>
              <a:ext cx="533230" cy="533230"/>
            </a:xfrm>
            <a:prstGeom prst="flowChartConnector">
              <a:avLst/>
            </a:prstGeom>
            <a:solidFill>
              <a:schemeClr val="bg1"/>
            </a:solidFill>
            <a:ln>
              <a:solidFill>
                <a:srgbClr val="D3242A"/>
              </a:solidFill>
              <a:prstDash val="dash"/>
            </a:ln>
            <a:effectLst>
              <a:outerShdw blurRad="127000" algn="ctr" rotWithShape="0">
                <a:prstClr val="black">
                  <a:alpha val="2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3D02AF04-CA85-B2B9-3319-0EB57930B579}"/>
                </a:ext>
              </a:extLst>
            </p:cNvPr>
            <p:cNvSpPr txBox="1"/>
            <p:nvPr/>
          </p:nvSpPr>
          <p:spPr>
            <a:xfrm>
              <a:off x="1371601" y="3351369"/>
              <a:ext cx="3023585" cy="369332"/>
            </a:xfrm>
            <a:prstGeom prst="rect">
              <a:avLst/>
            </a:prstGeom>
            <a:noFill/>
          </p:spPr>
          <p:txBody>
            <a:bodyPr wrap="none" rtlCol="0">
              <a:spAutoFit/>
            </a:bodyPr>
            <a:lstStyle/>
            <a:p>
              <a:pPr>
                <a:buFont typeface="Arial" panose="020B0604020202020204" pitchFamily="34" charset="0"/>
                <a:buChar char="•"/>
              </a:pPr>
              <a:r>
                <a:rPr lang="en-US" dirty="0"/>
                <a:t> Remove duplicate data</a:t>
              </a:r>
            </a:p>
          </p:txBody>
        </p:sp>
      </p:grpSp>
      <p:sp>
        <p:nvSpPr>
          <p:cNvPr id="44" name="TextBox 43">
            <a:extLst>
              <a:ext uri="{FF2B5EF4-FFF2-40B4-BE49-F238E27FC236}">
                <a16:creationId xmlns:a16="http://schemas.microsoft.com/office/drawing/2014/main" id="{4D5521A4-2698-7B89-2B65-C7A4D143EEFD}"/>
              </a:ext>
            </a:extLst>
          </p:cNvPr>
          <p:cNvSpPr txBox="1"/>
          <p:nvPr/>
        </p:nvSpPr>
        <p:spPr>
          <a:xfrm>
            <a:off x="1509244" y="5842529"/>
            <a:ext cx="455574" cy="338554"/>
          </a:xfrm>
          <a:prstGeom prst="rect">
            <a:avLst/>
          </a:prstGeom>
          <a:noFill/>
        </p:spPr>
        <p:txBody>
          <a:bodyPr wrap="none" rtlCol="0">
            <a:spAutoFit/>
          </a:bodyPr>
          <a:lstStyle/>
          <a:p>
            <a:r>
              <a:rPr lang="en-US" sz="1600" b="1" dirty="0"/>
              <a:t>06</a:t>
            </a:r>
          </a:p>
        </p:txBody>
      </p:sp>
    </p:spTree>
    <p:extLst>
      <p:ext uri="{BB962C8B-B14F-4D97-AF65-F5344CB8AC3E}">
        <p14:creationId xmlns:p14="http://schemas.microsoft.com/office/powerpoint/2010/main" val="20882759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BB89-12E7-62C0-7A9A-58BB54A3C6A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95703E1-6CAD-57FE-7C39-9837295079D8}"/>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0D871489-7A47-EEDD-A57C-4C886845FEE1}"/>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ECC866EF-7450-0AE7-AF76-39430CF5E05B}"/>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DATA TRANSFORMATION</a:t>
            </a:r>
          </a:p>
        </p:txBody>
      </p:sp>
      <p:sp>
        <p:nvSpPr>
          <p:cNvPr id="6" name="TextBox 5">
            <a:extLst>
              <a:ext uri="{FF2B5EF4-FFF2-40B4-BE49-F238E27FC236}">
                <a16:creationId xmlns:a16="http://schemas.microsoft.com/office/drawing/2014/main" id="{5F49A60A-92CA-3F7C-1CFF-264A3A3333E7}"/>
              </a:ext>
            </a:extLst>
          </p:cNvPr>
          <p:cNvSpPr txBox="1"/>
          <p:nvPr/>
        </p:nvSpPr>
        <p:spPr>
          <a:xfrm>
            <a:off x="509123" y="246742"/>
            <a:ext cx="4230645"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pre-processing</a:t>
            </a:r>
            <a:r>
              <a:rPr lang="fr-FR" sz="2400" dirty="0">
                <a:latin typeface="Montserrat" pitchFamily="2" charset="0"/>
              </a:rPr>
              <a:t> </a:t>
            </a:r>
            <a:r>
              <a:rPr lang="fr-FR" sz="2400" dirty="0" err="1">
                <a:latin typeface="Montserrat" pitchFamily="2" charset="0"/>
              </a:rPr>
              <a:t>steps</a:t>
            </a:r>
            <a:endParaRPr lang="fr-FR" sz="2400" dirty="0">
              <a:latin typeface="Montserrat" pitchFamily="2" charset="0"/>
            </a:endParaRPr>
          </a:p>
        </p:txBody>
      </p:sp>
      <p:sp>
        <p:nvSpPr>
          <p:cNvPr id="2" name="Rectangle 1">
            <a:extLst>
              <a:ext uri="{FF2B5EF4-FFF2-40B4-BE49-F238E27FC236}">
                <a16:creationId xmlns:a16="http://schemas.microsoft.com/office/drawing/2014/main" id="{D31465CF-6A42-E16A-19C8-31241032055C}"/>
              </a:ext>
            </a:extLst>
          </p:cNvPr>
          <p:cNvSpPr/>
          <p:nvPr/>
        </p:nvSpPr>
        <p:spPr>
          <a:xfrm>
            <a:off x="8229600" y="0"/>
            <a:ext cx="2908300" cy="638175"/>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07097DA4-C2FE-DC58-AB35-7198DDD793F3}"/>
              </a:ext>
            </a:extLst>
          </p:cNvPr>
          <p:cNvSpPr/>
          <p:nvPr/>
        </p:nvSpPr>
        <p:spPr>
          <a:xfrm>
            <a:off x="697433" y="1336227"/>
            <a:ext cx="10738171" cy="579548"/>
          </a:xfrm>
          <a:prstGeom prst="roundRect">
            <a:avLst>
              <a:gd name="adj" fmla="val 3743"/>
            </a:avLst>
          </a:prstGeom>
          <a:solidFill>
            <a:schemeClr val="bg1"/>
          </a:solidFill>
          <a:ln w="19050">
            <a:solidFill>
              <a:srgbClr val="D3242A"/>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Aggregation:</a:t>
            </a:r>
            <a:r>
              <a:rPr lang="en-US" dirty="0">
                <a:solidFill>
                  <a:schemeClr val="tx1"/>
                </a:solidFill>
              </a:rPr>
              <a:t> Data aggregation combines all of your data together in a uniform format.</a:t>
            </a:r>
          </a:p>
        </p:txBody>
      </p:sp>
      <p:sp>
        <p:nvSpPr>
          <p:cNvPr id="28" name="Rectangle: Rounded Corners 27">
            <a:extLst>
              <a:ext uri="{FF2B5EF4-FFF2-40B4-BE49-F238E27FC236}">
                <a16:creationId xmlns:a16="http://schemas.microsoft.com/office/drawing/2014/main" id="{9CDD2339-7388-99FB-93FF-AB6AD5D287BB}"/>
              </a:ext>
            </a:extLst>
          </p:cNvPr>
          <p:cNvSpPr/>
          <p:nvPr/>
        </p:nvSpPr>
        <p:spPr>
          <a:xfrm>
            <a:off x="697433" y="2116439"/>
            <a:ext cx="10738171" cy="1388481"/>
          </a:xfrm>
          <a:prstGeom prst="roundRect">
            <a:avLst>
              <a:gd name="adj" fmla="val 3743"/>
            </a:avLst>
          </a:prstGeom>
          <a:solidFill>
            <a:schemeClr val="bg1"/>
          </a:solidFill>
          <a:ln w="19050">
            <a:solidFill>
              <a:srgbClr val="D3242A"/>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Normalization:</a:t>
            </a:r>
            <a:r>
              <a:rPr lang="en-US" dirty="0">
                <a:solidFill>
                  <a:schemeClr val="tx1"/>
                </a:solidFill>
              </a:rPr>
              <a:t> Normalization scales your data into a regularized range so that you can compare it more accurately. For example, if you’re comparing employee loss or gain within a number of companies (some with just a dozen employees and some with 200+), you’ll have to scale them within a specified range, like -1.0 to 1.0 or 0.0 to 1.0.</a:t>
            </a:r>
          </a:p>
        </p:txBody>
      </p:sp>
      <p:sp>
        <p:nvSpPr>
          <p:cNvPr id="31" name="Rectangle: Rounded Corners 30">
            <a:extLst>
              <a:ext uri="{FF2B5EF4-FFF2-40B4-BE49-F238E27FC236}">
                <a16:creationId xmlns:a16="http://schemas.microsoft.com/office/drawing/2014/main" id="{865C8A2F-9F07-7800-0C50-22C7FDFD4E53}"/>
              </a:ext>
            </a:extLst>
          </p:cNvPr>
          <p:cNvSpPr/>
          <p:nvPr/>
        </p:nvSpPr>
        <p:spPr>
          <a:xfrm>
            <a:off x="697433" y="4707654"/>
            <a:ext cx="10738171" cy="1305244"/>
          </a:xfrm>
          <a:prstGeom prst="roundRect">
            <a:avLst>
              <a:gd name="adj" fmla="val 3743"/>
            </a:avLst>
          </a:prstGeom>
          <a:solidFill>
            <a:schemeClr val="bg1"/>
          </a:solidFill>
          <a:ln w="19050">
            <a:solidFill>
              <a:srgbClr val="D3242A"/>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err="1">
                <a:solidFill>
                  <a:schemeClr val="tx1"/>
                </a:solidFill>
              </a:rPr>
              <a:t>Discreditization</a:t>
            </a:r>
            <a:r>
              <a:rPr lang="en-US" b="1" dirty="0">
                <a:solidFill>
                  <a:schemeClr val="tx1"/>
                </a:solidFill>
              </a:rPr>
              <a:t>:</a:t>
            </a:r>
            <a:r>
              <a:rPr lang="en-US" dirty="0">
                <a:solidFill>
                  <a:schemeClr val="tx1"/>
                </a:solidFill>
              </a:rPr>
              <a:t> Discretization pools data into smaller intervals. It’s somewhat similar to binning, but usually happens after data has been cleaned. For example, when calculating average daily exercise, rather than using the exact minutes and seconds, you could join together data to fall into 0-15 minutes, 15-30, etc.</a:t>
            </a:r>
          </a:p>
        </p:txBody>
      </p:sp>
      <p:sp>
        <p:nvSpPr>
          <p:cNvPr id="32" name="Rectangle: Rounded Corners 31">
            <a:extLst>
              <a:ext uri="{FF2B5EF4-FFF2-40B4-BE49-F238E27FC236}">
                <a16:creationId xmlns:a16="http://schemas.microsoft.com/office/drawing/2014/main" id="{4729FA74-DBE5-410E-5D13-805D97D0AE5C}"/>
              </a:ext>
            </a:extLst>
          </p:cNvPr>
          <p:cNvSpPr/>
          <p:nvPr/>
        </p:nvSpPr>
        <p:spPr>
          <a:xfrm>
            <a:off x="697433" y="3705584"/>
            <a:ext cx="10738171" cy="801406"/>
          </a:xfrm>
          <a:prstGeom prst="roundRect">
            <a:avLst>
              <a:gd name="adj" fmla="val 3743"/>
            </a:avLst>
          </a:prstGeom>
          <a:solidFill>
            <a:schemeClr val="bg1"/>
          </a:solidFill>
          <a:ln w="19050">
            <a:solidFill>
              <a:srgbClr val="D3242A"/>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Feature selection:</a:t>
            </a:r>
            <a:r>
              <a:rPr lang="en-US" dirty="0">
                <a:solidFill>
                  <a:schemeClr val="tx1"/>
                </a:solidFill>
              </a:rPr>
              <a:t> Feature selection is the process of deciding which variables (features, characteristics, categories, etc.) are most important to your analysis.</a:t>
            </a:r>
          </a:p>
        </p:txBody>
      </p:sp>
    </p:spTree>
    <p:extLst>
      <p:ext uri="{BB962C8B-B14F-4D97-AF65-F5344CB8AC3E}">
        <p14:creationId xmlns:p14="http://schemas.microsoft.com/office/powerpoint/2010/main" val="3438366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95534-C36B-8ADF-0FD0-3A8F7DCDB64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09F325B-DD7E-5C1C-8078-CF5715736950}"/>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CE984DA8-8FE2-5094-7F3C-9FBE31D411CF}"/>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C10B4940-3648-73F5-AEBC-4AEE6BF38B6E}"/>
              </a:ext>
            </a:extLst>
          </p:cNvPr>
          <p:cNvSpPr txBox="1"/>
          <p:nvPr/>
        </p:nvSpPr>
        <p:spPr>
          <a:xfrm>
            <a:off x="503580" y="541907"/>
            <a:ext cx="817560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DATA REDUCTION</a:t>
            </a:r>
          </a:p>
        </p:txBody>
      </p:sp>
      <p:sp>
        <p:nvSpPr>
          <p:cNvPr id="6" name="TextBox 5">
            <a:extLst>
              <a:ext uri="{FF2B5EF4-FFF2-40B4-BE49-F238E27FC236}">
                <a16:creationId xmlns:a16="http://schemas.microsoft.com/office/drawing/2014/main" id="{F633AF36-D6FD-4B53-425F-14601D17AA61}"/>
              </a:ext>
            </a:extLst>
          </p:cNvPr>
          <p:cNvSpPr txBox="1"/>
          <p:nvPr/>
        </p:nvSpPr>
        <p:spPr>
          <a:xfrm>
            <a:off x="509123" y="246742"/>
            <a:ext cx="4230645" cy="461665"/>
          </a:xfrm>
          <a:prstGeom prst="rect">
            <a:avLst/>
          </a:prstGeom>
          <a:noFill/>
        </p:spPr>
        <p:txBody>
          <a:bodyPr wrap="none" rtlCol="0">
            <a:spAutoFit/>
          </a:bodyPr>
          <a:lstStyle/>
          <a:p>
            <a:r>
              <a:rPr lang="fr-FR" sz="2400" dirty="0">
                <a:latin typeface="Montserrat" pitchFamily="2" charset="0"/>
              </a:rPr>
              <a:t>Data </a:t>
            </a:r>
            <a:r>
              <a:rPr lang="fr-FR" sz="2400" dirty="0" err="1">
                <a:latin typeface="Montserrat" pitchFamily="2" charset="0"/>
              </a:rPr>
              <a:t>pre-processing</a:t>
            </a:r>
            <a:r>
              <a:rPr lang="fr-FR" sz="2400" dirty="0">
                <a:latin typeface="Montserrat" pitchFamily="2" charset="0"/>
              </a:rPr>
              <a:t> </a:t>
            </a:r>
            <a:r>
              <a:rPr lang="fr-FR" sz="2400" dirty="0" err="1">
                <a:latin typeface="Montserrat" pitchFamily="2" charset="0"/>
              </a:rPr>
              <a:t>steps</a:t>
            </a:r>
            <a:endParaRPr lang="fr-FR" sz="2400" dirty="0">
              <a:latin typeface="Montserrat" pitchFamily="2" charset="0"/>
            </a:endParaRPr>
          </a:p>
        </p:txBody>
      </p:sp>
      <p:sp>
        <p:nvSpPr>
          <p:cNvPr id="2" name="Rectangle 1">
            <a:extLst>
              <a:ext uri="{FF2B5EF4-FFF2-40B4-BE49-F238E27FC236}">
                <a16:creationId xmlns:a16="http://schemas.microsoft.com/office/drawing/2014/main" id="{CDAE97D1-E490-CCA7-0508-B8FE67BF53CD}"/>
              </a:ext>
            </a:extLst>
          </p:cNvPr>
          <p:cNvSpPr/>
          <p:nvPr/>
        </p:nvSpPr>
        <p:spPr>
          <a:xfrm>
            <a:off x="8229600" y="0"/>
            <a:ext cx="2908300" cy="638175"/>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D4368674-97D1-7C46-5CA6-61CCA057972B}"/>
              </a:ext>
            </a:extLst>
          </p:cNvPr>
          <p:cNvSpPr/>
          <p:nvPr/>
        </p:nvSpPr>
        <p:spPr>
          <a:xfrm>
            <a:off x="697432" y="1690553"/>
            <a:ext cx="10738171" cy="1001007"/>
          </a:xfrm>
          <a:prstGeom prst="roundRect">
            <a:avLst>
              <a:gd name="adj" fmla="val 3743"/>
            </a:avLst>
          </a:prstGeom>
          <a:solidFill>
            <a:schemeClr val="bg1"/>
          </a:solidFill>
          <a:ln w="19050">
            <a:solidFill>
              <a:srgbClr val="D3242A"/>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Numerosity reduction:</a:t>
            </a:r>
            <a:r>
              <a:rPr lang="en-US" dirty="0">
                <a:solidFill>
                  <a:schemeClr val="tx1"/>
                </a:solidFill>
              </a:rPr>
              <a:t> This will help with data storage and transmission. You can use a regression model, for example, to use only the data and variables that are relevant to your analysis.</a:t>
            </a:r>
          </a:p>
        </p:txBody>
      </p:sp>
      <p:sp>
        <p:nvSpPr>
          <p:cNvPr id="28" name="Rectangle: Rounded Corners 27">
            <a:extLst>
              <a:ext uri="{FF2B5EF4-FFF2-40B4-BE49-F238E27FC236}">
                <a16:creationId xmlns:a16="http://schemas.microsoft.com/office/drawing/2014/main" id="{96336AF4-F911-45B7-6DB2-C834D7ACE662}"/>
              </a:ext>
            </a:extLst>
          </p:cNvPr>
          <p:cNvSpPr/>
          <p:nvPr/>
        </p:nvSpPr>
        <p:spPr>
          <a:xfrm>
            <a:off x="697432" y="3296285"/>
            <a:ext cx="10738171" cy="1100638"/>
          </a:xfrm>
          <a:prstGeom prst="roundRect">
            <a:avLst>
              <a:gd name="adj" fmla="val 3743"/>
            </a:avLst>
          </a:prstGeom>
          <a:solidFill>
            <a:schemeClr val="bg1"/>
          </a:solidFill>
          <a:ln w="19050">
            <a:solidFill>
              <a:srgbClr val="D3242A"/>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Attribute selection:</a:t>
            </a:r>
            <a:r>
              <a:rPr lang="en-US" dirty="0">
                <a:solidFill>
                  <a:schemeClr val="tx1"/>
                </a:solidFill>
              </a:rPr>
              <a:t> Similar to </a:t>
            </a:r>
            <a:r>
              <a:rPr lang="en-US" dirty="0" err="1">
                <a:solidFill>
                  <a:schemeClr val="tx1"/>
                </a:solidFill>
              </a:rPr>
              <a:t>discreditization</a:t>
            </a:r>
            <a:r>
              <a:rPr lang="en-US" dirty="0">
                <a:solidFill>
                  <a:schemeClr val="tx1"/>
                </a:solidFill>
              </a:rPr>
              <a:t>, attribute selection can fit your data into smaller pools. It, essentially, combines tags or features, so that tags like </a:t>
            </a:r>
            <a:r>
              <a:rPr lang="en-US" i="1" dirty="0">
                <a:solidFill>
                  <a:schemeClr val="tx1"/>
                </a:solidFill>
              </a:rPr>
              <a:t>male/female</a:t>
            </a:r>
            <a:r>
              <a:rPr lang="en-US" dirty="0">
                <a:solidFill>
                  <a:schemeClr val="tx1"/>
                </a:solidFill>
              </a:rPr>
              <a:t> and </a:t>
            </a:r>
            <a:r>
              <a:rPr lang="en-US" i="1" dirty="0">
                <a:solidFill>
                  <a:schemeClr val="tx1"/>
                </a:solidFill>
              </a:rPr>
              <a:t>professor</a:t>
            </a:r>
            <a:r>
              <a:rPr lang="en-US" dirty="0">
                <a:solidFill>
                  <a:schemeClr val="tx1"/>
                </a:solidFill>
              </a:rPr>
              <a:t> could be combined into </a:t>
            </a:r>
            <a:r>
              <a:rPr lang="en-US" i="1" dirty="0">
                <a:solidFill>
                  <a:schemeClr val="tx1"/>
                </a:solidFill>
              </a:rPr>
              <a:t>male professor/female professor</a:t>
            </a:r>
            <a:r>
              <a:rPr lang="en-US" dirty="0">
                <a:solidFill>
                  <a:schemeClr val="tx1"/>
                </a:solidFill>
              </a:rPr>
              <a:t>.</a:t>
            </a:r>
          </a:p>
        </p:txBody>
      </p:sp>
      <p:sp>
        <p:nvSpPr>
          <p:cNvPr id="32" name="Rectangle: Rounded Corners 31">
            <a:extLst>
              <a:ext uri="{FF2B5EF4-FFF2-40B4-BE49-F238E27FC236}">
                <a16:creationId xmlns:a16="http://schemas.microsoft.com/office/drawing/2014/main" id="{D1595AAC-8A11-C736-6C66-05363B70D919}"/>
              </a:ext>
            </a:extLst>
          </p:cNvPr>
          <p:cNvSpPr/>
          <p:nvPr/>
        </p:nvSpPr>
        <p:spPr>
          <a:xfrm>
            <a:off x="697433" y="4925111"/>
            <a:ext cx="10738171" cy="1002070"/>
          </a:xfrm>
          <a:prstGeom prst="roundRect">
            <a:avLst>
              <a:gd name="adj" fmla="val 3743"/>
            </a:avLst>
          </a:prstGeom>
          <a:solidFill>
            <a:schemeClr val="bg1"/>
          </a:solidFill>
          <a:ln w="19050">
            <a:solidFill>
              <a:srgbClr val="D3242A"/>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Dimensionality reduction:</a:t>
            </a:r>
            <a:r>
              <a:rPr lang="en-US" dirty="0">
                <a:solidFill>
                  <a:schemeClr val="tx1"/>
                </a:solidFill>
              </a:rPr>
              <a:t> This, again, reduces the amount of data used to help facilitate analysis and downstream processes. Algorithms like </a:t>
            </a:r>
            <a:r>
              <a:rPr lang="en-US" i="1" dirty="0">
                <a:solidFill>
                  <a:schemeClr val="tx1"/>
                </a:solidFill>
                <a:hlinkClick r:id="rId2">
                  <a:extLst>
                    <a:ext uri="{A12FA001-AC4F-418D-AE19-62706E023703}">
                      <ahyp:hlinkClr xmlns:ahyp="http://schemas.microsoft.com/office/drawing/2018/hyperlinkcolor" val="tx"/>
                    </a:ext>
                  </a:extLst>
                </a:hlinkClick>
              </a:rPr>
              <a:t>K-nearest neighbors</a:t>
            </a:r>
            <a:r>
              <a:rPr lang="en-US" dirty="0">
                <a:solidFill>
                  <a:schemeClr val="tx1"/>
                </a:solidFill>
              </a:rPr>
              <a:t> use pattern recognition to combine similar data and make it more manageable.</a:t>
            </a:r>
          </a:p>
        </p:txBody>
      </p:sp>
    </p:spTree>
    <p:extLst>
      <p:ext uri="{BB962C8B-B14F-4D97-AF65-F5344CB8AC3E}">
        <p14:creationId xmlns:p14="http://schemas.microsoft.com/office/powerpoint/2010/main" val="35458811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1ABB5-F5A5-E1FE-B7A9-68A165C2CC3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5EA2A02-6C66-4961-275D-CADEFA4EB0CE}"/>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E8E479B4-D476-8579-944D-A3C3CB40C354}"/>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BBEB4C32-FCBB-4A91-1DAF-CEB9FD570AF6}"/>
              </a:ext>
            </a:extLst>
          </p:cNvPr>
          <p:cNvSpPr txBox="1"/>
          <p:nvPr/>
        </p:nvSpPr>
        <p:spPr>
          <a:xfrm>
            <a:off x="503580" y="541907"/>
            <a:ext cx="1032256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TOOLS</a:t>
            </a:r>
          </a:p>
        </p:txBody>
      </p:sp>
      <p:sp>
        <p:nvSpPr>
          <p:cNvPr id="6" name="TextBox 5">
            <a:extLst>
              <a:ext uri="{FF2B5EF4-FFF2-40B4-BE49-F238E27FC236}">
                <a16:creationId xmlns:a16="http://schemas.microsoft.com/office/drawing/2014/main" id="{EC82261B-2970-6603-27B1-CA1C54369348}"/>
              </a:ext>
            </a:extLst>
          </p:cNvPr>
          <p:cNvSpPr txBox="1"/>
          <p:nvPr/>
        </p:nvSpPr>
        <p:spPr>
          <a:xfrm>
            <a:off x="509123" y="246742"/>
            <a:ext cx="2520242" cy="461665"/>
          </a:xfrm>
          <a:prstGeom prst="rect">
            <a:avLst/>
          </a:prstGeom>
          <a:noFill/>
        </p:spPr>
        <p:txBody>
          <a:bodyPr wrap="none" rtlCol="0">
            <a:spAutoFit/>
          </a:bodyPr>
          <a:lstStyle/>
          <a:p>
            <a:r>
              <a:rPr lang="fr-FR" sz="2400" dirty="0">
                <a:latin typeface="Montserrat" pitchFamily="2" charset="0"/>
              </a:rPr>
              <a:t>Pre-</a:t>
            </a:r>
            <a:r>
              <a:rPr lang="fr-FR" sz="2400" dirty="0" err="1">
                <a:latin typeface="Montserrat" pitchFamily="2" charset="0"/>
              </a:rPr>
              <a:t>processing</a:t>
            </a:r>
            <a:endParaRPr lang="fr-FR" sz="2400" dirty="0">
              <a:latin typeface="Montserrat" pitchFamily="2" charset="0"/>
            </a:endParaRPr>
          </a:p>
        </p:txBody>
      </p:sp>
      <p:pic>
        <p:nvPicPr>
          <p:cNvPr id="11" name="Picture 10" descr="A blue and yellow snake logo&#10;&#10;Description automatically generated">
            <a:extLst>
              <a:ext uri="{FF2B5EF4-FFF2-40B4-BE49-F238E27FC236}">
                <a16:creationId xmlns:a16="http://schemas.microsoft.com/office/drawing/2014/main" id="{21117C5D-D3AB-C057-1B8A-63075A1B85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836" y="1654250"/>
            <a:ext cx="1862104" cy="1854830"/>
          </a:xfrm>
          <a:prstGeom prst="rect">
            <a:avLst/>
          </a:prstGeom>
        </p:spPr>
      </p:pic>
      <p:pic>
        <p:nvPicPr>
          <p:cNvPr id="14" name="Picture 13" descr="A green square with a white x on it&#10;&#10;Description automatically generated">
            <a:extLst>
              <a:ext uri="{FF2B5EF4-FFF2-40B4-BE49-F238E27FC236}">
                <a16:creationId xmlns:a16="http://schemas.microsoft.com/office/drawing/2014/main" id="{F391E138-6170-D8C3-E0F1-2258A54F41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7312" y="1180915"/>
            <a:ext cx="1956885" cy="1820084"/>
          </a:xfrm>
          <a:prstGeom prst="rect">
            <a:avLst/>
          </a:prstGeom>
        </p:spPr>
      </p:pic>
      <p:pic>
        <p:nvPicPr>
          <p:cNvPr id="17" name="Picture 16" descr="A cartoon orange with glasses&#10;&#10;Description automatically generated">
            <a:extLst>
              <a:ext uri="{FF2B5EF4-FFF2-40B4-BE49-F238E27FC236}">
                <a16:creationId xmlns:a16="http://schemas.microsoft.com/office/drawing/2014/main" id="{11F76464-5F3B-10C9-199C-4DF9A0F855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3241" y="1013958"/>
            <a:ext cx="2153998" cy="2153998"/>
          </a:xfrm>
          <a:prstGeom prst="rect">
            <a:avLst/>
          </a:prstGeom>
        </p:spPr>
      </p:pic>
      <p:pic>
        <p:nvPicPr>
          <p:cNvPr id="21" name="Picture 20" descr="A blue button with a white letter&#10;&#10;Description automatically generated">
            <a:extLst>
              <a:ext uri="{FF2B5EF4-FFF2-40B4-BE49-F238E27FC236}">
                <a16:creationId xmlns:a16="http://schemas.microsoft.com/office/drawing/2014/main" id="{AD8DC2A1-56A5-E01F-6656-2A5D67C069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06653" y="4047567"/>
            <a:ext cx="1956885" cy="1956885"/>
          </a:xfrm>
          <a:prstGeom prst="rect">
            <a:avLst/>
          </a:prstGeom>
        </p:spPr>
      </p:pic>
      <p:pic>
        <p:nvPicPr>
          <p:cNvPr id="23" name="Picture 22" descr="A logo of a coffee cup&#10;&#10;Description automatically generated">
            <a:extLst>
              <a:ext uri="{FF2B5EF4-FFF2-40B4-BE49-F238E27FC236}">
                <a16:creationId xmlns:a16="http://schemas.microsoft.com/office/drawing/2014/main" id="{423D2033-0AA2-8553-CFD8-DDB071B0A8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00109" y="4047567"/>
            <a:ext cx="2436845" cy="2153998"/>
          </a:xfrm>
          <a:prstGeom prst="rect">
            <a:avLst/>
          </a:prstGeom>
        </p:spPr>
      </p:pic>
      <p:pic>
        <p:nvPicPr>
          <p:cNvPr id="25" name="Picture 24" descr="A purple hexagon with a letter c and a hashtag&#10;&#10;Description automatically generated">
            <a:extLst>
              <a:ext uri="{FF2B5EF4-FFF2-40B4-BE49-F238E27FC236}">
                <a16:creationId xmlns:a16="http://schemas.microsoft.com/office/drawing/2014/main" id="{C2E22F25-C779-5BD0-6B20-B0C9BD4D196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29227" y="3509080"/>
            <a:ext cx="2296913" cy="2156667"/>
          </a:xfrm>
          <a:prstGeom prst="rect">
            <a:avLst/>
          </a:prstGeom>
        </p:spPr>
      </p:pic>
      <p:pic>
        <p:nvPicPr>
          <p:cNvPr id="30" name="Picture 29" descr="A red and orange bird&#10;&#10;Description automatically generated">
            <a:extLst>
              <a:ext uri="{FF2B5EF4-FFF2-40B4-BE49-F238E27FC236}">
                <a16:creationId xmlns:a16="http://schemas.microsoft.com/office/drawing/2014/main" id="{285DE722-C0FF-E210-6CCE-B2351E32DE4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964387" y="845068"/>
            <a:ext cx="2296914" cy="2068120"/>
          </a:xfrm>
          <a:prstGeom prst="rect">
            <a:avLst/>
          </a:prstGeom>
        </p:spPr>
      </p:pic>
      <p:sp>
        <p:nvSpPr>
          <p:cNvPr id="2" name="Rectangle 1">
            <a:extLst>
              <a:ext uri="{FF2B5EF4-FFF2-40B4-BE49-F238E27FC236}">
                <a16:creationId xmlns:a16="http://schemas.microsoft.com/office/drawing/2014/main" id="{EFC60A2B-F643-9A92-6BB7-1354DE94CA06}"/>
              </a:ext>
            </a:extLst>
          </p:cNvPr>
          <p:cNvSpPr/>
          <p:nvPr/>
        </p:nvSpPr>
        <p:spPr>
          <a:xfrm>
            <a:off x="329207" y="1437563"/>
            <a:ext cx="2411070" cy="2214832"/>
          </a:xfrm>
          <a:prstGeom prst="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911779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DDF51-79AA-79B6-F456-6CB6D4B36F9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F164922-1817-B099-5119-2F83C421E1C2}"/>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83BAC461-0DFD-3042-AD0B-1B20AD1953E5}"/>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9621242F-D418-2BD5-AF4D-337CC8D69993}"/>
              </a:ext>
            </a:extLst>
          </p:cNvPr>
          <p:cNvSpPr txBox="1"/>
          <p:nvPr/>
        </p:nvSpPr>
        <p:spPr>
          <a:xfrm>
            <a:off x="503580" y="541907"/>
            <a:ext cx="1032256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TOOLS</a:t>
            </a:r>
          </a:p>
        </p:txBody>
      </p:sp>
      <p:sp>
        <p:nvSpPr>
          <p:cNvPr id="6" name="TextBox 5">
            <a:extLst>
              <a:ext uri="{FF2B5EF4-FFF2-40B4-BE49-F238E27FC236}">
                <a16:creationId xmlns:a16="http://schemas.microsoft.com/office/drawing/2014/main" id="{F71BD49F-BB90-65F2-6596-1AF0FE579E95}"/>
              </a:ext>
            </a:extLst>
          </p:cNvPr>
          <p:cNvSpPr txBox="1"/>
          <p:nvPr/>
        </p:nvSpPr>
        <p:spPr>
          <a:xfrm>
            <a:off x="509123" y="246742"/>
            <a:ext cx="2520242" cy="461665"/>
          </a:xfrm>
          <a:prstGeom prst="rect">
            <a:avLst/>
          </a:prstGeom>
          <a:noFill/>
        </p:spPr>
        <p:txBody>
          <a:bodyPr wrap="none" rtlCol="0">
            <a:spAutoFit/>
          </a:bodyPr>
          <a:lstStyle/>
          <a:p>
            <a:r>
              <a:rPr lang="en-US" sz="2400" dirty="0">
                <a:latin typeface="Montserrat" pitchFamily="2" charset="0"/>
              </a:rPr>
              <a:t>Pre-processing</a:t>
            </a:r>
          </a:p>
        </p:txBody>
      </p:sp>
      <p:sp>
        <p:nvSpPr>
          <p:cNvPr id="13" name="TextBox 12">
            <a:extLst>
              <a:ext uri="{FF2B5EF4-FFF2-40B4-BE49-F238E27FC236}">
                <a16:creationId xmlns:a16="http://schemas.microsoft.com/office/drawing/2014/main" id="{75AF2AE2-9E46-C122-CD96-B6CC3932F903}"/>
              </a:ext>
            </a:extLst>
          </p:cNvPr>
          <p:cNvSpPr txBox="1"/>
          <p:nvPr/>
        </p:nvSpPr>
        <p:spPr>
          <a:xfrm>
            <a:off x="4021494" y="1008067"/>
            <a:ext cx="3831498" cy="369332"/>
          </a:xfrm>
          <a:prstGeom prst="rect">
            <a:avLst/>
          </a:prstGeom>
          <a:noFill/>
        </p:spPr>
        <p:txBody>
          <a:bodyPr wrap="none" rtlCol="0">
            <a:spAutoFit/>
          </a:bodyPr>
          <a:lstStyle/>
          <a:p>
            <a:r>
              <a:rPr lang="en-US" dirty="0"/>
              <a:t>Manual Edits is always possible!</a:t>
            </a:r>
          </a:p>
        </p:txBody>
      </p:sp>
      <p:pic>
        <p:nvPicPr>
          <p:cNvPr id="5122" name="Picture 2" descr="Improve Your Accuracy With Manual Data Editing | ChartMogul">
            <a:extLst>
              <a:ext uri="{FF2B5EF4-FFF2-40B4-BE49-F238E27FC236}">
                <a16:creationId xmlns:a16="http://schemas.microsoft.com/office/drawing/2014/main" id="{A29B39BD-95EF-7559-EA8E-EF88A8D8C9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8101" y="1724492"/>
            <a:ext cx="9901058" cy="4125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627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9D2A8-10C5-2598-CB7A-E61B849F17A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22F99D1-3D6C-3C4E-F6AA-13EE3CB5E871}"/>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C1099F0B-D76A-46EC-2D16-275D6E95E198}"/>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ADC59B9F-B546-7A4F-1CDE-160AE1533E69}"/>
              </a:ext>
            </a:extLst>
          </p:cNvPr>
          <p:cNvSpPr txBox="1"/>
          <p:nvPr/>
        </p:nvSpPr>
        <p:spPr>
          <a:xfrm>
            <a:off x="503580" y="541907"/>
            <a:ext cx="1032256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TOOLS</a:t>
            </a:r>
          </a:p>
        </p:txBody>
      </p:sp>
      <p:sp>
        <p:nvSpPr>
          <p:cNvPr id="6" name="TextBox 5">
            <a:extLst>
              <a:ext uri="{FF2B5EF4-FFF2-40B4-BE49-F238E27FC236}">
                <a16:creationId xmlns:a16="http://schemas.microsoft.com/office/drawing/2014/main" id="{33BF19BB-3B6B-1528-212C-8B1272F94B13}"/>
              </a:ext>
            </a:extLst>
          </p:cNvPr>
          <p:cNvSpPr txBox="1"/>
          <p:nvPr/>
        </p:nvSpPr>
        <p:spPr>
          <a:xfrm>
            <a:off x="509123" y="246742"/>
            <a:ext cx="2520242" cy="830997"/>
          </a:xfrm>
          <a:prstGeom prst="rect">
            <a:avLst/>
          </a:prstGeom>
          <a:noFill/>
        </p:spPr>
        <p:txBody>
          <a:bodyPr wrap="none" rtlCol="0">
            <a:spAutoFit/>
          </a:bodyPr>
          <a:lstStyle/>
          <a:p>
            <a:r>
              <a:rPr lang="fr-FR" sz="2400" dirty="0">
                <a:latin typeface="Montserrat" pitchFamily="2" charset="0"/>
              </a:rPr>
              <a:t>Pre-</a:t>
            </a:r>
            <a:r>
              <a:rPr lang="fr-FR" sz="2400" dirty="0" err="1">
                <a:latin typeface="Montserrat" pitchFamily="2" charset="0"/>
              </a:rPr>
              <a:t>processing</a:t>
            </a:r>
            <a:endParaRPr lang="fr-FR" sz="2400" dirty="0">
              <a:latin typeface="Montserrat" pitchFamily="2" charset="0"/>
            </a:endParaRPr>
          </a:p>
          <a:p>
            <a:endParaRPr lang="fr-FR" sz="2400" dirty="0">
              <a:latin typeface="Montserrat" pitchFamily="2" charset="0"/>
            </a:endParaRPr>
          </a:p>
        </p:txBody>
      </p:sp>
      <p:graphicFrame>
        <p:nvGraphicFramePr>
          <p:cNvPr id="2" name="Table 1">
            <a:extLst>
              <a:ext uri="{FF2B5EF4-FFF2-40B4-BE49-F238E27FC236}">
                <a16:creationId xmlns:a16="http://schemas.microsoft.com/office/drawing/2014/main" id="{420FBE22-C1DE-5ADE-8892-E70FD3B200A7}"/>
              </a:ext>
            </a:extLst>
          </p:cNvPr>
          <p:cNvGraphicFramePr>
            <a:graphicFrameLocks noGrp="1"/>
          </p:cNvGraphicFramePr>
          <p:nvPr>
            <p:extLst>
              <p:ext uri="{D42A27DB-BD31-4B8C-83A1-F6EECF244321}">
                <p14:modId xmlns:p14="http://schemas.microsoft.com/office/powerpoint/2010/main" val="1300070584"/>
              </p:ext>
            </p:extLst>
          </p:nvPr>
        </p:nvGraphicFramePr>
        <p:xfrm>
          <a:off x="618576" y="1908243"/>
          <a:ext cx="10830084" cy="4023360"/>
        </p:xfrm>
        <a:graphic>
          <a:graphicData uri="http://schemas.openxmlformats.org/drawingml/2006/table">
            <a:tbl>
              <a:tblPr/>
              <a:tblGrid>
                <a:gridCol w="3610028">
                  <a:extLst>
                    <a:ext uri="{9D8B030D-6E8A-4147-A177-3AD203B41FA5}">
                      <a16:colId xmlns:a16="http://schemas.microsoft.com/office/drawing/2014/main" val="2396207325"/>
                    </a:ext>
                  </a:extLst>
                </a:gridCol>
                <a:gridCol w="2284163">
                  <a:extLst>
                    <a:ext uri="{9D8B030D-6E8A-4147-A177-3AD203B41FA5}">
                      <a16:colId xmlns:a16="http://schemas.microsoft.com/office/drawing/2014/main" val="3189509674"/>
                    </a:ext>
                  </a:extLst>
                </a:gridCol>
                <a:gridCol w="4935893">
                  <a:extLst>
                    <a:ext uri="{9D8B030D-6E8A-4147-A177-3AD203B41FA5}">
                      <a16:colId xmlns:a16="http://schemas.microsoft.com/office/drawing/2014/main" val="249115882"/>
                    </a:ext>
                  </a:extLst>
                </a:gridCol>
              </a:tblGrid>
              <a:tr h="0">
                <a:tc>
                  <a:txBody>
                    <a:bodyPr/>
                    <a:lstStyle/>
                    <a:p>
                      <a:r>
                        <a:rPr lang="en-US" b="1" dirty="0"/>
                        <a:t>Date</a:t>
                      </a:r>
                    </a:p>
                  </a:txBody>
                  <a:tcPr anchor="ctr">
                    <a:lnL>
                      <a:noFill/>
                    </a:lnL>
                    <a:lnR>
                      <a:noFill/>
                    </a:lnR>
                    <a:lnT>
                      <a:noFill/>
                    </a:lnT>
                    <a:lnB>
                      <a:noFill/>
                    </a:lnB>
                    <a:noFill/>
                  </a:tcPr>
                </a:tc>
                <a:tc>
                  <a:txBody>
                    <a:bodyPr/>
                    <a:lstStyle/>
                    <a:p>
                      <a:r>
                        <a:rPr lang="en-US" b="1" dirty="0"/>
                        <a:t>Country</a:t>
                      </a:r>
                    </a:p>
                  </a:txBody>
                  <a:tcPr anchor="ctr">
                    <a:lnL>
                      <a:noFill/>
                    </a:lnL>
                    <a:lnR>
                      <a:noFill/>
                    </a:lnR>
                    <a:lnT>
                      <a:noFill/>
                    </a:lnT>
                    <a:lnB>
                      <a:noFill/>
                    </a:lnB>
                    <a:noFill/>
                  </a:tcPr>
                </a:tc>
                <a:tc>
                  <a:txBody>
                    <a:bodyPr/>
                    <a:lstStyle/>
                    <a:p>
                      <a:r>
                        <a:rPr lang="en-US" b="1" dirty="0"/>
                        <a:t>Sales Amount (in thousands)</a:t>
                      </a:r>
                    </a:p>
                  </a:txBody>
                  <a:tcPr anchor="ctr">
                    <a:lnL>
                      <a:noFill/>
                    </a:lnL>
                    <a:lnR>
                      <a:noFill/>
                    </a:lnR>
                    <a:lnT>
                      <a:noFill/>
                    </a:lnT>
                    <a:lnB>
                      <a:noFill/>
                    </a:lnB>
                    <a:noFill/>
                  </a:tcPr>
                </a:tc>
                <a:extLst>
                  <a:ext uri="{0D108BD9-81ED-4DB2-BD59-A6C34878D82A}">
                    <a16:rowId xmlns:a16="http://schemas.microsoft.com/office/drawing/2014/main" val="1725860826"/>
                  </a:ext>
                </a:extLst>
              </a:tr>
              <a:tr h="0">
                <a:tc>
                  <a:txBody>
                    <a:bodyPr/>
                    <a:lstStyle/>
                    <a:p>
                      <a:r>
                        <a:rPr lang="en-US" dirty="0"/>
                        <a:t>2023-04-03 15:01:09.235</a:t>
                      </a:r>
                    </a:p>
                  </a:txBody>
                  <a:tcPr anchor="ctr">
                    <a:lnL>
                      <a:noFill/>
                    </a:lnL>
                    <a:lnR>
                      <a:noFill/>
                    </a:lnR>
                    <a:lnT>
                      <a:noFill/>
                    </a:lnT>
                    <a:lnB>
                      <a:noFill/>
                    </a:lnB>
                    <a:noFill/>
                  </a:tcPr>
                </a:tc>
                <a:tc>
                  <a:txBody>
                    <a:bodyPr/>
                    <a:lstStyle/>
                    <a:p>
                      <a:r>
                        <a:rPr lang="en-US" dirty="0"/>
                        <a:t>Canada</a:t>
                      </a:r>
                    </a:p>
                  </a:txBody>
                  <a:tcPr anchor="ctr">
                    <a:lnL>
                      <a:noFill/>
                    </a:lnL>
                    <a:lnR>
                      <a:noFill/>
                    </a:lnR>
                    <a:lnT>
                      <a:noFill/>
                    </a:lnT>
                    <a:lnB>
                      <a:noFill/>
                    </a:lnB>
                    <a:noFill/>
                  </a:tcPr>
                </a:tc>
                <a:tc>
                  <a:txBody>
                    <a:bodyPr/>
                    <a:lstStyle/>
                    <a:p>
                      <a:r>
                        <a:rPr lang="en-US" dirty="0"/>
                        <a:t>666.72</a:t>
                      </a:r>
                    </a:p>
                  </a:txBody>
                  <a:tcPr anchor="ctr">
                    <a:lnL>
                      <a:noFill/>
                    </a:lnL>
                    <a:lnR>
                      <a:noFill/>
                    </a:lnR>
                    <a:lnT>
                      <a:noFill/>
                    </a:lnT>
                    <a:lnB>
                      <a:noFill/>
                    </a:lnB>
                    <a:noFill/>
                  </a:tcPr>
                </a:tc>
                <a:extLst>
                  <a:ext uri="{0D108BD9-81ED-4DB2-BD59-A6C34878D82A}">
                    <a16:rowId xmlns:a16="http://schemas.microsoft.com/office/drawing/2014/main" val="3644913736"/>
                  </a:ext>
                </a:extLst>
              </a:tr>
              <a:tr h="0">
                <a:tc>
                  <a:txBody>
                    <a:bodyPr/>
                    <a:lstStyle/>
                    <a:p>
                      <a:r>
                        <a:rPr lang="en-US"/>
                        <a:t>2023-07-20 15:01:09.235</a:t>
                      </a:r>
                    </a:p>
                  </a:txBody>
                  <a:tcPr anchor="ctr">
                    <a:lnL>
                      <a:noFill/>
                    </a:lnL>
                    <a:lnR>
                      <a:noFill/>
                    </a:lnR>
                    <a:lnT>
                      <a:noFill/>
                    </a:lnT>
                    <a:lnB>
                      <a:noFill/>
                    </a:lnB>
                    <a:noFill/>
                  </a:tcPr>
                </a:tc>
                <a:tc>
                  <a:txBody>
                    <a:bodyPr/>
                    <a:lstStyle/>
                    <a:p>
                      <a:r>
                        <a:rPr lang="en-US"/>
                        <a:t>United States</a:t>
                      </a:r>
                    </a:p>
                  </a:txBody>
                  <a:tcPr anchor="ctr">
                    <a:lnL>
                      <a:noFill/>
                    </a:lnL>
                    <a:lnR>
                      <a:noFill/>
                    </a:lnR>
                    <a:lnT>
                      <a:noFill/>
                    </a:lnT>
                    <a:lnB>
                      <a:noFill/>
                    </a:lnB>
                    <a:noFill/>
                  </a:tcPr>
                </a:tc>
                <a:tc>
                  <a:txBody>
                    <a:bodyPr/>
                    <a:lstStyle/>
                    <a:p>
                      <a:r>
                        <a:rPr lang="en-US"/>
                        <a:t>920.49</a:t>
                      </a:r>
                    </a:p>
                  </a:txBody>
                  <a:tcPr anchor="ctr">
                    <a:lnL>
                      <a:noFill/>
                    </a:lnL>
                    <a:lnR>
                      <a:noFill/>
                    </a:lnR>
                    <a:lnT>
                      <a:noFill/>
                    </a:lnT>
                    <a:lnB>
                      <a:noFill/>
                    </a:lnB>
                    <a:noFill/>
                  </a:tcPr>
                </a:tc>
                <a:extLst>
                  <a:ext uri="{0D108BD9-81ED-4DB2-BD59-A6C34878D82A}">
                    <a16:rowId xmlns:a16="http://schemas.microsoft.com/office/drawing/2014/main" val="1859443622"/>
                  </a:ext>
                </a:extLst>
              </a:tr>
              <a:tr h="0">
                <a:tc>
                  <a:txBody>
                    <a:bodyPr/>
                    <a:lstStyle/>
                    <a:p>
                      <a:r>
                        <a:rPr lang="en-US" b="1" dirty="0"/>
                        <a:t>2023-05-10</a:t>
                      </a:r>
                    </a:p>
                  </a:txBody>
                  <a:tcPr anchor="ctr">
                    <a:lnL>
                      <a:noFill/>
                    </a:lnL>
                    <a:lnR>
                      <a:noFill/>
                    </a:lnR>
                    <a:lnT>
                      <a:noFill/>
                    </a:lnT>
                    <a:lnB>
                      <a:noFill/>
                    </a:lnB>
                    <a:noFill/>
                  </a:tcPr>
                </a:tc>
                <a:tc>
                  <a:txBody>
                    <a:bodyPr/>
                    <a:lstStyle/>
                    <a:p>
                      <a:r>
                        <a:rPr lang="en-US"/>
                        <a:t>Canada</a:t>
                      </a:r>
                    </a:p>
                  </a:txBody>
                  <a:tcPr anchor="ctr">
                    <a:lnL>
                      <a:noFill/>
                    </a:lnL>
                    <a:lnR>
                      <a:noFill/>
                    </a:lnR>
                    <a:lnT>
                      <a:noFill/>
                    </a:lnT>
                    <a:lnB>
                      <a:noFill/>
                    </a:lnB>
                    <a:noFill/>
                  </a:tcPr>
                </a:tc>
                <a:tc>
                  <a:txBody>
                    <a:bodyPr/>
                    <a:lstStyle/>
                    <a:p>
                      <a:r>
                        <a:rPr lang="en-US"/>
                        <a:t>37.50</a:t>
                      </a:r>
                    </a:p>
                  </a:txBody>
                  <a:tcPr anchor="ctr">
                    <a:lnL>
                      <a:noFill/>
                    </a:lnL>
                    <a:lnR>
                      <a:noFill/>
                    </a:lnR>
                    <a:lnT>
                      <a:noFill/>
                    </a:lnT>
                    <a:lnB>
                      <a:noFill/>
                    </a:lnB>
                    <a:noFill/>
                  </a:tcPr>
                </a:tc>
                <a:extLst>
                  <a:ext uri="{0D108BD9-81ED-4DB2-BD59-A6C34878D82A}">
                    <a16:rowId xmlns:a16="http://schemas.microsoft.com/office/drawing/2014/main" val="2556624516"/>
                  </a:ext>
                </a:extLst>
              </a:tr>
              <a:tr h="0">
                <a:tc>
                  <a:txBody>
                    <a:bodyPr/>
                    <a:lstStyle/>
                    <a:p>
                      <a:r>
                        <a:rPr lang="en-US"/>
                        <a:t>2023-09-20 15:01:09.235</a:t>
                      </a:r>
                    </a:p>
                  </a:txBody>
                  <a:tcPr anchor="ctr">
                    <a:lnL>
                      <a:noFill/>
                    </a:lnL>
                    <a:lnR>
                      <a:noFill/>
                    </a:lnR>
                    <a:lnT>
                      <a:noFill/>
                    </a:lnT>
                    <a:lnB>
                      <a:noFill/>
                    </a:lnB>
                    <a:noFill/>
                  </a:tcPr>
                </a:tc>
                <a:tc>
                  <a:txBody>
                    <a:bodyPr/>
                    <a:lstStyle/>
                    <a:p>
                      <a:r>
                        <a:rPr lang="en-US"/>
                        <a:t>France</a:t>
                      </a:r>
                    </a:p>
                  </a:txBody>
                  <a:tcPr anchor="ctr">
                    <a:lnL>
                      <a:noFill/>
                    </a:lnL>
                    <a:lnR>
                      <a:noFill/>
                    </a:lnR>
                    <a:lnT>
                      <a:noFill/>
                    </a:lnT>
                    <a:lnB>
                      <a:noFill/>
                    </a:lnB>
                    <a:noFill/>
                  </a:tcPr>
                </a:tc>
                <a:tc>
                  <a:txBody>
                    <a:bodyPr/>
                    <a:lstStyle/>
                    <a:p>
                      <a:r>
                        <a:rPr lang="en-US" dirty="0"/>
                        <a:t>372.04</a:t>
                      </a:r>
                    </a:p>
                  </a:txBody>
                  <a:tcPr anchor="ctr">
                    <a:lnL>
                      <a:noFill/>
                    </a:lnL>
                    <a:lnR>
                      <a:noFill/>
                    </a:lnR>
                    <a:lnT>
                      <a:noFill/>
                    </a:lnT>
                    <a:lnB>
                      <a:noFill/>
                    </a:lnB>
                    <a:noFill/>
                  </a:tcPr>
                </a:tc>
                <a:extLst>
                  <a:ext uri="{0D108BD9-81ED-4DB2-BD59-A6C34878D82A}">
                    <a16:rowId xmlns:a16="http://schemas.microsoft.com/office/drawing/2014/main" val="3498819080"/>
                  </a:ext>
                </a:extLst>
              </a:tr>
              <a:tr h="0">
                <a:tc>
                  <a:txBody>
                    <a:bodyPr/>
                    <a:lstStyle/>
                    <a:p>
                      <a:r>
                        <a:rPr lang="en-US"/>
                        <a:t>2023-11-04 15:01:09.235</a:t>
                      </a:r>
                    </a:p>
                  </a:txBody>
                  <a:tcPr anchor="ctr">
                    <a:lnL>
                      <a:noFill/>
                    </a:lnL>
                    <a:lnR>
                      <a:noFill/>
                    </a:lnR>
                    <a:lnT>
                      <a:noFill/>
                    </a:lnT>
                    <a:lnB>
                      <a:noFill/>
                    </a:lnB>
                    <a:noFill/>
                  </a:tcPr>
                </a:tc>
                <a:tc>
                  <a:txBody>
                    <a:bodyPr/>
                    <a:lstStyle/>
                    <a:p>
                      <a:r>
                        <a:rPr lang="en-US"/>
                        <a:t>South Africa</a:t>
                      </a:r>
                    </a:p>
                  </a:txBody>
                  <a:tcPr anchor="ctr">
                    <a:lnL>
                      <a:noFill/>
                    </a:lnL>
                    <a:lnR>
                      <a:noFill/>
                    </a:lnR>
                    <a:lnT>
                      <a:noFill/>
                    </a:lnT>
                    <a:lnB>
                      <a:noFill/>
                    </a:lnB>
                    <a:noFill/>
                  </a:tcPr>
                </a:tc>
                <a:tc>
                  <a:txBody>
                    <a:bodyPr/>
                    <a:lstStyle/>
                    <a:p>
                      <a:r>
                        <a:rPr lang="en-US"/>
                        <a:t>952.16</a:t>
                      </a:r>
                    </a:p>
                  </a:txBody>
                  <a:tcPr anchor="ctr">
                    <a:lnL>
                      <a:noFill/>
                    </a:lnL>
                    <a:lnR>
                      <a:noFill/>
                    </a:lnR>
                    <a:lnT>
                      <a:noFill/>
                    </a:lnT>
                    <a:lnB>
                      <a:noFill/>
                    </a:lnB>
                    <a:noFill/>
                  </a:tcPr>
                </a:tc>
                <a:extLst>
                  <a:ext uri="{0D108BD9-81ED-4DB2-BD59-A6C34878D82A}">
                    <a16:rowId xmlns:a16="http://schemas.microsoft.com/office/drawing/2014/main" val="3202386225"/>
                  </a:ext>
                </a:extLst>
              </a:tr>
              <a:tr h="0">
                <a:tc>
                  <a:txBody>
                    <a:bodyPr/>
                    <a:lstStyle/>
                    <a:p>
                      <a:r>
                        <a:rPr lang="en-US" b="1" dirty="0"/>
                        <a:t>Friday, April 20, 2024</a:t>
                      </a:r>
                    </a:p>
                  </a:txBody>
                  <a:tcPr anchor="ctr">
                    <a:lnL>
                      <a:noFill/>
                    </a:lnL>
                    <a:lnR>
                      <a:noFill/>
                    </a:lnR>
                    <a:lnT>
                      <a:noFill/>
                    </a:lnT>
                    <a:lnB>
                      <a:noFill/>
                    </a:lnB>
                    <a:noFill/>
                  </a:tcPr>
                </a:tc>
                <a:tc>
                  <a:txBody>
                    <a:bodyPr/>
                    <a:lstStyle/>
                    <a:p>
                      <a:r>
                        <a:rPr lang="en-US" dirty="0"/>
                        <a:t>Japan</a:t>
                      </a:r>
                    </a:p>
                  </a:txBody>
                  <a:tcPr anchor="ctr">
                    <a:lnL>
                      <a:noFill/>
                    </a:lnL>
                    <a:lnR>
                      <a:noFill/>
                    </a:lnR>
                    <a:lnT>
                      <a:noFill/>
                    </a:lnT>
                    <a:lnB>
                      <a:noFill/>
                    </a:lnB>
                    <a:noFill/>
                  </a:tcPr>
                </a:tc>
                <a:tc>
                  <a:txBody>
                    <a:bodyPr/>
                    <a:lstStyle/>
                    <a:p>
                      <a:r>
                        <a:rPr lang="en-US"/>
                        <a:t>350.19</a:t>
                      </a:r>
                    </a:p>
                  </a:txBody>
                  <a:tcPr anchor="ctr">
                    <a:lnL>
                      <a:noFill/>
                    </a:lnL>
                    <a:lnR>
                      <a:noFill/>
                    </a:lnR>
                    <a:lnT>
                      <a:noFill/>
                    </a:lnT>
                    <a:lnB>
                      <a:noFill/>
                    </a:lnB>
                    <a:noFill/>
                  </a:tcPr>
                </a:tc>
                <a:extLst>
                  <a:ext uri="{0D108BD9-81ED-4DB2-BD59-A6C34878D82A}">
                    <a16:rowId xmlns:a16="http://schemas.microsoft.com/office/drawing/2014/main" val="2482720926"/>
                  </a:ext>
                </a:extLst>
              </a:tr>
              <a:tr h="0">
                <a:tc>
                  <a:txBody>
                    <a:bodyPr/>
                    <a:lstStyle/>
                    <a:p>
                      <a:r>
                        <a:rPr lang="en-US"/>
                        <a:t>2023-11-28 15:01:09.235</a:t>
                      </a:r>
                    </a:p>
                  </a:txBody>
                  <a:tcPr anchor="ctr">
                    <a:lnL>
                      <a:noFill/>
                    </a:lnL>
                    <a:lnR>
                      <a:noFill/>
                    </a:lnR>
                    <a:lnT>
                      <a:noFill/>
                    </a:lnT>
                    <a:lnB>
                      <a:noFill/>
                    </a:lnB>
                    <a:noFill/>
                  </a:tcPr>
                </a:tc>
                <a:tc>
                  <a:txBody>
                    <a:bodyPr/>
                    <a:lstStyle/>
                    <a:p>
                      <a:r>
                        <a:rPr lang="en-US"/>
                        <a:t>Germany</a:t>
                      </a:r>
                    </a:p>
                  </a:txBody>
                  <a:tcPr anchor="ctr">
                    <a:lnL>
                      <a:noFill/>
                    </a:lnL>
                    <a:lnR>
                      <a:noFill/>
                    </a:lnR>
                    <a:lnT>
                      <a:noFill/>
                    </a:lnT>
                    <a:lnB>
                      <a:noFill/>
                    </a:lnB>
                    <a:noFill/>
                  </a:tcPr>
                </a:tc>
                <a:tc>
                  <a:txBody>
                    <a:bodyPr/>
                    <a:lstStyle/>
                    <a:p>
                      <a:r>
                        <a:rPr lang="en-US"/>
                        <a:t>45.62</a:t>
                      </a:r>
                    </a:p>
                  </a:txBody>
                  <a:tcPr anchor="ctr">
                    <a:lnL>
                      <a:noFill/>
                    </a:lnL>
                    <a:lnR>
                      <a:noFill/>
                    </a:lnR>
                    <a:lnT>
                      <a:noFill/>
                    </a:lnT>
                    <a:lnB>
                      <a:noFill/>
                    </a:lnB>
                    <a:noFill/>
                  </a:tcPr>
                </a:tc>
                <a:extLst>
                  <a:ext uri="{0D108BD9-81ED-4DB2-BD59-A6C34878D82A}">
                    <a16:rowId xmlns:a16="http://schemas.microsoft.com/office/drawing/2014/main" val="1788517612"/>
                  </a:ext>
                </a:extLst>
              </a:tr>
              <a:tr h="0">
                <a:tc>
                  <a:txBody>
                    <a:bodyPr/>
                    <a:lstStyle/>
                    <a:p>
                      <a:r>
                        <a:rPr lang="en-US"/>
                        <a:t>2024-01-28 15:01:09.235</a:t>
                      </a:r>
                    </a:p>
                  </a:txBody>
                  <a:tcPr anchor="ctr">
                    <a:lnL>
                      <a:noFill/>
                    </a:lnL>
                    <a:lnR>
                      <a:noFill/>
                    </a:lnR>
                    <a:lnT>
                      <a:noFill/>
                    </a:lnT>
                    <a:lnB>
                      <a:noFill/>
                    </a:lnB>
                    <a:noFill/>
                  </a:tcPr>
                </a:tc>
                <a:tc>
                  <a:txBody>
                    <a:bodyPr/>
                    <a:lstStyle/>
                    <a:p>
                      <a:r>
                        <a:rPr lang="en-US"/>
                        <a:t>Japan</a:t>
                      </a:r>
                    </a:p>
                  </a:txBody>
                  <a:tcPr anchor="ctr">
                    <a:lnL>
                      <a:noFill/>
                    </a:lnL>
                    <a:lnR>
                      <a:noFill/>
                    </a:lnR>
                    <a:lnT>
                      <a:noFill/>
                    </a:lnT>
                    <a:lnB>
                      <a:noFill/>
                    </a:lnB>
                    <a:noFill/>
                  </a:tcPr>
                </a:tc>
                <a:tc>
                  <a:txBody>
                    <a:bodyPr/>
                    <a:lstStyle/>
                    <a:p>
                      <a:r>
                        <a:rPr lang="en-US"/>
                        <a:t>370.24</a:t>
                      </a:r>
                    </a:p>
                  </a:txBody>
                  <a:tcPr anchor="ctr">
                    <a:lnL>
                      <a:noFill/>
                    </a:lnL>
                    <a:lnR>
                      <a:noFill/>
                    </a:lnR>
                    <a:lnT>
                      <a:noFill/>
                    </a:lnT>
                    <a:lnB>
                      <a:noFill/>
                    </a:lnB>
                    <a:noFill/>
                  </a:tcPr>
                </a:tc>
                <a:extLst>
                  <a:ext uri="{0D108BD9-81ED-4DB2-BD59-A6C34878D82A}">
                    <a16:rowId xmlns:a16="http://schemas.microsoft.com/office/drawing/2014/main" val="227051554"/>
                  </a:ext>
                </a:extLst>
              </a:tr>
              <a:tr h="0">
                <a:tc>
                  <a:txBody>
                    <a:bodyPr/>
                    <a:lstStyle/>
                    <a:p>
                      <a:r>
                        <a:rPr lang="en-US"/>
                        <a:t>2024-01-31 15:01:09.235</a:t>
                      </a:r>
                    </a:p>
                  </a:txBody>
                  <a:tcPr anchor="ctr">
                    <a:lnL>
                      <a:noFill/>
                    </a:lnL>
                    <a:lnR>
                      <a:noFill/>
                    </a:lnR>
                    <a:lnT>
                      <a:noFill/>
                    </a:lnT>
                    <a:lnB>
                      <a:noFill/>
                    </a:lnB>
                    <a:noFill/>
                  </a:tcPr>
                </a:tc>
                <a:tc>
                  <a:txBody>
                    <a:bodyPr/>
                    <a:lstStyle/>
                    <a:p>
                      <a:r>
                        <a:rPr lang="en-US"/>
                        <a:t>France</a:t>
                      </a:r>
                    </a:p>
                  </a:txBody>
                  <a:tcPr anchor="ctr">
                    <a:lnL>
                      <a:noFill/>
                    </a:lnL>
                    <a:lnR>
                      <a:noFill/>
                    </a:lnR>
                    <a:lnT>
                      <a:noFill/>
                    </a:lnT>
                    <a:lnB>
                      <a:noFill/>
                    </a:lnB>
                    <a:noFill/>
                  </a:tcPr>
                </a:tc>
                <a:tc>
                  <a:txBody>
                    <a:bodyPr/>
                    <a:lstStyle/>
                    <a:p>
                      <a:r>
                        <a:rPr lang="en-US"/>
                        <a:t>586.97</a:t>
                      </a:r>
                    </a:p>
                  </a:txBody>
                  <a:tcPr anchor="ctr">
                    <a:lnL>
                      <a:noFill/>
                    </a:lnL>
                    <a:lnR>
                      <a:noFill/>
                    </a:lnR>
                    <a:lnT>
                      <a:noFill/>
                    </a:lnT>
                    <a:lnB>
                      <a:noFill/>
                    </a:lnB>
                    <a:noFill/>
                  </a:tcPr>
                </a:tc>
                <a:extLst>
                  <a:ext uri="{0D108BD9-81ED-4DB2-BD59-A6C34878D82A}">
                    <a16:rowId xmlns:a16="http://schemas.microsoft.com/office/drawing/2014/main" val="1773002460"/>
                  </a:ext>
                </a:extLst>
              </a:tr>
              <a:tr h="0">
                <a:tc>
                  <a:txBody>
                    <a:bodyPr/>
                    <a:lstStyle/>
                    <a:p>
                      <a:r>
                        <a:rPr lang="en-US"/>
                        <a:t>2024-02-20 15:01:09.235</a:t>
                      </a:r>
                    </a:p>
                  </a:txBody>
                  <a:tcPr anchor="ctr">
                    <a:lnL>
                      <a:noFill/>
                    </a:lnL>
                    <a:lnR>
                      <a:noFill/>
                    </a:lnR>
                    <a:lnT>
                      <a:noFill/>
                    </a:lnT>
                    <a:lnB>
                      <a:noFill/>
                    </a:lnB>
                    <a:noFill/>
                  </a:tcPr>
                </a:tc>
                <a:tc>
                  <a:txBody>
                    <a:bodyPr/>
                    <a:lstStyle/>
                    <a:p>
                      <a:r>
                        <a:rPr lang="en-US"/>
                        <a:t>Australia</a:t>
                      </a:r>
                    </a:p>
                  </a:txBody>
                  <a:tcPr anchor="ctr">
                    <a:lnL>
                      <a:noFill/>
                    </a:lnL>
                    <a:lnR>
                      <a:noFill/>
                    </a:lnR>
                    <a:lnT>
                      <a:noFill/>
                    </a:lnT>
                    <a:lnB>
                      <a:noFill/>
                    </a:lnB>
                    <a:noFill/>
                  </a:tcPr>
                </a:tc>
                <a:tc>
                  <a:txBody>
                    <a:bodyPr/>
                    <a:lstStyle/>
                    <a:p>
                      <a:r>
                        <a:rPr lang="en-US" dirty="0"/>
                        <a:t>973.36</a:t>
                      </a:r>
                    </a:p>
                  </a:txBody>
                  <a:tcPr anchor="ctr">
                    <a:lnL>
                      <a:noFill/>
                    </a:lnL>
                    <a:lnR>
                      <a:noFill/>
                    </a:lnR>
                    <a:lnT>
                      <a:noFill/>
                    </a:lnT>
                    <a:lnB>
                      <a:noFill/>
                    </a:lnB>
                    <a:noFill/>
                  </a:tcPr>
                </a:tc>
                <a:extLst>
                  <a:ext uri="{0D108BD9-81ED-4DB2-BD59-A6C34878D82A}">
                    <a16:rowId xmlns:a16="http://schemas.microsoft.com/office/drawing/2014/main" val="1797684318"/>
                  </a:ext>
                </a:extLst>
              </a:tr>
            </a:tbl>
          </a:graphicData>
        </a:graphic>
      </p:graphicFrame>
      <p:pic>
        <p:nvPicPr>
          <p:cNvPr id="13" name="Picture 12" descr="A green circle with white logo&#10;&#10;Description automatically generated">
            <a:extLst>
              <a:ext uri="{FF2B5EF4-FFF2-40B4-BE49-F238E27FC236}">
                <a16:creationId xmlns:a16="http://schemas.microsoft.com/office/drawing/2014/main" id="{5B41859A-C4E5-9FA0-212D-F58CB8C073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4746" y="297542"/>
            <a:ext cx="1582333" cy="1582333"/>
          </a:xfrm>
          <a:prstGeom prst="rect">
            <a:avLst/>
          </a:prstGeom>
        </p:spPr>
      </p:pic>
    </p:spTree>
    <p:extLst>
      <p:ext uri="{BB962C8B-B14F-4D97-AF65-F5344CB8AC3E}">
        <p14:creationId xmlns:p14="http://schemas.microsoft.com/office/powerpoint/2010/main" val="23735633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48C3F-5E2C-FD21-7C2B-0C8557E5C5B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4FBAD3B-329B-6871-CC41-8BCCF201914A}"/>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11D00547-FD2E-E1CD-5D39-A3CEE486BC9A}"/>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F532D2F6-165B-3908-DE69-80F95F43B600}"/>
              </a:ext>
            </a:extLst>
          </p:cNvPr>
          <p:cNvSpPr txBox="1"/>
          <p:nvPr/>
        </p:nvSpPr>
        <p:spPr>
          <a:xfrm>
            <a:off x="3029365" y="149004"/>
            <a:ext cx="1032256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ACTIVITY</a:t>
            </a:r>
          </a:p>
        </p:txBody>
      </p:sp>
      <p:sp>
        <p:nvSpPr>
          <p:cNvPr id="6" name="TextBox 5">
            <a:extLst>
              <a:ext uri="{FF2B5EF4-FFF2-40B4-BE49-F238E27FC236}">
                <a16:creationId xmlns:a16="http://schemas.microsoft.com/office/drawing/2014/main" id="{F5C87BB8-EB6E-EDF1-0411-265A57769462}"/>
              </a:ext>
            </a:extLst>
          </p:cNvPr>
          <p:cNvSpPr txBox="1"/>
          <p:nvPr/>
        </p:nvSpPr>
        <p:spPr>
          <a:xfrm>
            <a:off x="509123" y="246742"/>
            <a:ext cx="2520242" cy="461665"/>
          </a:xfrm>
          <a:prstGeom prst="rect">
            <a:avLst/>
          </a:prstGeom>
          <a:noFill/>
        </p:spPr>
        <p:txBody>
          <a:bodyPr wrap="none" rtlCol="0">
            <a:spAutoFit/>
          </a:bodyPr>
          <a:lstStyle/>
          <a:p>
            <a:r>
              <a:rPr lang="fr-FR" sz="2400" dirty="0">
                <a:latin typeface="Montserrat" pitchFamily="2" charset="0"/>
              </a:rPr>
              <a:t>Pre-</a:t>
            </a:r>
            <a:r>
              <a:rPr lang="fr-FR" sz="2400" dirty="0" err="1">
                <a:latin typeface="Montserrat" pitchFamily="2" charset="0"/>
              </a:rPr>
              <a:t>processing</a:t>
            </a:r>
            <a:endParaRPr lang="fr-FR" sz="2400" dirty="0">
              <a:latin typeface="Montserrat" pitchFamily="2" charset="0"/>
            </a:endParaRPr>
          </a:p>
        </p:txBody>
      </p:sp>
      <p:sp>
        <p:nvSpPr>
          <p:cNvPr id="11" name="TextBox 10">
            <a:extLst>
              <a:ext uri="{FF2B5EF4-FFF2-40B4-BE49-F238E27FC236}">
                <a16:creationId xmlns:a16="http://schemas.microsoft.com/office/drawing/2014/main" id="{8D92DC28-93FD-A9E4-F379-19A3940DC4C7}"/>
              </a:ext>
            </a:extLst>
          </p:cNvPr>
          <p:cNvSpPr txBox="1"/>
          <p:nvPr/>
        </p:nvSpPr>
        <p:spPr>
          <a:xfrm>
            <a:off x="503580" y="708407"/>
            <a:ext cx="8368645" cy="5909310"/>
          </a:xfrm>
          <a:prstGeom prst="rect">
            <a:avLst/>
          </a:prstGeom>
          <a:noFill/>
        </p:spPr>
        <p:txBody>
          <a:bodyPr wrap="square">
            <a:spAutoFit/>
          </a:bodyPr>
          <a:lstStyle/>
          <a:p>
            <a:pPr>
              <a:buNone/>
            </a:pPr>
            <a:r>
              <a:rPr lang="en-US" sz="1400" dirty="0"/>
              <a:t>Task: Handling and Imputing Missing Data (GEM – Individual Data)</a:t>
            </a:r>
          </a:p>
          <a:p>
            <a:pPr>
              <a:buNone/>
            </a:pPr>
            <a:endParaRPr lang="en-US" sz="1400" dirty="0"/>
          </a:p>
          <a:p>
            <a:pPr>
              <a:buNone/>
            </a:pPr>
            <a:r>
              <a:rPr lang="en-US" sz="1400" b="1" dirty="0"/>
              <a:t>1. Load and Understand the Data</a:t>
            </a:r>
          </a:p>
          <a:p>
            <a:r>
              <a:rPr lang="en-US" sz="1400" dirty="0"/>
              <a:t>Import the GEM Individual dataset into your working environment (e.g., Python, R, Excel).</a:t>
            </a:r>
          </a:p>
          <a:p>
            <a:r>
              <a:rPr lang="en-US" sz="1400" dirty="0"/>
              <a:t>Inspect the dataset:</a:t>
            </a:r>
          </a:p>
          <a:p>
            <a:pPr marL="742950" lvl="1" indent="-285750">
              <a:buFont typeface="Arial" panose="020B0604020202020204" pitchFamily="34" charset="0"/>
              <a:buChar char="•"/>
            </a:pPr>
            <a:r>
              <a:rPr lang="en-US" sz="1400" dirty="0"/>
              <a:t>Check variable names, data types, and structure.</a:t>
            </a:r>
          </a:p>
          <a:p>
            <a:pPr marL="742950" lvl="1" indent="-285750">
              <a:buFont typeface="Arial" panose="020B0604020202020204" pitchFamily="34" charset="0"/>
              <a:buChar char="•"/>
            </a:pPr>
            <a:r>
              <a:rPr lang="en-US" sz="1400" dirty="0"/>
              <a:t>Identify which variables contain missing values.</a:t>
            </a:r>
          </a:p>
          <a:p>
            <a:pPr>
              <a:buNone/>
            </a:pPr>
            <a:endParaRPr lang="en-US" sz="1400" dirty="0"/>
          </a:p>
          <a:p>
            <a:pPr>
              <a:buNone/>
            </a:pPr>
            <a:r>
              <a:rPr lang="en-US" sz="1400" b="1" dirty="0"/>
              <a:t>2. Select Your Target</a:t>
            </a:r>
          </a:p>
          <a:p>
            <a:r>
              <a:rPr lang="en-US" sz="1400" dirty="0"/>
              <a:t>Choose:</a:t>
            </a:r>
          </a:p>
          <a:p>
            <a:pPr marL="742950" lvl="1" indent="-285750">
              <a:buFont typeface="Arial" panose="020B0604020202020204" pitchFamily="34" charset="0"/>
              <a:buChar char="•"/>
            </a:pPr>
            <a:r>
              <a:rPr lang="en-US" sz="1400" dirty="0"/>
              <a:t>One country (e.g., USA, Spain, India).</a:t>
            </a:r>
          </a:p>
          <a:p>
            <a:pPr marL="742950" lvl="1" indent="-285750">
              <a:buFont typeface="Arial" panose="020B0604020202020204" pitchFamily="34" charset="0"/>
              <a:buChar char="•"/>
            </a:pPr>
            <a:r>
              <a:rPr lang="en-US" sz="1400" dirty="0"/>
              <a:t>One variable to predict (this will be your </a:t>
            </a:r>
            <a:r>
              <a:rPr lang="en-US" sz="1400" i="1" dirty="0"/>
              <a:t>target variable</a:t>
            </a:r>
            <a:r>
              <a:rPr lang="en-US" sz="1400" dirty="0"/>
              <a:t> with missing values).</a:t>
            </a:r>
          </a:p>
          <a:p>
            <a:r>
              <a:rPr lang="en-US" sz="1400" dirty="0"/>
              <a:t>Clearly state your choice and justify it briefly.</a:t>
            </a:r>
          </a:p>
          <a:p>
            <a:endParaRPr lang="en-US" sz="1400" dirty="0"/>
          </a:p>
          <a:p>
            <a:pPr>
              <a:buNone/>
            </a:pPr>
            <a:r>
              <a:rPr lang="en-US" sz="1400" b="1" dirty="0"/>
              <a:t>3. Data Cleaning</a:t>
            </a:r>
          </a:p>
          <a:p>
            <a:r>
              <a:rPr lang="en-US" sz="1400" dirty="0"/>
              <a:t>Handle inconsistencies:</a:t>
            </a:r>
          </a:p>
          <a:p>
            <a:pPr marL="742950" lvl="1" indent="-285750">
              <a:buFont typeface="Arial" panose="020B0604020202020204" pitchFamily="34" charset="0"/>
              <a:buChar char="•"/>
            </a:pPr>
            <a:r>
              <a:rPr lang="en-US" sz="1400" dirty="0"/>
              <a:t>Remove duplicates.</a:t>
            </a:r>
          </a:p>
          <a:p>
            <a:pPr marL="742950" lvl="1" indent="-285750">
              <a:buFont typeface="Arial" panose="020B0604020202020204" pitchFamily="34" charset="0"/>
              <a:buChar char="•"/>
            </a:pPr>
            <a:r>
              <a:rPr lang="en-US" sz="1400" dirty="0"/>
              <a:t>Fix incorrect data types (e.g., strings to numeric).</a:t>
            </a:r>
          </a:p>
          <a:p>
            <a:pPr marL="742950" lvl="1" indent="-285750">
              <a:buFont typeface="Arial" panose="020B0604020202020204" pitchFamily="34" charset="0"/>
              <a:buChar char="•"/>
            </a:pPr>
            <a:r>
              <a:rPr lang="en-US" sz="1400" dirty="0"/>
              <a:t>Standardize categorical values if needed.</a:t>
            </a:r>
          </a:p>
          <a:p>
            <a:r>
              <a:rPr lang="en-US" sz="1400" dirty="0"/>
              <a:t>Decide how to treat:</a:t>
            </a:r>
          </a:p>
          <a:p>
            <a:pPr marL="742950" lvl="1" indent="-285750">
              <a:buFont typeface="Arial" panose="020B0604020202020204" pitchFamily="34" charset="0"/>
              <a:buChar char="•"/>
            </a:pPr>
            <a:r>
              <a:rPr lang="en-US" sz="1400" dirty="0"/>
              <a:t>Outliers (remove or keep with justification).</a:t>
            </a:r>
          </a:p>
          <a:p>
            <a:pPr marL="742950" lvl="1" indent="-285750">
              <a:buFont typeface="Arial" panose="020B0604020202020204" pitchFamily="34" charset="0"/>
              <a:buChar char="•"/>
            </a:pPr>
            <a:r>
              <a:rPr lang="en-US" sz="1400" dirty="0"/>
              <a:t>Invalid or impossible values.</a:t>
            </a:r>
          </a:p>
          <a:p>
            <a:pPr marL="742950" lvl="1" indent="-285750">
              <a:buFont typeface="Arial" panose="020B0604020202020204" pitchFamily="34" charset="0"/>
              <a:buChar char="•"/>
            </a:pPr>
            <a:endParaRPr lang="en-US" sz="1400" dirty="0"/>
          </a:p>
          <a:p>
            <a:pPr>
              <a:buNone/>
            </a:pPr>
            <a:r>
              <a:rPr lang="en-US" sz="1400" b="1" dirty="0"/>
              <a:t>4. Separate Data Based on Missingness</a:t>
            </a:r>
          </a:p>
          <a:p>
            <a:r>
              <a:rPr lang="en-US" sz="1400" dirty="0"/>
              <a:t>Split the dataset into:</a:t>
            </a:r>
          </a:p>
          <a:p>
            <a:pPr marL="742950" lvl="1" indent="-285750">
              <a:buFont typeface="Arial" panose="020B0604020202020204" pitchFamily="34" charset="0"/>
              <a:buChar char="•"/>
            </a:pPr>
            <a:r>
              <a:rPr lang="en-US" sz="1400" dirty="0"/>
              <a:t>“Have Data” → rows where the target variable is not missing.</a:t>
            </a:r>
          </a:p>
          <a:p>
            <a:pPr marL="742950" lvl="1" indent="-285750">
              <a:buFont typeface="Arial" panose="020B0604020202020204" pitchFamily="34" charset="0"/>
              <a:buChar char="•"/>
            </a:pPr>
            <a:r>
              <a:rPr lang="en-US" sz="1400" dirty="0"/>
              <a:t>“Missing Data” → rows where the target variable is missing.</a:t>
            </a:r>
          </a:p>
        </p:txBody>
      </p:sp>
    </p:spTree>
    <p:extLst>
      <p:ext uri="{BB962C8B-B14F-4D97-AF65-F5344CB8AC3E}">
        <p14:creationId xmlns:p14="http://schemas.microsoft.com/office/powerpoint/2010/main" val="2595296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41057-2FD0-F409-88C2-B16653F06D4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964E623-E4BD-5EC5-F8A4-FA1F2AB92979}"/>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F53B865B-C74B-C676-E8FE-C3202DEE0BD2}"/>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43210C51-0FD8-90C2-DDDD-AA8585883E59}"/>
              </a:ext>
            </a:extLst>
          </p:cNvPr>
          <p:cNvSpPr txBox="1"/>
          <p:nvPr/>
        </p:nvSpPr>
        <p:spPr>
          <a:xfrm>
            <a:off x="3029365" y="149004"/>
            <a:ext cx="1032256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ACTIVITY</a:t>
            </a:r>
          </a:p>
        </p:txBody>
      </p:sp>
      <p:sp>
        <p:nvSpPr>
          <p:cNvPr id="6" name="TextBox 5">
            <a:extLst>
              <a:ext uri="{FF2B5EF4-FFF2-40B4-BE49-F238E27FC236}">
                <a16:creationId xmlns:a16="http://schemas.microsoft.com/office/drawing/2014/main" id="{C930860E-7451-4F2E-2A67-05D46C0BE612}"/>
              </a:ext>
            </a:extLst>
          </p:cNvPr>
          <p:cNvSpPr txBox="1"/>
          <p:nvPr/>
        </p:nvSpPr>
        <p:spPr>
          <a:xfrm>
            <a:off x="509123" y="246742"/>
            <a:ext cx="2520242" cy="461665"/>
          </a:xfrm>
          <a:prstGeom prst="rect">
            <a:avLst/>
          </a:prstGeom>
          <a:noFill/>
        </p:spPr>
        <p:txBody>
          <a:bodyPr wrap="none" rtlCol="0">
            <a:spAutoFit/>
          </a:bodyPr>
          <a:lstStyle/>
          <a:p>
            <a:r>
              <a:rPr lang="fr-FR" sz="2400" dirty="0">
                <a:latin typeface="Montserrat" pitchFamily="2" charset="0"/>
              </a:rPr>
              <a:t>Pre-</a:t>
            </a:r>
            <a:r>
              <a:rPr lang="fr-FR" sz="2400" dirty="0" err="1">
                <a:latin typeface="Montserrat" pitchFamily="2" charset="0"/>
              </a:rPr>
              <a:t>processing</a:t>
            </a:r>
            <a:endParaRPr lang="fr-FR" sz="2400" dirty="0">
              <a:latin typeface="Montserrat" pitchFamily="2" charset="0"/>
            </a:endParaRPr>
          </a:p>
        </p:txBody>
      </p:sp>
      <p:sp>
        <p:nvSpPr>
          <p:cNvPr id="11" name="TextBox 10">
            <a:extLst>
              <a:ext uri="{FF2B5EF4-FFF2-40B4-BE49-F238E27FC236}">
                <a16:creationId xmlns:a16="http://schemas.microsoft.com/office/drawing/2014/main" id="{7A790351-8AC8-52C6-06B5-28110D8F3CCB}"/>
              </a:ext>
            </a:extLst>
          </p:cNvPr>
          <p:cNvSpPr txBox="1"/>
          <p:nvPr/>
        </p:nvSpPr>
        <p:spPr>
          <a:xfrm>
            <a:off x="503580" y="708407"/>
            <a:ext cx="8368645" cy="6186309"/>
          </a:xfrm>
          <a:prstGeom prst="rect">
            <a:avLst/>
          </a:prstGeom>
          <a:noFill/>
        </p:spPr>
        <p:txBody>
          <a:bodyPr wrap="square">
            <a:spAutoFit/>
          </a:bodyPr>
          <a:lstStyle/>
          <a:p>
            <a:r>
              <a:rPr lang="en-US" sz="1100" b="1" dirty="0"/>
              <a:t>5. Analyze Missing Data (MCAR Assessment)</a:t>
            </a:r>
          </a:p>
          <a:p>
            <a:endParaRPr lang="en-US" sz="1100" dirty="0"/>
          </a:p>
          <a:p>
            <a:r>
              <a:rPr lang="en-US" sz="1100" dirty="0"/>
              <a:t>Investigate whether the missing data is MCAR (Missing Completely At Random).</a:t>
            </a:r>
          </a:p>
          <a:p>
            <a:r>
              <a:rPr lang="en-US" sz="1100" dirty="0"/>
              <a:t>Create visualizations, such as:</a:t>
            </a:r>
          </a:p>
          <a:p>
            <a:pPr marL="628650" lvl="1" indent="-171450">
              <a:buFont typeface="Arial" panose="020B0604020202020204" pitchFamily="34" charset="0"/>
              <a:buChar char="•"/>
            </a:pPr>
            <a:r>
              <a:rPr lang="en-US" sz="1100" dirty="0"/>
              <a:t>Missing value heatmaps.</a:t>
            </a:r>
          </a:p>
          <a:p>
            <a:pPr marL="628650" lvl="1" indent="-171450">
              <a:buFont typeface="Arial" panose="020B0604020202020204" pitchFamily="34" charset="0"/>
              <a:buChar char="•"/>
            </a:pPr>
            <a:r>
              <a:rPr lang="en-US" sz="1100" dirty="0"/>
              <a:t>Bar charts showing missing vs non-missing counts.</a:t>
            </a:r>
          </a:p>
          <a:p>
            <a:pPr marL="628650" lvl="1" indent="-171450">
              <a:buFont typeface="Arial" panose="020B0604020202020204" pitchFamily="34" charset="0"/>
              <a:buChar char="•"/>
            </a:pPr>
            <a:r>
              <a:rPr lang="en-US" sz="1100" dirty="0"/>
              <a:t>Correlation of missingness with other variables.</a:t>
            </a:r>
          </a:p>
          <a:p>
            <a:r>
              <a:rPr lang="en-US" sz="1100" dirty="0"/>
              <a:t>Briefly interpret:</a:t>
            </a:r>
          </a:p>
          <a:p>
            <a:pPr marL="628650" lvl="1" indent="-171450">
              <a:buFont typeface="Arial" panose="020B0604020202020204" pitchFamily="34" charset="0"/>
              <a:buChar char="•"/>
            </a:pPr>
            <a:r>
              <a:rPr lang="en-US" sz="1100" dirty="0"/>
              <a:t>Does the missingness appear random or systematic?</a:t>
            </a:r>
            <a:br>
              <a:rPr lang="en-US" sz="1100" dirty="0"/>
            </a:br>
            <a:endParaRPr lang="en-US" sz="1100" dirty="0"/>
          </a:p>
          <a:p>
            <a:r>
              <a:rPr lang="en-US" sz="1100" b="1" dirty="0"/>
              <a:t>6. Train/Test Split</a:t>
            </a:r>
          </a:p>
          <a:p>
            <a:r>
              <a:rPr lang="en-US" sz="1100" dirty="0"/>
              <a:t>From the “Have Data” subset:</a:t>
            </a:r>
          </a:p>
          <a:p>
            <a:pPr lvl="1"/>
            <a:r>
              <a:rPr lang="en-US" sz="1100" dirty="0"/>
              <a:t>Split into:</a:t>
            </a:r>
          </a:p>
          <a:p>
            <a:pPr marL="1085850" lvl="2" indent="-171450">
              <a:buFont typeface="Arial" panose="020B0604020202020204" pitchFamily="34" charset="0"/>
              <a:buChar char="•"/>
            </a:pPr>
            <a:r>
              <a:rPr lang="en-US" sz="1100" dirty="0"/>
              <a:t>Training set (e.g., 70–80%)</a:t>
            </a:r>
          </a:p>
          <a:p>
            <a:pPr marL="1085850" lvl="2" indent="-171450">
              <a:buFont typeface="Arial" panose="020B0604020202020204" pitchFamily="34" charset="0"/>
              <a:buChar char="•"/>
            </a:pPr>
            <a:r>
              <a:rPr lang="en-US" sz="1100" dirty="0"/>
              <a:t>Testing set (20–30%)</a:t>
            </a:r>
          </a:p>
          <a:p>
            <a:r>
              <a:rPr lang="en-US" sz="1100" dirty="0"/>
              <a:t>Ensure:</a:t>
            </a:r>
          </a:p>
          <a:p>
            <a:pPr lvl="1"/>
            <a:r>
              <a:rPr lang="en-US" sz="1100" dirty="0"/>
              <a:t>Random splitting.</a:t>
            </a:r>
          </a:p>
          <a:p>
            <a:pPr lvl="1"/>
            <a:r>
              <a:rPr lang="en-US" sz="1100" dirty="0"/>
              <a:t>Reproducibility (set a random seed).</a:t>
            </a:r>
          </a:p>
          <a:p>
            <a:endParaRPr lang="en-US" sz="1100" b="1" dirty="0"/>
          </a:p>
          <a:p>
            <a:r>
              <a:rPr lang="en-US" sz="1100" b="1" dirty="0"/>
              <a:t>7. Model Selection and Training</a:t>
            </a:r>
          </a:p>
          <a:p>
            <a:endParaRPr lang="en-US" sz="1100" dirty="0"/>
          </a:p>
          <a:p>
            <a:r>
              <a:rPr lang="en-US" sz="1100" dirty="0"/>
              <a:t>Choose an appropriate model depending on your variable:</a:t>
            </a:r>
          </a:p>
          <a:p>
            <a:pPr marL="628650" lvl="1" indent="-171450">
              <a:buFont typeface="Arial" panose="020B0604020202020204" pitchFamily="34" charset="0"/>
              <a:buChar char="•"/>
            </a:pPr>
            <a:r>
              <a:rPr lang="en-US" sz="1100" dirty="0"/>
              <a:t>Logistic Regression (if binary outcome)</a:t>
            </a:r>
          </a:p>
          <a:p>
            <a:pPr marL="628650" lvl="1" indent="-171450">
              <a:buFont typeface="Arial" panose="020B0604020202020204" pitchFamily="34" charset="0"/>
              <a:buChar char="•"/>
            </a:pPr>
            <a:r>
              <a:rPr lang="en-US" sz="1100" dirty="0"/>
              <a:t>Other AI/ML models (e.g., Decision Tree, Random Forest, etc.)</a:t>
            </a:r>
          </a:p>
          <a:p>
            <a:r>
              <a:rPr lang="en-US" sz="1100" dirty="0"/>
              <a:t>Train the model using the training dataset.</a:t>
            </a:r>
          </a:p>
          <a:p>
            <a:r>
              <a:rPr lang="en-US" sz="1100" dirty="0"/>
              <a:t>Evaluate performance using the testing dataset:</a:t>
            </a:r>
          </a:p>
          <a:p>
            <a:pPr lvl="1"/>
            <a:r>
              <a:rPr lang="en-US" sz="1100" dirty="0"/>
              <a:t>Accuracy, precision, recall, etc. (depending on model type).</a:t>
            </a:r>
          </a:p>
          <a:p>
            <a:endParaRPr lang="en-US" sz="1100" dirty="0"/>
          </a:p>
          <a:p>
            <a:r>
              <a:rPr lang="en-US" sz="1100" b="1" dirty="0"/>
              <a:t>8. Missing Value Imputation (KNN / AI Model)</a:t>
            </a:r>
          </a:p>
          <a:p>
            <a:endParaRPr lang="en-US" sz="1100" dirty="0"/>
          </a:p>
          <a:p>
            <a:r>
              <a:rPr lang="en-US" sz="1100" dirty="0"/>
              <a:t>Apply a KNN imputation method or your trained model to:</a:t>
            </a:r>
          </a:p>
          <a:p>
            <a:pPr marL="628650" lvl="1" indent="-171450">
              <a:buFont typeface="Arial" panose="020B0604020202020204" pitchFamily="34" charset="0"/>
              <a:buChar char="•"/>
            </a:pPr>
            <a:r>
              <a:rPr lang="en-US" sz="1100" dirty="0"/>
              <a:t>Predict and fill in missing values in the “Missing Data” subset.</a:t>
            </a:r>
          </a:p>
          <a:p>
            <a:r>
              <a:rPr lang="en-US" sz="1100" dirty="0"/>
              <a:t>Clearly explain:</a:t>
            </a:r>
          </a:p>
          <a:p>
            <a:pPr marL="628650" lvl="1" indent="-171450">
              <a:buFont typeface="Arial" panose="020B0604020202020204" pitchFamily="34" charset="0"/>
              <a:buChar char="•"/>
            </a:pPr>
            <a:r>
              <a:rPr lang="en-US" sz="1100" dirty="0"/>
              <a:t>Why you chose this method.</a:t>
            </a:r>
          </a:p>
          <a:p>
            <a:pPr marL="628650" lvl="1" indent="-171450">
              <a:buFont typeface="Arial" panose="020B0604020202020204" pitchFamily="34" charset="0"/>
              <a:buChar char="•"/>
            </a:pPr>
            <a:r>
              <a:rPr lang="en-US" sz="1100" dirty="0"/>
              <a:t>How it works (briefly).</a:t>
            </a:r>
          </a:p>
        </p:txBody>
      </p:sp>
    </p:spTree>
    <p:extLst>
      <p:ext uri="{BB962C8B-B14F-4D97-AF65-F5344CB8AC3E}">
        <p14:creationId xmlns:p14="http://schemas.microsoft.com/office/powerpoint/2010/main" val="3763547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1A31E-8BD9-3EE9-7297-7045CE76116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B513CB9-3F94-9FF6-EBE1-43BD3E03B27E}"/>
              </a:ext>
            </a:extLst>
          </p:cNvPr>
          <p:cNvSpPr/>
          <p:nvPr/>
        </p:nvSpPr>
        <p:spPr>
          <a:xfrm>
            <a:off x="-1" y="297542"/>
            <a:ext cx="264319" cy="756558"/>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4" name="Rectangle 3">
            <a:extLst>
              <a:ext uri="{FF2B5EF4-FFF2-40B4-BE49-F238E27FC236}">
                <a16:creationId xmlns:a16="http://schemas.microsoft.com/office/drawing/2014/main" id="{86B0482B-8EF3-C32F-04AC-51F6A54C5881}"/>
              </a:ext>
            </a:extLst>
          </p:cNvPr>
          <p:cNvSpPr/>
          <p:nvPr/>
        </p:nvSpPr>
        <p:spPr>
          <a:xfrm>
            <a:off x="299653" y="337684"/>
            <a:ext cx="59108" cy="676274"/>
          </a:xfrm>
          <a:prstGeom prst="rect">
            <a:avLst/>
          </a:prstGeom>
          <a:solidFill>
            <a:srgbClr val="D324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3242A"/>
              </a:solidFill>
            </a:endParaRPr>
          </a:p>
        </p:txBody>
      </p:sp>
      <p:sp>
        <p:nvSpPr>
          <p:cNvPr id="5" name="TextBox 4">
            <a:extLst>
              <a:ext uri="{FF2B5EF4-FFF2-40B4-BE49-F238E27FC236}">
                <a16:creationId xmlns:a16="http://schemas.microsoft.com/office/drawing/2014/main" id="{F39E9E7A-0923-B390-306A-3A472C22E204}"/>
              </a:ext>
            </a:extLst>
          </p:cNvPr>
          <p:cNvSpPr txBox="1"/>
          <p:nvPr/>
        </p:nvSpPr>
        <p:spPr>
          <a:xfrm>
            <a:off x="3029365" y="149004"/>
            <a:ext cx="10322560" cy="584775"/>
          </a:xfrm>
          <a:prstGeom prst="rect">
            <a:avLst/>
          </a:prstGeom>
          <a:noFill/>
        </p:spPr>
        <p:txBody>
          <a:bodyPr wrap="square" rtlCol="0">
            <a:spAutoFit/>
          </a:bodyPr>
          <a:lstStyle/>
          <a:p>
            <a:r>
              <a:rPr lang="it-IT" sz="3200" b="1" dirty="0">
                <a:latin typeface="Montserrat Black" pitchFamily="2" charset="0"/>
                <a:ea typeface="Open Sans" panose="020B0606030504020204" pitchFamily="34" charset="0"/>
                <a:cs typeface="Poppins" panose="00000500000000000000" pitchFamily="2" charset="0"/>
              </a:rPr>
              <a:t>ACTIVITY</a:t>
            </a:r>
          </a:p>
        </p:txBody>
      </p:sp>
      <p:sp>
        <p:nvSpPr>
          <p:cNvPr id="6" name="TextBox 5">
            <a:extLst>
              <a:ext uri="{FF2B5EF4-FFF2-40B4-BE49-F238E27FC236}">
                <a16:creationId xmlns:a16="http://schemas.microsoft.com/office/drawing/2014/main" id="{03259F21-15F7-F0D8-6775-D4C0CB5437E2}"/>
              </a:ext>
            </a:extLst>
          </p:cNvPr>
          <p:cNvSpPr txBox="1"/>
          <p:nvPr/>
        </p:nvSpPr>
        <p:spPr>
          <a:xfrm>
            <a:off x="509123" y="246742"/>
            <a:ext cx="2520242" cy="461665"/>
          </a:xfrm>
          <a:prstGeom prst="rect">
            <a:avLst/>
          </a:prstGeom>
          <a:noFill/>
        </p:spPr>
        <p:txBody>
          <a:bodyPr wrap="none" rtlCol="0">
            <a:spAutoFit/>
          </a:bodyPr>
          <a:lstStyle/>
          <a:p>
            <a:r>
              <a:rPr lang="fr-FR" sz="2400" dirty="0">
                <a:latin typeface="Montserrat" pitchFamily="2" charset="0"/>
              </a:rPr>
              <a:t>Pre-</a:t>
            </a:r>
            <a:r>
              <a:rPr lang="fr-FR" sz="2400" dirty="0" err="1">
                <a:latin typeface="Montserrat" pitchFamily="2" charset="0"/>
              </a:rPr>
              <a:t>processing</a:t>
            </a:r>
            <a:endParaRPr lang="fr-FR" sz="2400" dirty="0">
              <a:latin typeface="Montserrat" pitchFamily="2" charset="0"/>
            </a:endParaRPr>
          </a:p>
        </p:txBody>
      </p:sp>
      <p:sp>
        <p:nvSpPr>
          <p:cNvPr id="11" name="TextBox 10">
            <a:extLst>
              <a:ext uri="{FF2B5EF4-FFF2-40B4-BE49-F238E27FC236}">
                <a16:creationId xmlns:a16="http://schemas.microsoft.com/office/drawing/2014/main" id="{78F7D3FA-E91C-1B09-73C1-6DA18C648904}"/>
              </a:ext>
            </a:extLst>
          </p:cNvPr>
          <p:cNvSpPr txBox="1"/>
          <p:nvPr/>
        </p:nvSpPr>
        <p:spPr>
          <a:xfrm>
            <a:off x="503580" y="708407"/>
            <a:ext cx="8368645" cy="5047536"/>
          </a:xfrm>
          <a:prstGeom prst="rect">
            <a:avLst/>
          </a:prstGeom>
          <a:noFill/>
        </p:spPr>
        <p:txBody>
          <a:bodyPr wrap="square">
            <a:spAutoFit/>
          </a:bodyPr>
          <a:lstStyle/>
          <a:p>
            <a:r>
              <a:rPr lang="en-US" sz="1400" b="1" dirty="0"/>
              <a:t>9. Results and Validation</a:t>
            </a:r>
          </a:p>
          <a:p>
            <a:r>
              <a:rPr lang="en-US" sz="1400" dirty="0"/>
              <a:t>Compare:</a:t>
            </a:r>
          </a:p>
          <a:p>
            <a:pPr marL="742950" lvl="1" indent="-285750">
              <a:buFont typeface="Arial" panose="020B0604020202020204" pitchFamily="34" charset="0"/>
              <a:buChar char="•"/>
            </a:pPr>
            <a:r>
              <a:rPr lang="en-US" sz="1400" dirty="0"/>
              <a:t>Original vs imputed distributions (if possible).</a:t>
            </a:r>
          </a:p>
          <a:p>
            <a:r>
              <a:rPr lang="en-US" sz="1400" dirty="0"/>
              <a:t>Visualize results:</a:t>
            </a:r>
          </a:p>
          <a:p>
            <a:pPr marL="742950" lvl="1" indent="-285750">
              <a:buFont typeface="Arial" panose="020B0604020202020204" pitchFamily="34" charset="0"/>
              <a:buChar char="•"/>
            </a:pPr>
            <a:r>
              <a:rPr lang="en-US" sz="1400" dirty="0"/>
              <a:t>Before vs after imputation charts.</a:t>
            </a:r>
          </a:p>
          <a:p>
            <a:r>
              <a:rPr lang="en-US" sz="1400" dirty="0"/>
              <a:t>Comment on:</a:t>
            </a:r>
          </a:p>
          <a:p>
            <a:pPr marL="742950" lvl="1" indent="-285750">
              <a:buFont typeface="Arial" panose="020B0604020202020204" pitchFamily="34" charset="0"/>
              <a:buChar char="•"/>
            </a:pPr>
            <a:r>
              <a:rPr lang="en-US" sz="1400" dirty="0"/>
              <a:t>Reliability of predictions.</a:t>
            </a:r>
          </a:p>
          <a:p>
            <a:pPr marL="742950" lvl="1" indent="-285750">
              <a:buFont typeface="Arial" panose="020B0604020202020204" pitchFamily="34" charset="0"/>
              <a:buChar char="•"/>
            </a:pPr>
            <a:r>
              <a:rPr lang="en-US" sz="1400" dirty="0"/>
              <a:t>Any limitations.</a:t>
            </a:r>
          </a:p>
          <a:p>
            <a:br>
              <a:rPr lang="en-US" sz="1400" dirty="0"/>
            </a:br>
            <a:endParaRPr lang="en-US" sz="1400" dirty="0"/>
          </a:p>
          <a:p>
            <a:r>
              <a:rPr lang="en-US" sz="1400" b="1" dirty="0"/>
              <a:t>10. Final Check</a:t>
            </a:r>
          </a:p>
          <a:p>
            <a:r>
              <a:rPr lang="en-US" sz="1400" dirty="0"/>
              <a:t>Make sure:</a:t>
            </a:r>
          </a:p>
          <a:p>
            <a:pPr marL="742950" lvl="1" indent="-285750">
              <a:buFont typeface="Arial" panose="020B0604020202020204" pitchFamily="34" charset="0"/>
              <a:buChar char="•"/>
            </a:pPr>
            <a:r>
              <a:rPr lang="en-US" sz="1400" dirty="0"/>
              <a:t>Your workflow is clear and reproducible.</a:t>
            </a:r>
          </a:p>
          <a:p>
            <a:pPr marL="742950" lvl="1" indent="-285750">
              <a:buFont typeface="Arial" panose="020B0604020202020204" pitchFamily="34" charset="0"/>
              <a:buChar char="•"/>
            </a:pPr>
            <a:r>
              <a:rPr lang="en-US" sz="1400" dirty="0"/>
              <a:t>All steps are documented.</a:t>
            </a:r>
          </a:p>
          <a:p>
            <a:pPr marL="742950" lvl="1" indent="-285750">
              <a:buFont typeface="Arial" panose="020B0604020202020204" pitchFamily="34" charset="0"/>
              <a:buChar char="•"/>
            </a:pPr>
            <a:r>
              <a:rPr lang="en-US" sz="1400" dirty="0"/>
              <a:t>Visualizations are labeled and explained.</a:t>
            </a:r>
          </a:p>
          <a:p>
            <a:br>
              <a:rPr lang="en-US" sz="1400" dirty="0"/>
            </a:br>
            <a:endParaRPr lang="en-US" sz="1400" dirty="0"/>
          </a:p>
          <a:p>
            <a:r>
              <a:rPr lang="en-US" sz="1400" b="1" dirty="0"/>
              <a:t>11. Submission / Presentation</a:t>
            </a:r>
          </a:p>
          <a:p>
            <a:r>
              <a:rPr lang="en-US" sz="1400" dirty="0"/>
              <a:t>Be prepared to:</a:t>
            </a:r>
          </a:p>
          <a:p>
            <a:pPr lvl="1"/>
            <a:r>
              <a:rPr lang="en-US" sz="1400" dirty="0"/>
              <a:t>Explain:</a:t>
            </a:r>
          </a:p>
          <a:p>
            <a:pPr marL="1200150" lvl="2" indent="-285750">
              <a:buFont typeface="Arial" panose="020B0604020202020204" pitchFamily="34" charset="0"/>
              <a:buChar char="•"/>
            </a:pPr>
            <a:r>
              <a:rPr lang="en-US" sz="1400" dirty="0"/>
              <a:t>Your variable choice</a:t>
            </a:r>
          </a:p>
          <a:p>
            <a:pPr marL="1200150" lvl="2" indent="-285750">
              <a:buFont typeface="Arial" panose="020B0604020202020204" pitchFamily="34" charset="0"/>
              <a:buChar char="•"/>
            </a:pPr>
            <a:r>
              <a:rPr lang="en-US" sz="1400" dirty="0"/>
              <a:t>Your model</a:t>
            </a:r>
          </a:p>
          <a:p>
            <a:pPr marL="1200150" lvl="2" indent="-285750">
              <a:buFont typeface="Arial" panose="020B0604020202020204" pitchFamily="34" charset="0"/>
              <a:buChar char="•"/>
            </a:pPr>
            <a:r>
              <a:rPr lang="en-US" sz="1400" dirty="0"/>
              <a:t>Your imputation results</a:t>
            </a:r>
          </a:p>
        </p:txBody>
      </p:sp>
    </p:spTree>
    <p:extLst>
      <p:ext uri="{BB962C8B-B14F-4D97-AF65-F5344CB8AC3E}">
        <p14:creationId xmlns:p14="http://schemas.microsoft.com/office/powerpoint/2010/main" val="2602035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Montserrat Black"/>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10389</TotalTime>
  <Words>2055</Words>
  <Application>Microsoft Office PowerPoint</Application>
  <PresentationFormat>Widescreen</PresentationFormat>
  <Paragraphs>353</Paragraphs>
  <Slides>33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Arial Black</vt:lpstr>
      <vt:lpstr>Calibri</vt:lpstr>
      <vt:lpstr>Consolas</vt:lpstr>
      <vt:lpstr>Lucida Sans Unicode</vt:lpstr>
      <vt:lpstr>Montserrat</vt:lpstr>
      <vt:lpstr>Montserrat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Stefan Apostol</cp:lastModifiedBy>
  <cp:revision>108</cp:revision>
  <dcterms:created xsi:type="dcterms:W3CDTF">2023-09-22T14:07:14Z</dcterms:created>
  <dcterms:modified xsi:type="dcterms:W3CDTF">2026-03-19T10:24:47Z</dcterms:modified>
</cp:coreProperties>
</file>